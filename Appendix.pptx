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D134-77BD-6183-CD3C-3BE16AB96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A1744-450F-11EB-ACF3-DB562233E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9607A-3B99-2307-1934-B23BB862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6C717-4A65-387D-54F7-0FD6D70F4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8860C-5C7B-5AD9-A214-202321B9C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16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0BD4-C727-71E4-5E4E-099335B46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019E-7429-5B0C-C592-455AF2D60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F8E45-C9CC-7E18-5A9A-E25E67A2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776A9-90D4-B614-EE92-7D4ECAAF7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F6DCC-AD76-E043-BBA6-77AEB909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47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540F-4431-9F25-D51D-3D94222F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34141-DEB1-0F20-B272-298FC0C69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71274-17B5-3FE9-77A7-F84C0EDFE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9FB2A-20C1-E479-3FC0-99F6B629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C06B0-5890-227D-0BDF-E158C7E5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55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7478-ACD3-8035-3C49-AA2E2EC3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5FF1D-42BD-B6A2-563C-61AB3B0ECA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DEE19-4DBD-F994-8D5A-384072999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31811-0906-8ECE-5E3F-6ED9B00D1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A5975-702D-04B0-BDFB-94AB2A5EF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4EB24-F92B-9C1A-9557-87D298FFB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5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ADA5-9202-4600-1AC4-72204734A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ED6FE-DB81-AE6B-B985-4F3A0EBF6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A8A4F6-E590-E9A5-A97E-0E88A9134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27749-D6E2-2A6A-8EE1-47666FE44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70B23-5702-531C-6581-36D5F2C5B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28CDE1-9FB7-621D-F06A-E22B0D33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B08523-4C55-917D-18FB-6EA3AC16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BF7AD-0A55-4966-9DB8-001BFB8C3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9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6DE96-73F8-FE57-DE97-BA0915C1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8D244-C1E7-878F-B976-CCD4F1A0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F9D2A-FDD0-C449-1AB9-C2577520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76D90-1E74-C27D-4C0C-D41DA6582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7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7E6F2-D88D-E441-661D-CD3C84D34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8B319-FB89-90B9-1BF5-4D5988C7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605A0-7407-2C6C-00F3-5EF0897C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0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EA0AC-228F-E5B8-C0E1-A15EEE9A6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054AC-F6AF-C6AB-7927-2CD8DDED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6FA09-49B5-2AEA-15A1-78E3354A5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04EAC-A30C-6815-84C9-652CA591B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627B5-C5B4-F32F-02DD-427344A2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AB846-C627-A6DD-E185-2422EC5D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4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833AD-EA4B-4748-C8B6-486EF964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2ADB5-0CCB-6F32-DEE3-ECD88519C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875E8-6F92-6ACB-D75F-4482FA02B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E5FE9-672A-BD4B-96D0-412FE02F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F52DC-5020-4001-D57A-7E46AC1AB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902B8-C611-7108-A3F9-FC6840A4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5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0B3D-DEF4-4D3E-CC94-7777D6EE8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E3759-4820-BA08-C5FE-5E27C1257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426EA-E3CD-58BC-2EF1-0E7CD863C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622D6-D1EB-5C02-DA87-C34C5A31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D1C12-98F3-3198-55A2-BFB875403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1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EAED98-1ADF-8C56-EC85-B0331709F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8BB66-3277-D15B-54D1-2E93747B8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F2BA5-1BA3-2E6B-0D1E-B8AE6F292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3AFDD-E32C-8E79-80C3-EE68301B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14466-95A9-422C-C124-F579C2CD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54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73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91AE8-98DD-D9B2-EA36-FDA03885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5CFB9-1249-2D52-2978-1DD4C1C54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BB287-DB22-3EDA-1EF6-174E4DBC3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AC3B1-C8DE-DA43-B032-27BFA97BD00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0FEEB-199D-90A5-8645-40BF8019B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69B1C-CA49-CD34-0892-80D58E1BF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BBFC0-EBB7-AD40-9A0E-9A1CC30F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0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B103C-C3F6-A822-B816-DD2DF2EDB8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03965-F85E-4670-DA39-9A7F441A7A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7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9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A2744"/>
                </a:solidFill>
                <a:latin typeface="Calibri"/>
              </a:rPr>
              <a:t>Appendix — External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14400"/>
            <a:ext cx="10972800" cy="36576"/>
          </a:xfrm>
          <a:prstGeom prst="rect">
            <a:avLst/>
          </a:prstGeom>
          <a:solidFill>
            <a:srgbClr val="C89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5A5A5A"/>
                </a:solidFill>
                <a:latin typeface="Calibri"/>
              </a:rPr>
              <a:t>Our CU-level findings align with recent macro-level evidence on bank regulation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00" cy="10515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91440" cy="1051560"/>
          </a:xfrm>
          <a:prstGeom prst="rect">
            <a:avLst/>
          </a:prstGeom>
          <a:solidFill>
            <a:srgbClr val="C89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91639"/>
            <a:ext cx="10607040" cy="777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89728"/>
                </a:solidFill>
                <a:latin typeface="Calibri"/>
              </a:rPr>
              <a:t>Drechsel &amp; Miura (2026)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— a high-frequency macro study of US bank regulation, 1998–2023 — finds the same direction, mechanism, and persistence that our CU-level analysis reports. Their macro estimates corroborate the patterns we observe in complex credit unions across lending, loan pricing, and profitability.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5349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9728"/>
                </a:solidFill>
                <a:latin typeface="Calibri"/>
              </a:rPr>
              <a:t>THREE PARALLEL FINDINGS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54864" cy="960120"/>
          </a:xfrm>
          <a:prstGeom prst="rect">
            <a:avLst/>
          </a:prstGeom>
          <a:solidFill>
            <a:srgbClr val="C89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3108960"/>
            <a:ext cx="5184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44"/>
                </a:solidFill>
                <a:latin typeface="Calibri"/>
              </a:rPr>
              <a:t>Lending contracts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364991"/>
            <a:ext cx="5184648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1C1C"/>
                </a:solidFill>
                <a:latin typeface="Calibri"/>
              </a:rPr>
              <a:t>Macro: </a:t>
            </a:r>
            <a:r>
              <a:rPr sz="1000" b="0" i="0">
                <a:solidFill>
                  <a:srgbClr val="1C1C1C"/>
                </a:solidFill>
                <a:latin typeface="Calibri"/>
              </a:rPr>
              <a:t>loan volume falls 0.5–1% per 1% decline in bank stock prices, persistent over 4 years.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Our result: </a:t>
            </a:r>
            <a:r>
              <a:rPr sz="1000" b="0" i="1">
                <a:solidFill>
                  <a:srgbClr val="1C1C1C"/>
                </a:solidFill>
                <a:latin typeface="Calibri"/>
              </a:rPr>
              <a:t>loan growth −0.44pp/quarter, no recovery through 10+ quarters.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54864" cy="960120"/>
          </a:xfrm>
          <a:prstGeom prst="rect">
            <a:avLst/>
          </a:prstGeom>
          <a:solidFill>
            <a:srgbClr val="C89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" y="4206240"/>
            <a:ext cx="5184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44"/>
                </a:solidFill>
                <a:latin typeface="Calibri"/>
              </a:rPr>
              <a:t>Loan prices 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462272"/>
            <a:ext cx="5184648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1C1C"/>
                </a:solidFill>
                <a:latin typeface="Calibri"/>
              </a:rPr>
              <a:t>Macro: </a:t>
            </a:r>
            <a:r>
              <a:rPr sz="1000" b="0" i="0">
                <a:solidFill>
                  <a:srgbClr val="1C1C1C"/>
                </a:solidFill>
                <a:latin typeface="Calibri"/>
              </a:rPr>
              <a:t>bank loan interest margins increase on tighter regulation news, consistent with active supply contraction.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Our result: </a:t>
            </a:r>
            <a:r>
              <a:rPr sz="1000" b="0" i="1">
                <a:solidFill>
                  <a:srgbClr val="1C1C1C"/>
                </a:solidFill>
                <a:latin typeface="Calibri"/>
              </a:rPr>
              <a:t>spreads up +56 to +76bp across every loan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03520"/>
            <a:ext cx="54864" cy="960120"/>
          </a:xfrm>
          <a:prstGeom prst="rect">
            <a:avLst/>
          </a:prstGeom>
          <a:solidFill>
            <a:srgbClr val="C89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5303520"/>
            <a:ext cx="5184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44"/>
                </a:solidFill>
                <a:latin typeface="Calibri"/>
              </a:rPr>
              <a:t>Funding-cost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559552"/>
            <a:ext cx="5184648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1C1C"/>
                </a:solidFill>
                <a:latin typeface="Calibri"/>
              </a:rPr>
              <a:t>Macro: </a:t>
            </a:r>
            <a:r>
              <a:rPr sz="1000" b="0" i="0">
                <a:solidFill>
                  <a:srgbClr val="1C1C1C"/>
                </a:solidFill>
                <a:latin typeface="Calibri"/>
              </a:rPr>
              <a:t>bank weighted-average cost of capital rises immediately on regulation news, tightening supply before the rule binds.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Our result: </a:t>
            </a:r>
            <a:r>
              <a:rPr sz="1000" b="0" i="1">
                <a:solidFill>
                  <a:srgbClr val="1C1C1C"/>
                </a:solidFill>
                <a:latin typeface="Calibri"/>
              </a:rPr>
              <a:t>ROA −26bp, worsening through 10 post-RBC quarters.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88920"/>
            <a:ext cx="5166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89728"/>
                </a:solidFill>
                <a:latin typeface="Calibri"/>
              </a:rPr>
              <a:t>THREE ADDITIONAL PARALLELS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108960"/>
            <a:ext cx="54864" cy="960120"/>
          </a:xfrm>
          <a:prstGeom prst="rect">
            <a:avLst/>
          </a:prstGeom>
          <a:solidFill>
            <a:srgbClr val="C89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3108960"/>
            <a:ext cx="50017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44"/>
                </a:solidFill>
                <a:latin typeface="Calibri"/>
              </a:rPr>
              <a:t>Effects are persistent, not transitory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364991"/>
            <a:ext cx="5001768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1C1C"/>
                </a:solidFill>
                <a:latin typeface="Calibri"/>
              </a:rPr>
              <a:t>Macro: </a:t>
            </a:r>
            <a:r>
              <a:rPr sz="1000" b="0" i="0">
                <a:solidFill>
                  <a:srgbClr val="1C1C1C"/>
                </a:solidFill>
                <a:latin typeface="Calibri"/>
              </a:rPr>
              <a:t>bank stock prices remain depressed for 4+ years post-shock; unemployment effect builds through 2–3 years and stays elevated.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Our result: </a:t>
            </a:r>
            <a:r>
              <a:rPr sz="1000" b="0" i="1">
                <a:solidFill>
                  <a:srgbClr val="1C1C1C"/>
                </a:solidFill>
                <a:latin typeface="Calibri"/>
              </a:rPr>
              <a:t>no reversion in any outcome through 10+ post-RBC quarters.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206240"/>
            <a:ext cx="54864" cy="960120"/>
          </a:xfrm>
          <a:prstGeom prst="rect">
            <a:avLst/>
          </a:prstGeom>
          <a:solidFill>
            <a:srgbClr val="C89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1112" y="4206240"/>
            <a:ext cx="50017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44"/>
                </a:solidFill>
                <a:latin typeface="Calibri"/>
              </a:rPr>
              <a:t>Supply-side contraction, not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462272"/>
            <a:ext cx="5001768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1C1C"/>
                </a:solidFill>
                <a:latin typeface="Calibri"/>
              </a:rPr>
              <a:t>Macro: </a:t>
            </a:r>
            <a:r>
              <a:rPr sz="1000" b="0" i="0">
                <a:solidFill>
                  <a:srgbClr val="1C1C1C"/>
                </a:solidFill>
                <a:latin typeface="Calibri"/>
              </a:rPr>
              <a:t>quantity falls while price rises — the classic signature of an inward supply shift.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Our result: </a:t>
            </a:r>
            <a:r>
              <a:rPr sz="1000" b="0" i="1">
                <a:solidFill>
                  <a:srgbClr val="1C1C1C"/>
                </a:solidFill>
                <a:latin typeface="Calibri"/>
              </a:rPr>
              <a:t>loan growth contracts while spreads widen +56–76bp — same supply-shift signature in CU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5303520"/>
            <a:ext cx="54864" cy="960120"/>
          </a:xfrm>
          <a:prstGeom prst="rect">
            <a:avLst/>
          </a:prstGeom>
          <a:solidFill>
            <a:srgbClr val="C89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11112" y="5303520"/>
            <a:ext cx="50017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44"/>
                </a:solidFill>
                <a:latin typeface="Calibri"/>
              </a:rPr>
              <a:t>No substitution fills the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5559552"/>
            <a:ext cx="5001768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1C1C"/>
                </a:solidFill>
                <a:latin typeface="Calibri"/>
              </a:rPr>
              <a:t>Macro: </a:t>
            </a:r>
            <a:r>
              <a:rPr sz="1000" b="0" i="0">
                <a:solidFill>
                  <a:srgbClr val="1C1C1C"/>
                </a:solidFill>
                <a:latin typeface="Calibri"/>
              </a:rPr>
              <a:t>nonbank lending does not expand to offset the reduction in bank credit — the contraction is not reallocated. </a:t>
            </a:r>
            <a:r>
              <a:rPr sz="1000" b="1" i="0">
                <a:solidFill>
                  <a:srgbClr val="1A2744"/>
                </a:solidFill>
                <a:latin typeface="Calibri"/>
              </a:rPr>
              <a:t>Our result: </a:t>
            </a:r>
            <a:r>
              <a:rPr sz="1000" b="0" i="1">
                <a:solidFill>
                  <a:srgbClr val="1C1C1C"/>
                </a:solidFill>
                <a:latin typeface="Calibri"/>
              </a:rPr>
              <a:t>non-complex CUs and CCULR adopters do not absorb the lost lending — members bear the cost.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6172200"/>
            <a:ext cx="91440" cy="502920"/>
          </a:xfrm>
          <a:prstGeom prst="rect">
            <a:avLst/>
          </a:prstGeom>
          <a:solidFill>
            <a:srgbClr val="C89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6227064"/>
            <a:ext cx="10607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89728"/>
                </a:solidFill>
                <a:latin typeface="Calibri"/>
              </a:rPr>
              <a:t>Bottom Line.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Six parallel findings across two independent studies — different data, different identification strategies, different institutions — converge on the same structural effects. The patterns we document in complex credit unions are not artifacts of one methodology.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702552"/>
            <a:ext cx="109728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1">
                <a:solidFill>
                  <a:srgbClr val="5A5A5A"/>
                </a:solidFill>
                <a:latin typeface="Calibri"/>
              </a:rPr>
              <a:t>Source: Drechsel, T. and K. Miura (2026), "The macroeconomic effects of bank regulation: New evidence from a high-frequency approach," working paper. Magnitudes are peak impulse responses.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Macintosh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Datta</dc:creator>
  <cp:lastModifiedBy>Saurabh Datta</cp:lastModifiedBy>
  <cp:revision>1</cp:revision>
  <dcterms:created xsi:type="dcterms:W3CDTF">2026-04-23T13:05:53Z</dcterms:created>
  <dcterms:modified xsi:type="dcterms:W3CDTF">2026-04-23T13:06:08Z</dcterms:modified>
</cp:coreProperties>
</file>