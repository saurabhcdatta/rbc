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5" d="100"/>
          <a:sy n="125" d="100"/>
        </p:scale>
        <p:origin x="160"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Estimated Effect</c:v>
                </c:pt>
              </c:strCache>
            </c:strRef>
          </c:tx>
          <c:spPr>
            <a:ln w="31750" cap="flat">
              <a:solidFill>
                <a:srgbClr val="1A2744"/>
              </a:solidFill>
              <a:prstDash val="solid"/>
              <a:round/>
            </a:ln>
            <a:effectLst/>
          </c:spPr>
          <c:marker>
            <c:symbol val="circle"/>
            <c:size val="6"/>
            <c:spPr>
              <a:solidFill>
                <a:srgbClr val="1A2744"/>
              </a:solidFill>
              <a:ln w="9525" cap="flat">
                <a:solidFill>
                  <a:srgbClr val="1A2744"/>
                </a:solidFill>
                <a:prstDash val="solid"/>
                <a:round/>
              </a:ln>
              <a:effectLst/>
            </c:spPr>
          </c:marker>
          <c:cat>
            <c:strRef>
              <c:f>Sheet1!$A$2:$A$7</c:f>
              <c:strCache>
                <c:ptCount val="6"/>
                <c:pt idx="0">
                  <c:v>-4Q</c:v>
                </c:pt>
                <c:pt idx="1">
                  <c:v>-2Q</c:v>
                </c:pt>
                <c:pt idx="2">
                  <c:v>0</c:v>
                </c:pt>
                <c:pt idx="3">
                  <c:v>+2Q</c:v>
                </c:pt>
                <c:pt idx="4">
                  <c:v>+4Q</c:v>
                </c:pt>
                <c:pt idx="5">
                  <c:v>+6Q</c:v>
                </c:pt>
              </c:strCache>
            </c:strRef>
          </c:cat>
          <c:val>
            <c:numRef>
              <c:f>Sheet1!$B$2:$B$7</c:f>
              <c:numCache>
                <c:formatCode>General</c:formatCode>
                <c:ptCount val="6"/>
                <c:pt idx="0">
                  <c:v>0.03</c:v>
                </c:pt>
                <c:pt idx="1">
                  <c:v>-0.02</c:v>
                </c:pt>
                <c:pt idx="2">
                  <c:v>0</c:v>
                </c:pt>
                <c:pt idx="3">
                  <c:v>-0.44</c:v>
                </c:pt>
                <c:pt idx="4">
                  <c:v>-0.56999999999999995</c:v>
                </c:pt>
                <c:pt idx="5">
                  <c:v>-0.61</c:v>
                </c:pt>
              </c:numCache>
            </c:numRef>
          </c:val>
          <c:smooth val="0"/>
          <c:extLst>
            <c:ext xmlns:c16="http://schemas.microsoft.com/office/drawing/2014/chart" uri="{C3380CC4-5D6E-409C-BE32-E72D297353CC}">
              <c16:uniqueId val="{00000000-E460-1A4D-8166-FF0E7778386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88888"/>
                </a:solidFill>
                <a:latin typeface="Arial"/>
              </a:defRPr>
            </a:pPr>
            <a:endParaRPr lang="en-US"/>
          </a:p>
        </c:txPr>
        <c:crossAx val="2094734552"/>
        <c:crosses val="autoZero"/>
        <c:auto val="1"/>
        <c:lblAlgn val="ctr"/>
        <c:lblOffset val="100"/>
        <c:noMultiLvlLbl val="1"/>
      </c:catAx>
      <c:valAx>
        <c:axId val="2094734552"/>
        <c:scaling>
          <c:orientation val="minMax"/>
          <c:max val="0.3"/>
          <c:min val="-0.8"/>
        </c:scaling>
        <c:delete val="0"/>
        <c:axPos val="l"/>
        <c:majorGridlines>
          <c:spPr>
            <a:ln w="6350"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888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w="9525" cap="flat">
      <a:solidFill>
        <a:srgbClr val="DDDDDD"/>
      </a:solid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Failure Rate (%)</c:v>
                </c:pt>
              </c:strCache>
            </c:strRef>
          </c:tx>
          <c:spPr>
            <a:solidFill>
              <a:srgbClr val="1A6B3A"/>
            </a:solidFill>
            <a:effectLst/>
          </c:spPr>
          <c:invertIfNegative val="0"/>
          <c:dPt>
            <c:idx val="0"/>
            <c:invertIfNegative val="0"/>
            <c:bubble3D val="0"/>
            <c:extLst>
              <c:ext xmlns:c16="http://schemas.microsoft.com/office/drawing/2014/chart" uri="{C3380CC4-5D6E-409C-BE32-E72D297353CC}">
                <c16:uniqueId val="{00000001-1C63-BA43-A408-43580A4B8CC0}"/>
              </c:ext>
            </c:extLst>
          </c:dPt>
          <c:dPt>
            <c:idx val="1"/>
            <c:invertIfNegative val="0"/>
            <c:bubble3D val="0"/>
            <c:spPr>
              <a:solidFill>
                <a:srgbClr val="9B2226"/>
              </a:solidFill>
              <a:effectLst/>
            </c:spPr>
            <c:extLst>
              <c:ext xmlns:c16="http://schemas.microsoft.com/office/drawing/2014/chart" uri="{C3380CC4-5D6E-409C-BE32-E72D297353CC}">
                <c16:uniqueId val="{00000003-1C63-BA43-A408-43580A4B8CC0}"/>
              </c:ext>
            </c:extLst>
          </c:dPt>
          <c:dLbls>
            <c:numFmt formatCode="#,##0" sourceLinked="0"/>
            <c:spPr>
              <a:noFill/>
              <a:ln>
                <a:noFill/>
              </a:ln>
              <a:effectLst/>
            </c:spPr>
            <c:txPr>
              <a:bodyPr/>
              <a:lstStyle/>
              <a:p>
                <a:pPr>
                  <a:defRPr sz="10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With Rule
in Place</c:v>
                </c:pt>
                <c:pt idx="1">
                  <c:v>Without
the Rule</c:v>
                </c:pt>
              </c:strCache>
            </c:strRef>
          </c:cat>
          <c:val>
            <c:numRef>
              <c:f>Sheet1!$B$2:$B$3</c:f>
              <c:numCache>
                <c:formatCode>General</c:formatCode>
                <c:ptCount val="2"/>
                <c:pt idx="0">
                  <c:v>19.399999999999999</c:v>
                </c:pt>
                <c:pt idx="1">
                  <c:v>22.5</c:v>
                </c:pt>
              </c:numCache>
            </c:numRef>
          </c:val>
          <c:extLst>
            <c:ext xmlns:c16="http://schemas.microsoft.com/office/drawing/2014/chart" uri="{C3380CC4-5D6E-409C-BE32-E72D297353CC}">
              <c16:uniqueId val="{00000004-1C63-BA43-A408-43580A4B8CC0}"/>
            </c:ext>
          </c:extLst>
        </c:ser>
        <c:dLbls>
          <c:dLblPos val="inEnd"/>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2"/>
        <c:crosses val="autoZero"/>
        <c:auto val="1"/>
        <c:lblAlgn val="ctr"/>
        <c:lblOffset val="100"/>
        <c:noMultiLvlLbl val="1"/>
      </c:catAx>
      <c:valAx>
        <c:axId val="2094734552"/>
        <c:scaling>
          <c:orientation val="minMax"/>
          <c:max val="24"/>
          <c:min val="17"/>
        </c:scaling>
        <c:delete val="0"/>
        <c:axPos val="l"/>
        <c:majorGridlines>
          <c:spPr>
            <a:ln w="635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888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5F1EB"/>
    </a:solidFill>
    <a:ln w="6350" cap="flat">
      <a:solidFill>
        <a:srgbClr val="C8C0B0"/>
      </a:solid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0328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1EB"/>
        </a:solidFill>
        <a:effectLst/>
      </p:bgPr>
    </p:bg>
    <p:spTree>
      <p:nvGrpSpPr>
        <p:cNvPr id="1" name=""/>
        <p:cNvGrpSpPr/>
        <p:nvPr/>
      </p:nvGrpSpPr>
      <p:grpSpPr>
        <a:xfrm>
          <a:off x="0" y="0"/>
          <a:ext cx="0" cy="0"/>
          <a:chOff x="0" y="0"/>
          <a:chExt cx="0" cy="0"/>
        </a:xfrm>
      </p:grpSpPr>
      <p:sp>
        <p:nvSpPr>
          <p:cNvPr id="2" name="Shape 0"/>
          <p:cNvSpPr/>
          <p:nvPr/>
        </p:nvSpPr>
        <p:spPr>
          <a:xfrm>
            <a:off x="0" y="0"/>
            <a:ext cx="3474720" cy="6858000"/>
          </a:xfrm>
          <a:prstGeom prst="rect">
            <a:avLst/>
          </a:prstGeom>
          <a:solidFill>
            <a:srgbClr val="1A2744"/>
          </a:solidFill>
          <a:ln w="12700">
            <a:solidFill>
              <a:srgbClr val="1A2744"/>
            </a:solidFill>
            <a:prstDash val="solid"/>
          </a:ln>
        </p:spPr>
        <p:txBody>
          <a:bodyPr/>
          <a:lstStyle/>
          <a:p>
            <a:endParaRPr lang="en-US"/>
          </a:p>
        </p:txBody>
      </p:sp>
      <p:sp>
        <p:nvSpPr>
          <p:cNvPr id="3" name="Shape 1"/>
          <p:cNvSpPr/>
          <p:nvPr/>
        </p:nvSpPr>
        <p:spPr>
          <a:xfrm>
            <a:off x="0" y="6309360"/>
            <a:ext cx="3474720" cy="73152"/>
          </a:xfrm>
          <a:prstGeom prst="rect">
            <a:avLst/>
          </a:prstGeom>
          <a:solidFill>
            <a:srgbClr val="C89728"/>
          </a:solidFill>
          <a:ln w="12700">
            <a:solidFill>
              <a:srgbClr val="C89728"/>
            </a:solidFill>
            <a:prstDash val="solid"/>
          </a:ln>
        </p:spPr>
        <p:txBody>
          <a:bodyPr/>
          <a:lstStyle/>
          <a:p>
            <a:endParaRPr lang="en-US"/>
          </a:p>
        </p:txBody>
      </p:sp>
      <p:sp>
        <p:nvSpPr>
          <p:cNvPr id="4" name="Shape 2"/>
          <p:cNvSpPr/>
          <p:nvPr/>
        </p:nvSpPr>
        <p:spPr>
          <a:xfrm>
            <a:off x="502920" y="4114800"/>
            <a:ext cx="2468880" cy="2468880"/>
          </a:xfrm>
          <a:prstGeom prst="ellipse">
            <a:avLst/>
          </a:prstGeom>
          <a:solidFill>
            <a:srgbClr val="243362"/>
          </a:solidFill>
          <a:ln w="12700">
            <a:solidFill>
              <a:srgbClr val="C89728"/>
            </a:solidFill>
            <a:prstDash val="solid"/>
          </a:ln>
        </p:spPr>
        <p:txBody>
          <a:bodyPr/>
          <a:lstStyle/>
          <a:p>
            <a:endParaRPr lang="en-US"/>
          </a:p>
        </p:txBody>
      </p:sp>
      <p:sp>
        <p:nvSpPr>
          <p:cNvPr id="5" name="Text 3"/>
          <p:cNvSpPr/>
          <p:nvPr/>
        </p:nvSpPr>
        <p:spPr>
          <a:xfrm>
            <a:off x="502920" y="5120640"/>
            <a:ext cx="2468880" cy="45720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NCUA</a:t>
            </a:r>
            <a:endParaRPr lang="en-US" sz="2200" dirty="0"/>
          </a:p>
        </p:txBody>
      </p:sp>
      <p:sp>
        <p:nvSpPr>
          <p:cNvPr id="6" name="Text 4"/>
          <p:cNvSpPr/>
          <p:nvPr/>
        </p:nvSpPr>
        <p:spPr>
          <a:xfrm>
            <a:off x="502920" y="5577840"/>
            <a:ext cx="2468880" cy="274320"/>
          </a:xfrm>
          <a:prstGeom prst="rect">
            <a:avLst/>
          </a:prstGeom>
          <a:noFill/>
          <a:ln/>
        </p:spPr>
        <p:txBody>
          <a:bodyPr wrap="square" rtlCol="0" anchor="ctr"/>
          <a:lstStyle/>
          <a:p>
            <a:pPr marL="0" indent="0" algn="ctr">
              <a:buNone/>
            </a:pPr>
            <a:r>
              <a:rPr lang="en-US" sz="1100" dirty="0">
                <a:solidFill>
                  <a:srgbClr val="E8C36A"/>
                </a:solidFill>
                <a:latin typeface="Calibri" pitchFamily="34" charset="0"/>
                <a:ea typeface="Calibri" pitchFamily="34" charset="-122"/>
                <a:cs typeface="Calibri" pitchFamily="34" charset="-120"/>
              </a:rPr>
              <a:t>1934</a:t>
            </a:r>
            <a:endParaRPr lang="en-US" sz="1100" dirty="0"/>
          </a:p>
        </p:txBody>
      </p:sp>
      <p:sp>
        <p:nvSpPr>
          <p:cNvPr id="7" name="Text 5"/>
          <p:cNvSpPr/>
          <p:nvPr/>
        </p:nvSpPr>
        <p:spPr>
          <a:xfrm>
            <a:off x="274320" y="6537960"/>
            <a:ext cx="2926080" cy="228600"/>
          </a:xfrm>
          <a:prstGeom prst="rect">
            <a:avLst/>
          </a:prstGeom>
          <a:noFill/>
          <a:ln/>
        </p:spPr>
        <p:txBody>
          <a:bodyPr wrap="square" rtlCol="0" anchor="ctr"/>
          <a:lstStyle/>
          <a:p>
            <a:pPr marL="0" indent="0" algn="ctr">
              <a:buNone/>
            </a:pPr>
            <a:r>
              <a:rPr lang="en-US" sz="1000" dirty="0">
                <a:solidFill>
                  <a:srgbClr val="8FA4C8"/>
                </a:solidFill>
                <a:latin typeface="Calibri" pitchFamily="34" charset="0"/>
                <a:ea typeface="Calibri" pitchFamily="34" charset="-122"/>
                <a:cs typeface="Calibri" pitchFamily="34" charset="-120"/>
              </a:rPr>
              <a:t>www.ncua.gov</a:t>
            </a:r>
            <a:endParaRPr lang="en-US" sz="1000" dirty="0"/>
          </a:p>
        </p:txBody>
      </p:sp>
      <p:sp>
        <p:nvSpPr>
          <p:cNvPr id="8" name="Text 6"/>
          <p:cNvSpPr/>
          <p:nvPr/>
        </p:nvSpPr>
        <p:spPr>
          <a:xfrm>
            <a:off x="3840480" y="1005840"/>
            <a:ext cx="8046720" cy="320040"/>
          </a:xfrm>
          <a:prstGeom prst="rect">
            <a:avLst/>
          </a:prstGeom>
          <a:noFill/>
          <a:ln/>
        </p:spPr>
        <p:txBody>
          <a:bodyPr wrap="square" rtlCol="0" anchor="ctr"/>
          <a:lstStyle/>
          <a:p>
            <a:pPr marL="0" indent="0">
              <a:buNone/>
            </a:pPr>
            <a:r>
              <a:rPr lang="en-US" sz="1100" b="1" kern="0" spc="150" dirty="0">
                <a:solidFill>
                  <a:srgbClr val="C89728"/>
                </a:solidFill>
                <a:latin typeface="Calibri" pitchFamily="34" charset="0"/>
                <a:ea typeface="Calibri" pitchFamily="34" charset="-122"/>
                <a:cs typeface="Calibri" pitchFamily="34" charset="-120"/>
              </a:rPr>
              <a:t>NCUA  ·  Office of the Chief Economist</a:t>
            </a:r>
            <a:endParaRPr lang="en-US" sz="1100" dirty="0"/>
          </a:p>
        </p:txBody>
      </p:sp>
      <p:sp>
        <p:nvSpPr>
          <p:cNvPr id="9" name="Text 7"/>
          <p:cNvSpPr/>
          <p:nvPr/>
        </p:nvSpPr>
        <p:spPr>
          <a:xfrm>
            <a:off x="3840480" y="1417320"/>
            <a:ext cx="8046720" cy="1920240"/>
          </a:xfrm>
          <a:prstGeom prst="rect">
            <a:avLst/>
          </a:prstGeom>
          <a:noFill/>
          <a:ln/>
        </p:spPr>
        <p:txBody>
          <a:bodyPr wrap="square" rtlCol="0" anchor="t"/>
          <a:lstStyle/>
          <a:p>
            <a:pPr marL="0" indent="0">
              <a:buNone/>
            </a:pPr>
            <a:r>
              <a:rPr lang="en-US" sz="3600" b="1" dirty="0">
                <a:solidFill>
                  <a:srgbClr val="1A2744"/>
                </a:solidFill>
                <a:latin typeface="Calibri" pitchFamily="34" charset="0"/>
                <a:ea typeface="Calibri" pitchFamily="34" charset="-122"/>
                <a:cs typeface="Calibri" pitchFamily="34" charset="-120"/>
              </a:rPr>
              <a:t>The 2022 NCUA</a:t>
            </a:r>
            <a:endParaRPr lang="en-US" sz="3600" dirty="0"/>
          </a:p>
          <a:p>
            <a:pPr marL="0" indent="0">
              <a:buNone/>
            </a:pPr>
            <a:r>
              <a:rPr lang="en-US" sz="3600" b="1" dirty="0">
                <a:solidFill>
                  <a:srgbClr val="1A2744"/>
                </a:solidFill>
                <a:latin typeface="Calibri" pitchFamily="34" charset="0"/>
                <a:ea typeface="Calibri" pitchFamily="34" charset="-122"/>
                <a:cs typeface="Calibri" pitchFamily="34" charset="-120"/>
              </a:rPr>
              <a:t>Risk-Based Capital Rule</a:t>
            </a:r>
            <a:endParaRPr lang="en-US" sz="3600" dirty="0"/>
          </a:p>
        </p:txBody>
      </p:sp>
      <p:sp>
        <p:nvSpPr>
          <p:cNvPr id="10" name="Shape 8"/>
          <p:cNvSpPr/>
          <p:nvPr/>
        </p:nvSpPr>
        <p:spPr>
          <a:xfrm>
            <a:off x="3840480" y="3383280"/>
            <a:ext cx="7772400" cy="45720"/>
          </a:xfrm>
          <a:prstGeom prst="rect">
            <a:avLst/>
          </a:prstGeom>
          <a:solidFill>
            <a:srgbClr val="C89728"/>
          </a:solidFill>
          <a:ln w="12700">
            <a:solidFill>
              <a:srgbClr val="C89728"/>
            </a:solidFill>
            <a:prstDash val="solid"/>
          </a:ln>
        </p:spPr>
        <p:txBody>
          <a:bodyPr/>
          <a:lstStyle/>
          <a:p>
            <a:endParaRPr lang="en-US"/>
          </a:p>
        </p:txBody>
      </p:sp>
      <p:sp>
        <p:nvSpPr>
          <p:cNvPr id="11" name="Text 9"/>
          <p:cNvSpPr/>
          <p:nvPr/>
        </p:nvSpPr>
        <p:spPr>
          <a:xfrm>
            <a:off x="3840480" y="3493008"/>
            <a:ext cx="8046720" cy="594360"/>
          </a:xfrm>
          <a:prstGeom prst="rect">
            <a:avLst/>
          </a:prstGeom>
          <a:noFill/>
          <a:ln/>
        </p:spPr>
        <p:txBody>
          <a:bodyPr wrap="square" rtlCol="0" anchor="ctr"/>
          <a:lstStyle/>
          <a:p>
            <a:pPr marL="0" indent="0">
              <a:buNone/>
            </a:pPr>
            <a:r>
              <a:rPr lang="en-US" sz="1800" i="1" dirty="0">
                <a:solidFill>
                  <a:srgbClr val="5A6A8A"/>
                </a:solidFill>
                <a:latin typeface="Calibri" pitchFamily="34" charset="0"/>
                <a:ea typeface="Calibri" pitchFamily="34" charset="-122"/>
                <a:cs typeface="Calibri" pitchFamily="34" charset="-120"/>
              </a:rPr>
              <a:t>Empirical Findings from an Analysis of Complex Credit Unions</a:t>
            </a:r>
            <a:endParaRPr lang="en-US" sz="1800" dirty="0"/>
          </a:p>
        </p:txBody>
      </p:sp>
      <p:sp>
        <p:nvSpPr>
          <p:cNvPr id="12" name="Text 10"/>
          <p:cNvSpPr/>
          <p:nvPr/>
        </p:nvSpPr>
        <p:spPr>
          <a:xfrm>
            <a:off x="3840480" y="5303520"/>
            <a:ext cx="8046720" cy="365760"/>
          </a:xfrm>
          <a:prstGeom prst="rect">
            <a:avLst/>
          </a:prstGeom>
          <a:noFill/>
          <a:ln/>
        </p:spPr>
        <p:txBody>
          <a:bodyPr wrap="square" rtlCol="0" anchor="ctr"/>
          <a:lstStyle/>
          <a:p>
            <a:pPr marL="0" indent="0">
              <a:buNone/>
            </a:pPr>
            <a:r>
              <a:rPr lang="en-US" sz="1200" dirty="0">
                <a:solidFill>
                  <a:srgbClr val="5A5A5A"/>
                </a:solidFill>
                <a:latin typeface="Calibri" pitchFamily="34" charset="0"/>
                <a:ea typeface="Calibri" pitchFamily="34" charset="-122"/>
                <a:cs typeface="Calibri" pitchFamily="34" charset="-120"/>
              </a:rPr>
              <a:t>NCUA Call Report Data, 2000–2025  ·  April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B"/>
        </a:solidFill>
        <a:effectLst/>
      </p:bgPr>
    </p:bg>
    <p:spTree>
      <p:nvGrpSpPr>
        <p:cNvPr id="1" name=""/>
        <p:cNvGrpSpPr/>
        <p:nvPr/>
      </p:nvGrpSpPr>
      <p:grpSpPr>
        <a:xfrm>
          <a:off x="0" y="0"/>
          <a:ext cx="0" cy="0"/>
          <a:chOff x="0" y="0"/>
          <a:chExt cx="0" cy="0"/>
        </a:xfrm>
      </p:grpSpPr>
      <p:sp>
        <p:nvSpPr>
          <p:cNvPr id="2" name="Shape 0"/>
          <p:cNvSpPr/>
          <p:nvPr/>
        </p:nvSpPr>
        <p:spPr>
          <a:xfrm>
            <a:off x="0" y="0"/>
            <a:ext cx="1463040" cy="6858000"/>
          </a:xfrm>
          <a:prstGeom prst="rect">
            <a:avLst/>
          </a:prstGeom>
          <a:solidFill>
            <a:srgbClr val="1A2744"/>
          </a:solidFill>
          <a:ln w="12700">
            <a:solidFill>
              <a:srgbClr val="1A2744"/>
            </a:solidFill>
            <a:prstDash val="solid"/>
          </a:ln>
        </p:spPr>
        <p:txBody>
          <a:bodyPr/>
          <a:lstStyle/>
          <a:p>
            <a:endParaRPr lang="en-US"/>
          </a:p>
        </p:txBody>
      </p:sp>
      <p:sp>
        <p:nvSpPr>
          <p:cNvPr id="3" name="Shape 1"/>
          <p:cNvSpPr/>
          <p:nvPr/>
        </p:nvSpPr>
        <p:spPr>
          <a:xfrm>
            <a:off x="0" y="0"/>
            <a:ext cx="12161520" cy="64008"/>
          </a:xfrm>
          <a:prstGeom prst="rect">
            <a:avLst/>
          </a:prstGeom>
          <a:solidFill>
            <a:srgbClr val="C89728"/>
          </a:solidFill>
          <a:ln w="12700">
            <a:solidFill>
              <a:srgbClr val="C89728"/>
            </a:solidFill>
            <a:prstDash val="solid"/>
          </a:ln>
        </p:spPr>
        <p:txBody>
          <a:bodyPr/>
          <a:lstStyle/>
          <a:p>
            <a:endParaRPr lang="en-US"/>
          </a:p>
        </p:txBody>
      </p:sp>
      <p:sp>
        <p:nvSpPr>
          <p:cNvPr id="4" name="Text 2"/>
          <p:cNvSpPr/>
          <p:nvPr/>
        </p:nvSpPr>
        <p:spPr>
          <a:xfrm>
            <a:off x="1645920" y="164592"/>
            <a:ext cx="10058400" cy="502920"/>
          </a:xfrm>
          <a:prstGeom prst="rect">
            <a:avLst/>
          </a:prstGeom>
          <a:noFill/>
          <a:ln/>
        </p:spPr>
        <p:txBody>
          <a:bodyPr wrap="square" rtlCol="0" anchor="ctr"/>
          <a:lstStyle/>
          <a:p>
            <a:pPr marL="0" indent="0">
              <a:buNone/>
            </a:pPr>
            <a:r>
              <a:rPr lang="en-US" sz="2200" b="1" dirty="0">
                <a:solidFill>
                  <a:srgbClr val="1A2744"/>
                </a:solidFill>
                <a:latin typeface="Calibri" pitchFamily="34" charset="0"/>
                <a:ea typeface="Calibri" pitchFamily="34" charset="-122"/>
                <a:cs typeface="Calibri" pitchFamily="34" charset="-120"/>
              </a:rPr>
              <a:t>What We Studied — and How</a:t>
            </a:r>
            <a:endParaRPr lang="en-US" sz="2200" dirty="0"/>
          </a:p>
        </p:txBody>
      </p:sp>
      <p:sp>
        <p:nvSpPr>
          <p:cNvPr id="5" name="Shape 3"/>
          <p:cNvSpPr/>
          <p:nvPr/>
        </p:nvSpPr>
        <p:spPr>
          <a:xfrm>
            <a:off x="1645920" y="658368"/>
            <a:ext cx="10058400" cy="27432"/>
          </a:xfrm>
          <a:prstGeom prst="rect">
            <a:avLst/>
          </a:prstGeom>
          <a:solidFill>
            <a:srgbClr val="C89728"/>
          </a:solidFill>
          <a:ln w="12700">
            <a:solidFill>
              <a:srgbClr val="C89728"/>
            </a:solidFill>
            <a:prstDash val="solid"/>
          </a:ln>
        </p:spPr>
        <p:txBody>
          <a:bodyPr/>
          <a:lstStyle/>
          <a:p>
            <a:endParaRPr lang="en-US"/>
          </a:p>
        </p:txBody>
      </p:sp>
      <p:sp>
        <p:nvSpPr>
          <p:cNvPr id="6" name="Text 4"/>
          <p:cNvSpPr/>
          <p:nvPr/>
        </p:nvSpPr>
        <p:spPr>
          <a:xfrm rot="5400000">
            <a:off x="-2011680" y="3200400"/>
            <a:ext cx="5029200" cy="457200"/>
          </a:xfrm>
          <a:prstGeom prst="rect">
            <a:avLst/>
          </a:prstGeom>
          <a:noFill/>
          <a:ln/>
        </p:spPr>
        <p:txBody>
          <a:bodyPr wrap="square" rtlCol="0" anchor="ctr"/>
          <a:lstStyle/>
          <a:p>
            <a:pPr marL="0" indent="0" algn="ctr">
              <a:buNone/>
            </a:pPr>
            <a:r>
              <a:rPr lang="en-US" sz="900" b="1" kern="0" spc="200" dirty="0">
                <a:solidFill>
                  <a:srgbClr val="E8C36A"/>
                </a:solidFill>
                <a:latin typeface="Calibri" pitchFamily="34" charset="0"/>
                <a:ea typeface="Calibri" pitchFamily="34" charset="-122"/>
                <a:cs typeface="Calibri" pitchFamily="34" charset="-120"/>
              </a:rPr>
              <a:t>METHODOLOGY</a:t>
            </a:r>
            <a:endParaRPr lang="en-US" sz="900" dirty="0"/>
          </a:p>
        </p:txBody>
      </p:sp>
      <p:sp>
        <p:nvSpPr>
          <p:cNvPr id="7" name="Text 5"/>
          <p:cNvSpPr/>
          <p:nvPr/>
        </p:nvSpPr>
        <p:spPr>
          <a:xfrm>
            <a:off x="1691640" y="105156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THE DATA</a:t>
            </a:r>
            <a:endParaRPr lang="en-US" sz="900" dirty="0"/>
          </a:p>
        </p:txBody>
      </p:sp>
      <p:sp>
        <p:nvSpPr>
          <p:cNvPr id="8" name="Text 6"/>
          <p:cNvSpPr/>
          <p:nvPr/>
        </p:nvSpPr>
        <p:spPr>
          <a:xfrm>
            <a:off x="1691640" y="1261872"/>
            <a:ext cx="5029200" cy="1188720"/>
          </a:xfrm>
          <a:prstGeom prst="rect">
            <a:avLst/>
          </a:prstGeom>
          <a:noFill/>
          <a:ln/>
        </p:spPr>
        <p:txBody>
          <a:bodyPr wrap="square" rtlCol="0" anchor="t"/>
          <a:lstStyle/>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696 complex credit unions — avg assets ≥ $500M, classified using 2021 data</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~4,488 non-complex credit unions as the comparison group</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150,000+ CU-quarters of NCUA Call Report data, 2000–2025</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12 outcomes: capital, loan rates, volume, portfolio mix, profitability, loan quality</a:t>
            </a:r>
            <a:endParaRPr lang="en-US" sz="1150" dirty="0"/>
          </a:p>
        </p:txBody>
      </p:sp>
      <p:sp>
        <p:nvSpPr>
          <p:cNvPr id="9" name="Text 7"/>
          <p:cNvSpPr/>
          <p:nvPr/>
        </p:nvSpPr>
        <p:spPr>
          <a:xfrm>
            <a:off x="1691640" y="251460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THE METHOD: DIFFERENCE-IN-DIFFERENCES (DiD)</a:t>
            </a:r>
            <a:endParaRPr lang="en-US" sz="900" dirty="0"/>
          </a:p>
        </p:txBody>
      </p:sp>
      <p:sp>
        <p:nvSpPr>
          <p:cNvPr id="10" name="Shape 8"/>
          <p:cNvSpPr/>
          <p:nvPr/>
        </p:nvSpPr>
        <p:spPr>
          <a:xfrm>
            <a:off x="1691640" y="2724912"/>
            <a:ext cx="1463040" cy="804672"/>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1" name="Text 9"/>
          <p:cNvSpPr/>
          <p:nvPr/>
        </p:nvSpPr>
        <p:spPr>
          <a:xfrm>
            <a:off x="1737360" y="2724912"/>
            <a:ext cx="1371600" cy="502920"/>
          </a:xfrm>
          <a:prstGeom prst="rect">
            <a:avLst/>
          </a:prstGeom>
          <a:noFill/>
          <a:ln/>
        </p:spPr>
        <p:txBody>
          <a:bodyPr wrap="square" rtlCol="0" anchor="ctr"/>
          <a:lstStyle/>
          <a:p>
            <a:pPr marL="0" indent="0" algn="ctr">
              <a:buNone/>
            </a:pPr>
            <a:r>
              <a:rPr lang="en-US" sz="1000" b="1" dirty="0">
                <a:solidFill>
                  <a:srgbClr val="E8C36A"/>
                </a:solidFill>
                <a:latin typeface="Calibri" pitchFamily="34" charset="0"/>
                <a:ea typeface="Calibri" pitchFamily="34" charset="-122"/>
                <a:cs typeface="Calibri" pitchFamily="34" charset="-120"/>
              </a:rPr>
              <a:t>Change in</a:t>
            </a:r>
            <a:endParaRPr lang="en-US" sz="1000" dirty="0"/>
          </a:p>
          <a:p>
            <a:pPr marL="0" indent="0" algn="ctr">
              <a:buNone/>
            </a:pPr>
            <a:r>
              <a:rPr lang="en-US" sz="1000" b="1" dirty="0">
                <a:solidFill>
                  <a:srgbClr val="E8C36A"/>
                </a:solidFill>
                <a:latin typeface="Calibri" pitchFamily="34" charset="0"/>
                <a:ea typeface="Calibri" pitchFamily="34" charset="-122"/>
                <a:cs typeface="Calibri" pitchFamily="34" charset="-120"/>
              </a:rPr>
              <a:t>complex CUs</a:t>
            </a:r>
            <a:endParaRPr lang="en-US" sz="1000" dirty="0"/>
          </a:p>
        </p:txBody>
      </p:sp>
      <p:sp>
        <p:nvSpPr>
          <p:cNvPr id="12" name="Text 10"/>
          <p:cNvSpPr/>
          <p:nvPr/>
        </p:nvSpPr>
        <p:spPr>
          <a:xfrm>
            <a:off x="1737360" y="3200400"/>
            <a:ext cx="1371600" cy="329184"/>
          </a:xfrm>
          <a:prstGeom prst="rect">
            <a:avLst/>
          </a:prstGeom>
          <a:noFill/>
          <a:ln/>
        </p:spPr>
        <p:txBody>
          <a:bodyPr wrap="square" rtlCol="0" anchor="ctr"/>
          <a:lstStyle/>
          <a:p>
            <a:pPr marL="0" indent="0" algn="ctr">
              <a:buNone/>
            </a:pPr>
            <a:r>
              <a:rPr lang="en-US" sz="900" dirty="0">
                <a:solidFill>
                  <a:srgbClr val="B8C4D8"/>
                </a:solidFill>
                <a:latin typeface="Calibri" pitchFamily="34" charset="0"/>
                <a:ea typeface="Calibri" pitchFamily="34" charset="-122"/>
                <a:cs typeface="Calibri" pitchFamily="34" charset="-120"/>
              </a:rPr>
              <a:t>Before vs. after rule</a:t>
            </a:r>
            <a:endParaRPr lang="en-US" sz="900" dirty="0"/>
          </a:p>
        </p:txBody>
      </p:sp>
      <p:sp>
        <p:nvSpPr>
          <p:cNvPr id="13" name="Shape 11"/>
          <p:cNvSpPr/>
          <p:nvPr/>
        </p:nvSpPr>
        <p:spPr>
          <a:xfrm>
            <a:off x="3291840" y="2724912"/>
            <a:ext cx="1463040" cy="804672"/>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4" name="Text 12"/>
          <p:cNvSpPr/>
          <p:nvPr/>
        </p:nvSpPr>
        <p:spPr>
          <a:xfrm>
            <a:off x="3337560" y="2724912"/>
            <a:ext cx="1371600" cy="502920"/>
          </a:xfrm>
          <a:prstGeom prst="rect">
            <a:avLst/>
          </a:prstGeom>
          <a:noFill/>
          <a:ln/>
        </p:spPr>
        <p:txBody>
          <a:bodyPr wrap="square" rtlCol="0" anchor="ctr"/>
          <a:lstStyle/>
          <a:p>
            <a:pPr marL="0" indent="0" algn="ctr">
              <a:buNone/>
            </a:pPr>
            <a:r>
              <a:rPr lang="en-US" sz="1000" b="1" dirty="0">
                <a:solidFill>
                  <a:srgbClr val="E8C36A"/>
                </a:solidFill>
                <a:latin typeface="Calibri" pitchFamily="34" charset="0"/>
                <a:ea typeface="Calibri" pitchFamily="34" charset="-122"/>
                <a:cs typeface="Calibri" pitchFamily="34" charset="-120"/>
              </a:rPr>
              <a:t>Change in</a:t>
            </a:r>
            <a:endParaRPr lang="en-US" sz="1000" dirty="0"/>
          </a:p>
          <a:p>
            <a:pPr marL="0" indent="0" algn="ctr">
              <a:buNone/>
            </a:pPr>
            <a:r>
              <a:rPr lang="en-US" sz="1000" b="1" dirty="0">
                <a:solidFill>
                  <a:srgbClr val="E8C36A"/>
                </a:solidFill>
                <a:latin typeface="Calibri" pitchFamily="34" charset="0"/>
                <a:ea typeface="Calibri" pitchFamily="34" charset="-122"/>
                <a:cs typeface="Calibri" pitchFamily="34" charset="-120"/>
              </a:rPr>
              <a:t>non-complex CUs</a:t>
            </a:r>
            <a:endParaRPr lang="en-US" sz="1000" dirty="0"/>
          </a:p>
        </p:txBody>
      </p:sp>
      <p:sp>
        <p:nvSpPr>
          <p:cNvPr id="15" name="Text 13"/>
          <p:cNvSpPr/>
          <p:nvPr/>
        </p:nvSpPr>
        <p:spPr>
          <a:xfrm>
            <a:off x="3337560" y="3200400"/>
            <a:ext cx="1371600" cy="329184"/>
          </a:xfrm>
          <a:prstGeom prst="rect">
            <a:avLst/>
          </a:prstGeom>
          <a:noFill/>
          <a:ln/>
        </p:spPr>
        <p:txBody>
          <a:bodyPr wrap="square" rtlCol="0" anchor="ctr"/>
          <a:lstStyle/>
          <a:p>
            <a:pPr marL="0" indent="0" algn="ctr">
              <a:buNone/>
            </a:pPr>
            <a:r>
              <a:rPr lang="en-US" sz="900" dirty="0">
                <a:solidFill>
                  <a:srgbClr val="B8C4D8"/>
                </a:solidFill>
                <a:latin typeface="Calibri" pitchFamily="34" charset="0"/>
                <a:ea typeface="Calibri" pitchFamily="34" charset="-122"/>
                <a:cs typeface="Calibri" pitchFamily="34" charset="-120"/>
              </a:rPr>
              <a:t>Same time window</a:t>
            </a:r>
            <a:endParaRPr lang="en-US" sz="900" dirty="0"/>
          </a:p>
        </p:txBody>
      </p:sp>
      <p:sp>
        <p:nvSpPr>
          <p:cNvPr id="16" name="Text 14"/>
          <p:cNvSpPr/>
          <p:nvPr/>
        </p:nvSpPr>
        <p:spPr>
          <a:xfrm>
            <a:off x="2999232" y="2880360"/>
            <a:ext cx="274320" cy="457200"/>
          </a:xfrm>
          <a:prstGeom prst="rect">
            <a:avLst/>
          </a:prstGeom>
          <a:noFill/>
          <a:ln/>
        </p:spPr>
        <p:txBody>
          <a:bodyPr wrap="square" rtlCol="0" anchor="ctr"/>
          <a:lstStyle/>
          <a:p>
            <a:pPr marL="0" indent="0" algn="ctr">
              <a:buNone/>
            </a:pPr>
            <a:r>
              <a:rPr lang="en-US" sz="2000" b="1" dirty="0">
                <a:solidFill>
                  <a:srgbClr val="1A2744"/>
                </a:solidFill>
                <a:latin typeface="Calibri" pitchFamily="34" charset="0"/>
                <a:ea typeface="Calibri" pitchFamily="34" charset="-122"/>
                <a:cs typeface="Calibri" pitchFamily="34" charset="-120"/>
              </a:rPr>
              <a:t>−</a:t>
            </a:r>
            <a:endParaRPr lang="en-US" sz="2000" dirty="0"/>
          </a:p>
        </p:txBody>
      </p:sp>
      <p:sp>
        <p:nvSpPr>
          <p:cNvPr id="17" name="Text 15"/>
          <p:cNvSpPr/>
          <p:nvPr/>
        </p:nvSpPr>
        <p:spPr>
          <a:xfrm>
            <a:off x="4626864" y="2880360"/>
            <a:ext cx="274320" cy="457200"/>
          </a:xfrm>
          <a:prstGeom prst="rect">
            <a:avLst/>
          </a:prstGeom>
          <a:noFill/>
          <a:ln/>
        </p:spPr>
        <p:txBody>
          <a:bodyPr wrap="square" rtlCol="0" anchor="ctr"/>
          <a:lstStyle/>
          <a:p>
            <a:pPr marL="0" indent="0" algn="ctr">
              <a:buNone/>
            </a:pPr>
            <a:r>
              <a:rPr lang="en-US" sz="2000" b="1" dirty="0">
                <a:solidFill>
                  <a:srgbClr val="1A2744"/>
                </a:solidFill>
                <a:latin typeface="Calibri" pitchFamily="34" charset="0"/>
                <a:ea typeface="Calibri" pitchFamily="34" charset="-122"/>
                <a:cs typeface="Calibri" pitchFamily="34" charset="-120"/>
              </a:rPr>
              <a:t>=</a:t>
            </a:r>
            <a:endParaRPr lang="en-US" sz="2000" dirty="0"/>
          </a:p>
        </p:txBody>
      </p:sp>
      <p:sp>
        <p:nvSpPr>
          <p:cNvPr id="18" name="Shape 16"/>
          <p:cNvSpPr/>
          <p:nvPr/>
        </p:nvSpPr>
        <p:spPr>
          <a:xfrm>
            <a:off x="4956048" y="2724912"/>
            <a:ext cx="1737360" cy="804672"/>
          </a:xfrm>
          <a:prstGeom prst="rect">
            <a:avLst/>
          </a:prstGeom>
          <a:solidFill>
            <a:srgbClr val="C89728"/>
          </a:solidFill>
          <a:ln w="12700">
            <a:solidFill>
              <a:srgbClr val="C89728"/>
            </a:solidFill>
            <a:prstDash val="solid"/>
          </a:ln>
          <a:effectLst>
            <a:outerShdw blurRad="76200" dist="25400" dir="8100000" algn="bl" rotWithShape="0">
              <a:srgbClr val="000000">
                <a:alpha val="12000"/>
              </a:srgbClr>
            </a:outerShdw>
          </a:effectLst>
        </p:spPr>
        <p:txBody>
          <a:bodyPr/>
          <a:lstStyle/>
          <a:p>
            <a:endParaRPr lang="en-US"/>
          </a:p>
        </p:txBody>
      </p:sp>
      <p:sp>
        <p:nvSpPr>
          <p:cNvPr id="19" name="Text 17"/>
          <p:cNvSpPr/>
          <p:nvPr/>
        </p:nvSpPr>
        <p:spPr>
          <a:xfrm>
            <a:off x="5001768" y="2724912"/>
            <a:ext cx="1645920" cy="457200"/>
          </a:xfrm>
          <a:prstGeom prst="rect">
            <a:avLst/>
          </a:prstGeom>
          <a:noFill/>
          <a:ln/>
        </p:spPr>
        <p:txBody>
          <a:bodyPr wrap="square" rtlCol="0" anchor="ctr"/>
          <a:lstStyle/>
          <a:p>
            <a:pPr marL="0" indent="0" algn="ctr">
              <a:buNone/>
            </a:pPr>
            <a:r>
              <a:rPr lang="en-US" sz="1000" b="1" dirty="0">
                <a:solidFill>
                  <a:srgbClr val="1A2744"/>
                </a:solidFill>
                <a:latin typeface="Calibri" pitchFamily="34" charset="0"/>
                <a:ea typeface="Calibri" pitchFamily="34" charset="-122"/>
                <a:cs typeface="Calibri" pitchFamily="34" charset="-120"/>
              </a:rPr>
              <a:t>The Rule’s Effect</a:t>
            </a:r>
            <a:endParaRPr lang="en-US" sz="1000" dirty="0"/>
          </a:p>
        </p:txBody>
      </p:sp>
      <p:sp>
        <p:nvSpPr>
          <p:cNvPr id="20" name="Text 18"/>
          <p:cNvSpPr/>
          <p:nvPr/>
        </p:nvSpPr>
        <p:spPr>
          <a:xfrm>
            <a:off x="5001768" y="3154680"/>
            <a:ext cx="1645920" cy="365760"/>
          </a:xfrm>
          <a:prstGeom prst="rect">
            <a:avLst/>
          </a:prstGeom>
          <a:noFill/>
          <a:ln/>
        </p:spPr>
        <p:txBody>
          <a:bodyPr wrap="square" rtlCol="0" anchor="ctr"/>
          <a:lstStyle/>
          <a:p>
            <a:pPr marL="0" indent="0" algn="ctr">
              <a:buNone/>
            </a:pPr>
            <a:r>
              <a:rPr lang="en-US" sz="900" dirty="0">
                <a:solidFill>
                  <a:srgbClr val="243362"/>
                </a:solidFill>
                <a:latin typeface="Calibri" pitchFamily="34" charset="0"/>
                <a:ea typeface="Calibri" pitchFamily="34" charset="-122"/>
                <a:cs typeface="Calibri" pitchFamily="34" charset="-120"/>
              </a:rPr>
              <a:t>Isolated from the economy</a:t>
            </a:r>
            <a:endParaRPr lang="en-US" sz="900" dirty="0"/>
          </a:p>
        </p:txBody>
      </p:sp>
      <p:sp>
        <p:nvSpPr>
          <p:cNvPr id="21" name="Shape 19"/>
          <p:cNvSpPr/>
          <p:nvPr/>
        </p:nvSpPr>
        <p:spPr>
          <a:xfrm>
            <a:off x="1691640" y="3639312"/>
            <a:ext cx="5029200" cy="658368"/>
          </a:xfrm>
          <a:prstGeom prst="rect">
            <a:avLst/>
          </a:prstGeom>
          <a:solidFill>
            <a:srgbClr val="EDE8DF"/>
          </a:solidFill>
          <a:ln w="12700">
            <a:solidFill>
              <a:srgbClr val="C8C0B0"/>
            </a:solidFill>
            <a:prstDash val="solid"/>
          </a:ln>
        </p:spPr>
        <p:txBody>
          <a:bodyPr/>
          <a:lstStyle/>
          <a:p>
            <a:endParaRPr lang="en-US"/>
          </a:p>
        </p:txBody>
      </p:sp>
      <p:sp>
        <p:nvSpPr>
          <p:cNvPr id="22" name="Shape 20"/>
          <p:cNvSpPr/>
          <p:nvPr/>
        </p:nvSpPr>
        <p:spPr>
          <a:xfrm>
            <a:off x="1691640" y="3639312"/>
            <a:ext cx="64008" cy="658368"/>
          </a:xfrm>
          <a:prstGeom prst="rect">
            <a:avLst/>
          </a:prstGeom>
          <a:solidFill>
            <a:srgbClr val="C89728"/>
          </a:solidFill>
          <a:ln w="12700">
            <a:solidFill>
              <a:srgbClr val="C89728"/>
            </a:solidFill>
            <a:prstDash val="solid"/>
          </a:ln>
        </p:spPr>
        <p:txBody>
          <a:bodyPr/>
          <a:lstStyle/>
          <a:p>
            <a:endParaRPr lang="en-US"/>
          </a:p>
        </p:txBody>
      </p:sp>
      <p:sp>
        <p:nvSpPr>
          <p:cNvPr id="23" name="Text 21"/>
          <p:cNvSpPr/>
          <p:nvPr/>
        </p:nvSpPr>
        <p:spPr>
          <a:xfrm>
            <a:off x="1828800" y="3685032"/>
            <a:ext cx="4828032" cy="566928"/>
          </a:xfrm>
          <a:prstGeom prst="rect">
            <a:avLst/>
          </a:prstGeom>
          <a:noFill/>
          <a:ln/>
        </p:spPr>
        <p:txBody>
          <a:bodyPr wrap="square" rtlCol="0" anchor="t"/>
          <a:lstStyle/>
          <a:p>
            <a:pPr marL="0" indent="0">
              <a:buNone/>
            </a:pPr>
            <a:r>
              <a:rPr lang="en-US" sz="1050" dirty="0">
                <a:solidFill>
                  <a:srgbClr val="444444"/>
                </a:solidFill>
                <a:latin typeface="Calibri" pitchFamily="34" charset="0"/>
                <a:ea typeface="Calibri" pitchFamily="34" charset="-122"/>
                <a:cs typeface="Calibri" pitchFamily="34" charset="-120"/>
              </a:rPr>
              <a:t>Why this works: Non-complex CUs faced the same economic conditions but were not subject to the RBC rule. Any difference between the two groups, after accounting for pre-existing trends, isolates the rule’s effect.</a:t>
            </a:r>
            <a:endParaRPr lang="en-US" sz="1050" dirty="0"/>
          </a:p>
        </p:txBody>
      </p:sp>
      <p:sp>
        <p:nvSpPr>
          <p:cNvPr id="24" name="Text 22"/>
          <p:cNvSpPr/>
          <p:nvPr/>
        </p:nvSpPr>
        <p:spPr>
          <a:xfrm>
            <a:off x="6903720" y="105156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HOW TO READ THE EVENT STUDY CHARTS</a:t>
            </a:r>
            <a:endParaRPr lang="en-US" sz="900" dirty="0"/>
          </a:p>
        </p:txBody>
      </p:sp>
      <p:sp>
        <p:nvSpPr>
          <p:cNvPr id="25" name="Shape 23"/>
          <p:cNvSpPr/>
          <p:nvPr/>
        </p:nvSpPr>
        <p:spPr>
          <a:xfrm>
            <a:off x="6903720" y="1261872"/>
            <a:ext cx="4983480" cy="2331720"/>
          </a:xfrm>
          <a:prstGeom prst="rect">
            <a:avLst/>
          </a:prstGeom>
          <a:solidFill>
            <a:srgbClr val="EDE8DF"/>
          </a:solidFill>
          <a:ln w="12700">
            <a:solidFill>
              <a:srgbClr val="C8C0B0"/>
            </a:solidFill>
            <a:prstDash val="solid"/>
          </a:ln>
        </p:spPr>
        <p:txBody>
          <a:bodyPr/>
          <a:lstStyle/>
          <a:p>
            <a:endParaRPr lang="en-US"/>
          </a:p>
        </p:txBody>
      </p:sp>
      <p:sp>
        <p:nvSpPr>
          <p:cNvPr id="26" name="Text 24"/>
          <p:cNvSpPr/>
          <p:nvPr/>
        </p:nvSpPr>
        <p:spPr>
          <a:xfrm>
            <a:off x="6995160" y="1298448"/>
            <a:ext cx="4800600" cy="2240280"/>
          </a:xfrm>
          <a:prstGeom prst="rect">
            <a:avLst/>
          </a:prstGeom>
          <a:noFill/>
          <a:ln/>
        </p:spPr>
        <p:txBody>
          <a:bodyPr wrap="square" rtlCol="0" anchor="t"/>
          <a:lstStyle/>
          <a:p>
            <a:pPr marL="0" indent="0">
              <a:buNone/>
            </a:pPr>
            <a:r>
              <a:rPr lang="en-US" sz="1100" b="1" dirty="0">
                <a:solidFill>
                  <a:srgbClr val="1A2744"/>
                </a:solidFill>
                <a:latin typeface="Calibri" pitchFamily="34" charset="0"/>
                <a:ea typeface="Calibri" pitchFamily="34" charset="-122"/>
                <a:cs typeface="Calibri" pitchFamily="34" charset="-120"/>
              </a:rPr>
              <a:t>Think of it as a before-and-after comparison.
</a:t>
            </a:r>
            <a:r>
              <a:rPr lang="en-US" sz="1050" dirty="0">
                <a:solidFill>
                  <a:srgbClr val="444444"/>
                </a:solidFill>
                <a:latin typeface="Calibri" pitchFamily="34" charset="0"/>
                <a:ea typeface="Calibri" pitchFamily="34" charset="-122"/>
                <a:cs typeface="Calibri" pitchFamily="34" charset="-120"/>
              </a:rPr>
              <a:t>Each chart tracks the gap between large complex credit unions and smaller ones — before and after the rule took effect.
</a:t>
            </a:r>
            <a:r>
              <a:rPr lang="en-US" sz="1050" b="1" dirty="0">
                <a:solidFill>
                  <a:srgbClr val="1A2744"/>
                </a:solidFill>
                <a:latin typeface="Calibri" pitchFamily="34" charset="0"/>
                <a:ea typeface="Calibri" pitchFamily="34" charset="-122"/>
                <a:cs typeface="Calibri" pitchFamily="34" charset="-120"/>
              </a:rPr>
              <a:t>▶  Left of center (Q0): </a:t>
            </a:r>
            <a:r>
              <a:rPr lang="en-US" sz="1050" dirty="0">
                <a:solidFill>
                  <a:srgbClr val="444444"/>
                </a:solidFill>
                <a:latin typeface="Calibri" pitchFamily="34" charset="0"/>
                <a:ea typeface="Calibri" pitchFamily="34" charset="-122"/>
                <a:cs typeface="Calibri" pitchFamily="34" charset="-120"/>
              </a:rPr>
              <a:t>The dots hover near zero. This confirms both groups were behaving similarly before the rule — a key validity check.
</a:t>
            </a:r>
            <a:r>
              <a:rPr lang="en-US" sz="1050" b="1" dirty="0">
                <a:solidFill>
                  <a:srgbClr val="1A2744"/>
                </a:solidFill>
                <a:latin typeface="Calibri" pitchFamily="34" charset="0"/>
                <a:ea typeface="Calibri" pitchFamily="34" charset="-122"/>
                <a:cs typeface="Calibri" pitchFamily="34" charset="-120"/>
              </a:rPr>
              <a:t>▶  Right of center (Q0): </a:t>
            </a:r>
            <a:r>
              <a:rPr lang="en-US" sz="1050" dirty="0">
                <a:solidFill>
                  <a:srgbClr val="444444"/>
                </a:solidFill>
                <a:latin typeface="Calibri" pitchFamily="34" charset="0"/>
                <a:ea typeface="Calibri" pitchFamily="34" charset="-122"/>
                <a:cs typeface="Calibri" pitchFamily="34" charset="-120"/>
              </a:rPr>
              <a:t>The line moves away from zero. That movement is the rule’s estimated effect — what changed for complex CUs that did not change for others.
</a:t>
            </a:r>
            <a:r>
              <a:rPr lang="en-US" sz="1050" b="1" dirty="0">
                <a:solidFill>
                  <a:srgbClr val="1A2744"/>
                </a:solidFill>
                <a:latin typeface="Calibri" pitchFamily="34" charset="0"/>
                <a:ea typeface="Calibri" pitchFamily="34" charset="-122"/>
                <a:cs typeface="Calibri" pitchFamily="34" charset="-120"/>
              </a:rPr>
              <a:t>▶  The shaded band: </a:t>
            </a:r>
            <a:r>
              <a:rPr lang="en-US" sz="1050" dirty="0">
                <a:solidFill>
                  <a:srgbClr val="444444"/>
                </a:solidFill>
                <a:latin typeface="Calibri" pitchFamily="34" charset="0"/>
                <a:ea typeface="Calibri" pitchFamily="34" charset="-122"/>
                <a:cs typeface="Calibri" pitchFamily="34" charset="-120"/>
              </a:rPr>
              <a:t>Shows the range of uncertainty. A narrower band means higher confidence. If the band includes zero, the effect at that point is not conclusive.</a:t>
            </a:r>
            <a:endParaRPr lang="en-US" sz="1100" dirty="0"/>
          </a:p>
        </p:txBody>
      </p:sp>
      <p:graphicFrame>
        <p:nvGraphicFramePr>
          <p:cNvPr id="27" name="Chart 0"/>
          <p:cNvGraphicFramePr/>
          <p:nvPr/>
        </p:nvGraphicFramePr>
        <p:xfrm>
          <a:off x="6903720" y="3657600"/>
          <a:ext cx="4983480" cy="2194560"/>
        </p:xfrm>
        <a:graphic>
          <a:graphicData uri="http://schemas.openxmlformats.org/drawingml/2006/chart">
            <c:chart xmlns:c="http://schemas.openxmlformats.org/drawingml/2006/chart" xmlns:r="http://schemas.openxmlformats.org/officeDocument/2006/relationships" r:id="rId3"/>
          </a:graphicData>
        </a:graphic>
      </p:graphicFrame>
      <p:sp>
        <p:nvSpPr>
          <p:cNvPr id="28" name="Text 25"/>
          <p:cNvSpPr/>
          <p:nvPr/>
        </p:nvSpPr>
        <p:spPr>
          <a:xfrm>
            <a:off x="6903720" y="5897880"/>
            <a:ext cx="4983480" cy="228600"/>
          </a:xfrm>
          <a:prstGeom prst="rect">
            <a:avLst/>
          </a:prstGeom>
          <a:noFill/>
          <a:ln/>
        </p:spPr>
        <p:txBody>
          <a:bodyPr wrap="square" rtlCol="0" anchor="ctr"/>
          <a:lstStyle/>
          <a:p>
            <a:pPr marL="0" indent="0" algn="ctr">
              <a:buNone/>
            </a:pPr>
            <a:r>
              <a:rPr lang="en-US" sz="900" i="1" dirty="0">
                <a:solidFill>
                  <a:srgbClr val="AAAAAA"/>
                </a:solidFill>
                <a:latin typeface="Calibri" pitchFamily="34" charset="0"/>
                <a:ea typeface="Calibri" pitchFamily="34" charset="-122"/>
                <a:cs typeface="Calibri" pitchFamily="34" charset="-120"/>
              </a:rPr>
              <a:t>Schematic only — actual charts on subsequent slides</a:t>
            </a:r>
            <a:endParaRPr lang="en-US" sz="900" dirty="0"/>
          </a:p>
        </p:txBody>
      </p:sp>
      <p:sp>
        <p:nvSpPr>
          <p:cNvPr id="29" name="Shape 26"/>
          <p:cNvSpPr/>
          <p:nvPr/>
        </p:nvSpPr>
        <p:spPr>
          <a:xfrm>
            <a:off x="6766560" y="1005840"/>
            <a:ext cx="36576" cy="5303520"/>
          </a:xfrm>
          <a:prstGeom prst="rect">
            <a:avLst/>
          </a:prstGeom>
          <a:solidFill>
            <a:srgbClr val="C8C0B0"/>
          </a:solidFill>
          <a:ln w="12700">
            <a:solidFill>
              <a:srgbClr val="C8C0B0"/>
            </a:solidFill>
            <a:prstDash val="solid"/>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B"/>
        </a:solidFill>
        <a:effectLst/>
      </p:bgPr>
    </p:bg>
    <p:spTree>
      <p:nvGrpSpPr>
        <p:cNvPr id="1" name=""/>
        <p:cNvGrpSpPr/>
        <p:nvPr/>
      </p:nvGrpSpPr>
      <p:grpSpPr>
        <a:xfrm>
          <a:off x="0" y="0"/>
          <a:ext cx="0" cy="0"/>
          <a:chOff x="0" y="0"/>
          <a:chExt cx="0" cy="0"/>
        </a:xfrm>
      </p:grpSpPr>
      <p:sp>
        <p:nvSpPr>
          <p:cNvPr id="2" name="Shape 0"/>
          <p:cNvSpPr/>
          <p:nvPr/>
        </p:nvSpPr>
        <p:spPr>
          <a:xfrm>
            <a:off x="0" y="0"/>
            <a:ext cx="1463040" cy="6858000"/>
          </a:xfrm>
          <a:prstGeom prst="rect">
            <a:avLst/>
          </a:prstGeom>
          <a:solidFill>
            <a:srgbClr val="1A2744"/>
          </a:solidFill>
          <a:ln w="12700">
            <a:solidFill>
              <a:srgbClr val="1A2744"/>
            </a:solidFill>
            <a:prstDash val="solid"/>
          </a:ln>
        </p:spPr>
        <p:txBody>
          <a:bodyPr/>
          <a:lstStyle/>
          <a:p>
            <a:endParaRPr lang="en-US"/>
          </a:p>
        </p:txBody>
      </p:sp>
      <p:sp>
        <p:nvSpPr>
          <p:cNvPr id="3" name="Shape 1"/>
          <p:cNvSpPr/>
          <p:nvPr/>
        </p:nvSpPr>
        <p:spPr>
          <a:xfrm>
            <a:off x="0" y="0"/>
            <a:ext cx="12161520" cy="64008"/>
          </a:xfrm>
          <a:prstGeom prst="rect">
            <a:avLst/>
          </a:prstGeom>
          <a:solidFill>
            <a:srgbClr val="C89728"/>
          </a:solidFill>
          <a:ln w="12700">
            <a:solidFill>
              <a:srgbClr val="C89728"/>
            </a:solidFill>
            <a:prstDash val="solid"/>
          </a:ln>
        </p:spPr>
        <p:txBody>
          <a:bodyPr/>
          <a:lstStyle/>
          <a:p>
            <a:endParaRPr lang="en-US"/>
          </a:p>
        </p:txBody>
      </p:sp>
      <p:sp>
        <p:nvSpPr>
          <p:cNvPr id="4" name="Text 2"/>
          <p:cNvSpPr/>
          <p:nvPr/>
        </p:nvSpPr>
        <p:spPr>
          <a:xfrm>
            <a:off x="1645920" y="164592"/>
            <a:ext cx="10058400" cy="502920"/>
          </a:xfrm>
          <a:prstGeom prst="rect">
            <a:avLst/>
          </a:prstGeom>
          <a:noFill/>
          <a:ln/>
        </p:spPr>
        <p:txBody>
          <a:bodyPr wrap="square" rtlCol="0" anchor="ctr"/>
          <a:lstStyle/>
          <a:p>
            <a:pPr marL="0" indent="0">
              <a:buNone/>
            </a:pPr>
            <a:r>
              <a:rPr lang="en-US" sz="2200" b="1" dirty="0">
                <a:solidFill>
                  <a:srgbClr val="1A2744"/>
                </a:solidFill>
                <a:latin typeface="Calibri" pitchFamily="34" charset="0"/>
                <a:ea typeface="Calibri" pitchFamily="34" charset="-122"/>
                <a:cs typeface="Calibri" pitchFamily="34" charset="-120"/>
              </a:rPr>
              <a:t>RQ 1 — Pre-Rule Capital Buffer</a:t>
            </a:r>
            <a:endParaRPr lang="en-US" sz="2200" dirty="0"/>
          </a:p>
        </p:txBody>
      </p:sp>
      <p:sp>
        <p:nvSpPr>
          <p:cNvPr id="5" name="Shape 3"/>
          <p:cNvSpPr/>
          <p:nvPr/>
        </p:nvSpPr>
        <p:spPr>
          <a:xfrm>
            <a:off x="1645920" y="658368"/>
            <a:ext cx="10058400" cy="27432"/>
          </a:xfrm>
          <a:prstGeom prst="rect">
            <a:avLst/>
          </a:prstGeom>
          <a:solidFill>
            <a:srgbClr val="C89728"/>
          </a:solidFill>
          <a:ln w="12700">
            <a:solidFill>
              <a:srgbClr val="C89728"/>
            </a:solidFill>
            <a:prstDash val="solid"/>
          </a:ln>
        </p:spPr>
        <p:txBody>
          <a:bodyPr/>
          <a:lstStyle/>
          <a:p>
            <a:endParaRPr lang="en-US"/>
          </a:p>
        </p:txBody>
      </p:sp>
      <p:sp>
        <p:nvSpPr>
          <p:cNvPr id="6" name="Text 4"/>
          <p:cNvSpPr/>
          <p:nvPr/>
        </p:nvSpPr>
        <p:spPr>
          <a:xfrm>
            <a:off x="1645920" y="685800"/>
            <a:ext cx="10058400" cy="292608"/>
          </a:xfrm>
          <a:prstGeom prst="rect">
            <a:avLst/>
          </a:prstGeom>
          <a:noFill/>
          <a:ln/>
        </p:spPr>
        <p:txBody>
          <a:bodyPr wrap="square"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How much capital buffer did complex credit unions hold before the rule?</a:t>
            </a:r>
            <a:endParaRPr lang="en-US" sz="1200" dirty="0"/>
          </a:p>
        </p:txBody>
      </p:sp>
      <p:sp>
        <p:nvSpPr>
          <p:cNvPr id="7" name="Shape 5"/>
          <p:cNvSpPr/>
          <p:nvPr/>
        </p:nvSpPr>
        <p:spPr>
          <a:xfrm>
            <a:off x="1691640" y="987552"/>
            <a:ext cx="1920240" cy="237744"/>
          </a:xfrm>
          <a:prstGeom prst="rect">
            <a:avLst/>
          </a:prstGeom>
          <a:solidFill>
            <a:srgbClr val="1A2744"/>
          </a:solidFill>
          <a:ln w="12700">
            <a:solidFill>
              <a:srgbClr val="1A2744"/>
            </a:solidFill>
            <a:prstDash val="solid"/>
          </a:ln>
        </p:spPr>
        <p:txBody>
          <a:bodyPr/>
          <a:lstStyle/>
          <a:p>
            <a:endParaRPr lang="en-US"/>
          </a:p>
        </p:txBody>
      </p:sp>
      <p:sp>
        <p:nvSpPr>
          <p:cNvPr id="8" name="Text 6"/>
          <p:cNvSpPr/>
          <p:nvPr/>
        </p:nvSpPr>
        <p:spPr>
          <a:xfrm>
            <a:off x="1691640" y="987552"/>
            <a:ext cx="1920240" cy="237744"/>
          </a:xfrm>
          <a:prstGeom prst="rect">
            <a:avLst/>
          </a:prstGeom>
          <a:noFill/>
          <a:ln/>
        </p:spPr>
        <p:txBody>
          <a:bodyPr wrap="square"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RESEARCH QUESTION 1</a:t>
            </a:r>
            <a:endParaRPr lang="en-US" sz="900" dirty="0"/>
          </a:p>
        </p:txBody>
      </p:sp>
      <p:sp>
        <p:nvSpPr>
          <p:cNvPr id="9" name="Shape 7"/>
          <p:cNvSpPr/>
          <p:nvPr/>
        </p:nvSpPr>
        <p:spPr>
          <a:xfrm>
            <a:off x="1645920" y="1691640"/>
            <a:ext cx="10058400" cy="96012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0" name="Shape 8"/>
          <p:cNvSpPr/>
          <p:nvPr/>
        </p:nvSpPr>
        <p:spPr>
          <a:xfrm>
            <a:off x="1645920" y="1691640"/>
            <a:ext cx="82296" cy="960120"/>
          </a:xfrm>
          <a:prstGeom prst="rect">
            <a:avLst/>
          </a:prstGeom>
          <a:solidFill>
            <a:srgbClr val="C89728"/>
          </a:solidFill>
          <a:ln w="12700">
            <a:solidFill>
              <a:srgbClr val="C89728"/>
            </a:solidFill>
            <a:prstDash val="solid"/>
          </a:ln>
        </p:spPr>
        <p:txBody>
          <a:bodyPr/>
          <a:lstStyle/>
          <a:p>
            <a:endParaRPr lang="en-US"/>
          </a:p>
        </p:txBody>
      </p:sp>
      <p:sp>
        <p:nvSpPr>
          <p:cNvPr id="11" name="Text 9"/>
          <p:cNvSpPr/>
          <p:nvPr/>
        </p:nvSpPr>
        <p:spPr>
          <a:xfrm>
            <a:off x="1783080" y="1691640"/>
            <a:ext cx="9829800" cy="9601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Answer: The average complex credit union entered the rule with a buffer of just 72 basis points above the new 10% threshold — leaving very little room to absorb the new requirement without significant adjustment.</a:t>
            </a:r>
            <a:endParaRPr lang="en-US" sz="1250" dirty="0"/>
          </a:p>
        </p:txBody>
      </p:sp>
      <p:sp>
        <p:nvSpPr>
          <p:cNvPr id="12" name="Text 10"/>
          <p:cNvSpPr/>
          <p:nvPr/>
        </p:nvSpPr>
        <p:spPr>
          <a:xfrm>
            <a:off x="1691640" y="2212848"/>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WHAT THE DATA SHOW</a:t>
            </a:r>
            <a:endParaRPr lang="en-US" sz="900" dirty="0"/>
          </a:p>
        </p:txBody>
      </p:sp>
      <p:sp>
        <p:nvSpPr>
          <p:cNvPr id="13" name="Text 11"/>
          <p:cNvSpPr/>
          <p:nvPr/>
        </p:nvSpPr>
        <p:spPr>
          <a:xfrm>
            <a:off x="1691640" y="2423160"/>
            <a:ext cx="5029200" cy="1920240"/>
          </a:xfrm>
          <a:prstGeom prst="rect">
            <a:avLst/>
          </a:prstGeom>
          <a:noFill/>
          <a:ln/>
        </p:spPr>
        <p:txBody>
          <a:bodyPr wrap="square" rtlCol="0" anchor="t"/>
          <a:lstStyle/>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Complex CUs are the largest, most systemically significant institutions in the credit union system — those with average assets at or above $500 million</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Before the rule, the typical complex CU held capital just barely above the existing standard; the new 10% threshold was meaningfully higher</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Capital was tightly clustered just above the old threshold — a large share barely on the compliant side</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This thin starting position directly explains the large downstream effects on rates, lending, and profitability</a:t>
            </a:r>
            <a:endParaRPr lang="en-US" sz="1150" dirty="0"/>
          </a:p>
        </p:txBody>
      </p:sp>
      <p:sp>
        <p:nvSpPr>
          <p:cNvPr id="14" name="Text 12"/>
          <p:cNvSpPr/>
          <p:nvPr/>
        </p:nvSpPr>
        <p:spPr>
          <a:xfrm>
            <a:off x="6903720" y="2212848"/>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KEY NUMBERS</a:t>
            </a:r>
            <a:endParaRPr lang="en-US" sz="900" dirty="0"/>
          </a:p>
        </p:txBody>
      </p:sp>
      <p:sp>
        <p:nvSpPr>
          <p:cNvPr id="15" name="Shape 13"/>
          <p:cNvSpPr/>
          <p:nvPr/>
        </p:nvSpPr>
        <p:spPr>
          <a:xfrm>
            <a:off x="6903720" y="2670048"/>
            <a:ext cx="2377440" cy="86868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6" name="Text 14"/>
          <p:cNvSpPr/>
          <p:nvPr/>
        </p:nvSpPr>
        <p:spPr>
          <a:xfrm>
            <a:off x="6995160" y="2743200"/>
            <a:ext cx="2194560" cy="451714"/>
          </a:xfrm>
          <a:prstGeom prst="rect">
            <a:avLst/>
          </a:prstGeom>
          <a:noFill/>
          <a:ln/>
        </p:spPr>
        <p:txBody>
          <a:bodyPr wrap="square" rtlCol="0" anchor="ctr"/>
          <a:lstStyle/>
          <a:p>
            <a:pPr marL="0" indent="0" algn="ctr">
              <a:buNone/>
            </a:pPr>
            <a:r>
              <a:rPr lang="en-US" sz="2400" b="1" dirty="0">
                <a:solidFill>
                  <a:srgbClr val="E8C36A"/>
                </a:solidFill>
                <a:latin typeface="Calibri" pitchFamily="34" charset="0"/>
                <a:ea typeface="Calibri" pitchFamily="34" charset="-122"/>
                <a:cs typeface="Calibri" pitchFamily="34" charset="-120"/>
              </a:rPr>
              <a:t>72bp</a:t>
            </a:r>
            <a:endParaRPr lang="en-US" sz="2400" dirty="0"/>
          </a:p>
        </p:txBody>
      </p:sp>
      <p:sp>
        <p:nvSpPr>
          <p:cNvPr id="17" name="Text 15"/>
          <p:cNvSpPr/>
          <p:nvPr/>
        </p:nvSpPr>
        <p:spPr>
          <a:xfrm>
            <a:off x="6995160" y="3147822"/>
            <a:ext cx="2194560" cy="347472"/>
          </a:xfrm>
          <a:prstGeom prst="rect">
            <a:avLst/>
          </a:prstGeom>
          <a:noFill/>
          <a:ln/>
        </p:spPr>
        <p:txBody>
          <a:bodyPr wrap="square" rtlCol="0" anchor="t"/>
          <a:lstStyle/>
          <a:p>
            <a:pPr marL="0" indent="0" algn="ctr">
              <a:buNone/>
            </a:pPr>
            <a:r>
              <a:rPr lang="en-US" sz="1000" dirty="0">
                <a:solidFill>
                  <a:srgbClr val="B8C4D8"/>
                </a:solidFill>
                <a:latin typeface="Calibri" pitchFamily="34" charset="0"/>
                <a:ea typeface="Calibri" pitchFamily="34" charset="-122"/>
                <a:cs typeface="Calibri" pitchFamily="34" charset="-120"/>
              </a:rPr>
              <a:t>Average pre-rule buffer</a:t>
            </a:r>
            <a:endParaRPr lang="en-US" sz="1000" dirty="0"/>
          </a:p>
          <a:p>
            <a:pPr marL="0" indent="0" algn="ctr">
              <a:buNone/>
            </a:pPr>
            <a:r>
              <a:rPr lang="en-US" sz="1000" dirty="0">
                <a:solidFill>
                  <a:srgbClr val="B8C4D8"/>
                </a:solidFill>
                <a:latin typeface="Calibri" pitchFamily="34" charset="0"/>
                <a:ea typeface="Calibri" pitchFamily="34" charset="-122"/>
                <a:cs typeface="Calibri" pitchFamily="34" charset="-120"/>
              </a:rPr>
              <a:t>above the 10% threshold</a:t>
            </a:r>
            <a:endParaRPr lang="en-US" sz="1000" dirty="0"/>
          </a:p>
        </p:txBody>
      </p:sp>
      <p:sp>
        <p:nvSpPr>
          <p:cNvPr id="18" name="Shape 16"/>
          <p:cNvSpPr/>
          <p:nvPr/>
        </p:nvSpPr>
        <p:spPr>
          <a:xfrm>
            <a:off x="9418320" y="2670048"/>
            <a:ext cx="2468880" cy="86868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9" name="Text 17"/>
          <p:cNvSpPr/>
          <p:nvPr/>
        </p:nvSpPr>
        <p:spPr>
          <a:xfrm>
            <a:off x="9509760" y="2743200"/>
            <a:ext cx="2286000" cy="451714"/>
          </a:xfrm>
          <a:prstGeom prst="rect">
            <a:avLst/>
          </a:prstGeom>
          <a:noFill/>
          <a:ln/>
        </p:spPr>
        <p:txBody>
          <a:bodyPr wrap="square" rtlCol="0" anchor="ctr"/>
          <a:lstStyle/>
          <a:p>
            <a:pPr marL="0" indent="0" algn="ctr">
              <a:buNone/>
            </a:pPr>
            <a:r>
              <a:rPr lang="en-US" sz="2400" b="1" dirty="0">
                <a:solidFill>
                  <a:srgbClr val="E8C36A"/>
                </a:solidFill>
                <a:latin typeface="Calibri" pitchFamily="34" charset="0"/>
                <a:ea typeface="Calibri" pitchFamily="34" charset="-122"/>
                <a:cs typeface="Calibri" pitchFamily="34" charset="-120"/>
              </a:rPr>
              <a:t>696</a:t>
            </a:r>
            <a:endParaRPr lang="en-US" sz="2400" dirty="0"/>
          </a:p>
        </p:txBody>
      </p:sp>
      <p:sp>
        <p:nvSpPr>
          <p:cNvPr id="20" name="Text 18"/>
          <p:cNvSpPr/>
          <p:nvPr/>
        </p:nvSpPr>
        <p:spPr>
          <a:xfrm>
            <a:off x="9509760" y="3147822"/>
            <a:ext cx="2286000" cy="347472"/>
          </a:xfrm>
          <a:prstGeom prst="rect">
            <a:avLst/>
          </a:prstGeom>
          <a:noFill/>
          <a:ln/>
        </p:spPr>
        <p:txBody>
          <a:bodyPr wrap="square" rtlCol="0" anchor="t"/>
          <a:lstStyle/>
          <a:p>
            <a:pPr marL="0" indent="0" algn="ctr">
              <a:buNone/>
            </a:pPr>
            <a:r>
              <a:rPr lang="en-US" sz="1000" dirty="0">
                <a:solidFill>
                  <a:srgbClr val="B8C4D8"/>
                </a:solidFill>
                <a:latin typeface="Calibri" pitchFamily="34" charset="0"/>
                <a:ea typeface="Calibri" pitchFamily="34" charset="-122"/>
                <a:cs typeface="Calibri" pitchFamily="34" charset="-120"/>
              </a:rPr>
              <a:t>Complex CUs subject</a:t>
            </a:r>
            <a:endParaRPr lang="en-US" sz="1000" dirty="0"/>
          </a:p>
          <a:p>
            <a:pPr marL="0" indent="0" algn="ctr">
              <a:buNone/>
            </a:pPr>
            <a:r>
              <a:rPr lang="en-US" sz="1000" dirty="0">
                <a:solidFill>
                  <a:srgbClr val="B8C4D8"/>
                </a:solidFill>
                <a:latin typeface="Calibri" pitchFamily="34" charset="0"/>
                <a:ea typeface="Calibri" pitchFamily="34" charset="-122"/>
                <a:cs typeface="Calibri" pitchFamily="34" charset="-120"/>
              </a:rPr>
              <a:t>to the rule (fixed 2021)</a:t>
            </a:r>
            <a:endParaRPr lang="en-US" sz="1000" dirty="0"/>
          </a:p>
        </p:txBody>
      </p:sp>
      <p:sp>
        <p:nvSpPr>
          <p:cNvPr id="21" name="Shape 19"/>
          <p:cNvSpPr/>
          <p:nvPr/>
        </p:nvSpPr>
        <p:spPr>
          <a:xfrm>
            <a:off x="6903720" y="3547872"/>
            <a:ext cx="4983480" cy="658368"/>
          </a:xfrm>
          <a:prstGeom prst="rect">
            <a:avLst/>
          </a:prstGeom>
          <a:solidFill>
            <a:srgbClr val="EDE8DF"/>
          </a:solidFill>
          <a:ln w="12700">
            <a:solidFill>
              <a:srgbClr val="C8C0B0"/>
            </a:solidFill>
            <a:prstDash val="solid"/>
          </a:ln>
        </p:spPr>
        <p:txBody>
          <a:bodyPr/>
          <a:lstStyle/>
          <a:p>
            <a:endParaRPr lang="en-US"/>
          </a:p>
        </p:txBody>
      </p:sp>
      <p:sp>
        <p:nvSpPr>
          <p:cNvPr id="22" name="Shape 20"/>
          <p:cNvSpPr/>
          <p:nvPr/>
        </p:nvSpPr>
        <p:spPr>
          <a:xfrm>
            <a:off x="6903720" y="3547872"/>
            <a:ext cx="64008" cy="658368"/>
          </a:xfrm>
          <a:prstGeom prst="rect">
            <a:avLst/>
          </a:prstGeom>
          <a:solidFill>
            <a:srgbClr val="C89728"/>
          </a:solidFill>
          <a:ln w="12700">
            <a:solidFill>
              <a:srgbClr val="C89728"/>
            </a:solidFill>
            <a:prstDash val="solid"/>
          </a:ln>
        </p:spPr>
        <p:txBody>
          <a:bodyPr/>
          <a:lstStyle/>
          <a:p>
            <a:endParaRPr lang="en-US"/>
          </a:p>
        </p:txBody>
      </p:sp>
      <p:sp>
        <p:nvSpPr>
          <p:cNvPr id="23" name="Text 21"/>
          <p:cNvSpPr/>
          <p:nvPr/>
        </p:nvSpPr>
        <p:spPr>
          <a:xfrm>
            <a:off x="7040880" y="3593592"/>
            <a:ext cx="4782312" cy="566928"/>
          </a:xfrm>
          <a:prstGeom prst="rect">
            <a:avLst/>
          </a:prstGeom>
          <a:noFill/>
          <a:ln/>
        </p:spPr>
        <p:txBody>
          <a:bodyPr wrap="square" rtlCol="0" anchor="t"/>
          <a:lstStyle/>
          <a:p>
            <a:pPr marL="0" indent="0">
              <a:buNone/>
            </a:pPr>
            <a:r>
              <a:rPr lang="en-US" sz="1050" dirty="0">
                <a:solidFill>
                  <a:srgbClr val="444444"/>
                </a:solidFill>
                <a:latin typeface="Calibri" pitchFamily="34" charset="0"/>
                <a:ea typeface="Calibri" pitchFamily="34" charset="-122"/>
                <a:cs typeface="Calibri" pitchFamily="34" charset="-120"/>
              </a:rPr>
              <a:t>What is a basis point? One basis point (bp) equals one one-hundredth of a percentage point. A 72bp buffer means a credit union holds 10.72% capital against a 10.00% threshold.</a:t>
            </a:r>
            <a:endParaRPr lang="en-US" sz="1050" dirty="0"/>
          </a:p>
        </p:txBody>
      </p:sp>
      <p:sp>
        <p:nvSpPr>
          <p:cNvPr id="24" name="Shape 22"/>
          <p:cNvSpPr/>
          <p:nvPr/>
        </p:nvSpPr>
        <p:spPr>
          <a:xfrm>
            <a:off x="6903720" y="4261104"/>
            <a:ext cx="4983480" cy="658368"/>
          </a:xfrm>
          <a:prstGeom prst="rect">
            <a:avLst/>
          </a:prstGeom>
          <a:solidFill>
            <a:srgbClr val="EDE8DF"/>
          </a:solidFill>
          <a:ln w="12700">
            <a:solidFill>
              <a:srgbClr val="C8C0B0"/>
            </a:solidFill>
            <a:prstDash val="solid"/>
          </a:ln>
        </p:spPr>
        <p:txBody>
          <a:bodyPr/>
          <a:lstStyle/>
          <a:p>
            <a:endParaRPr lang="en-US"/>
          </a:p>
        </p:txBody>
      </p:sp>
      <p:sp>
        <p:nvSpPr>
          <p:cNvPr id="25" name="Shape 23"/>
          <p:cNvSpPr/>
          <p:nvPr/>
        </p:nvSpPr>
        <p:spPr>
          <a:xfrm>
            <a:off x="6903720" y="4261104"/>
            <a:ext cx="64008" cy="658368"/>
          </a:xfrm>
          <a:prstGeom prst="rect">
            <a:avLst/>
          </a:prstGeom>
          <a:solidFill>
            <a:srgbClr val="C89728"/>
          </a:solidFill>
          <a:ln w="12700">
            <a:solidFill>
              <a:srgbClr val="C89728"/>
            </a:solidFill>
            <a:prstDash val="solid"/>
          </a:ln>
        </p:spPr>
        <p:txBody>
          <a:bodyPr/>
          <a:lstStyle/>
          <a:p>
            <a:endParaRPr lang="en-US"/>
          </a:p>
        </p:txBody>
      </p:sp>
      <p:sp>
        <p:nvSpPr>
          <p:cNvPr id="26" name="Text 24"/>
          <p:cNvSpPr/>
          <p:nvPr/>
        </p:nvSpPr>
        <p:spPr>
          <a:xfrm>
            <a:off x="7040880" y="4306824"/>
            <a:ext cx="4782312" cy="566928"/>
          </a:xfrm>
          <a:prstGeom prst="rect">
            <a:avLst/>
          </a:prstGeom>
          <a:noFill/>
          <a:ln/>
        </p:spPr>
        <p:txBody>
          <a:bodyPr wrap="square" rtlCol="0" anchor="t"/>
          <a:lstStyle/>
          <a:p>
            <a:pPr marL="0" indent="0">
              <a:buNone/>
            </a:pPr>
            <a:r>
              <a:rPr lang="en-US" sz="1050" dirty="0">
                <a:solidFill>
                  <a:srgbClr val="444444"/>
                </a:solidFill>
                <a:latin typeface="Calibri" pitchFamily="34" charset="0"/>
                <a:ea typeface="Calibri" pitchFamily="34" charset="-122"/>
                <a:cs typeface="Calibri" pitchFamily="34" charset="-120"/>
              </a:rPr>
              <a:t>Why it matters: A rule requiring additional capital is always more costly when institutions start with little room to spare. This thin buffer set the stage for the pressures in RQ2–RQ4.</a:t>
            </a:r>
            <a:endParaRPr lang="en-US" sz="1050" dirty="0"/>
          </a:p>
        </p:txBody>
      </p:sp>
      <p:sp>
        <p:nvSpPr>
          <p:cNvPr id="27" name="Shape 25"/>
          <p:cNvSpPr/>
          <p:nvPr/>
        </p:nvSpPr>
        <p:spPr>
          <a:xfrm>
            <a:off x="1691640" y="4663440"/>
            <a:ext cx="10195560" cy="1371600"/>
          </a:xfrm>
          <a:prstGeom prst="rect">
            <a:avLst/>
          </a:prstGeom>
          <a:solidFill>
            <a:srgbClr val="EDE8DF"/>
          </a:solidFill>
          <a:ln w="12700">
            <a:solidFill>
              <a:srgbClr val="C8C0B0"/>
            </a:solidFill>
            <a:prstDash val="dash"/>
          </a:ln>
        </p:spPr>
        <p:txBody>
          <a:bodyPr/>
          <a:lstStyle/>
          <a:p>
            <a:endParaRPr lang="en-US"/>
          </a:p>
        </p:txBody>
      </p:sp>
      <p:sp>
        <p:nvSpPr>
          <p:cNvPr id="28" name="Text 26"/>
          <p:cNvSpPr/>
          <p:nvPr/>
        </p:nvSpPr>
        <p:spPr>
          <a:xfrm>
            <a:off x="1691640" y="5074920"/>
            <a:ext cx="10195560" cy="320040"/>
          </a:xfrm>
          <a:prstGeom prst="rect">
            <a:avLst/>
          </a:prstGeom>
          <a:noFill/>
          <a:ln/>
        </p:spPr>
        <p:txBody>
          <a:bodyPr wrap="square" rtlCol="0" anchor="ctr"/>
          <a:lstStyle/>
          <a:p>
            <a:pPr marL="0" indent="0" algn="ctr">
              <a:buNone/>
            </a:pPr>
            <a:r>
              <a:rPr lang="en-US" sz="1000" i="1" dirty="0">
                <a:solidFill>
                  <a:srgbClr val="C89728"/>
                </a:solidFill>
                <a:latin typeface="Calibri" pitchFamily="34" charset="0"/>
                <a:ea typeface="Calibri" pitchFamily="34" charset="-122"/>
                <a:cs typeface="Calibri" pitchFamily="34" charset="-120"/>
              </a:rPr>
              <a:t>output/figures/fig_nw_ratio_distribution_complex_prerbc.png</a:t>
            </a:r>
            <a:endParaRPr lang="en-US" sz="1000" dirty="0"/>
          </a:p>
        </p:txBody>
      </p:sp>
      <p:sp>
        <p:nvSpPr>
          <p:cNvPr id="29" name="Text 27"/>
          <p:cNvSpPr/>
          <p:nvPr/>
        </p:nvSpPr>
        <p:spPr>
          <a:xfrm>
            <a:off x="1691640" y="5394960"/>
            <a:ext cx="10195560" cy="320040"/>
          </a:xfrm>
          <a:prstGeom prst="rect">
            <a:avLst/>
          </a:prstGeom>
          <a:noFill/>
          <a:ln/>
        </p:spPr>
        <p:txBody>
          <a:bodyPr wrap="square" rtlCol="0" anchor="ctr"/>
          <a:lstStyle/>
          <a:p>
            <a:pPr marL="0" indent="0" algn="ctr">
              <a:buNone/>
            </a:pPr>
            <a:r>
              <a:rPr lang="en-US" sz="950" i="1" dirty="0">
                <a:solidFill>
                  <a:srgbClr val="5A5A5A"/>
                </a:solidFill>
                <a:latin typeface="Calibri" pitchFamily="34" charset="0"/>
                <a:ea typeface="Calibri" pitchFamily="34" charset="-122"/>
                <a:cs typeface="Calibri" pitchFamily="34" charset="-120"/>
              </a:rPr>
              <a:t>Pre-rule NW ratio distribution for complex CUs — shows clustering just above the 10% threshold, making the 72bp thin buffer concrete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B"/>
        </a:solidFill>
        <a:effectLst/>
      </p:bgPr>
    </p:bg>
    <p:spTree>
      <p:nvGrpSpPr>
        <p:cNvPr id="1" name=""/>
        <p:cNvGrpSpPr/>
        <p:nvPr/>
      </p:nvGrpSpPr>
      <p:grpSpPr>
        <a:xfrm>
          <a:off x="0" y="0"/>
          <a:ext cx="0" cy="0"/>
          <a:chOff x="0" y="0"/>
          <a:chExt cx="0" cy="0"/>
        </a:xfrm>
      </p:grpSpPr>
      <p:sp>
        <p:nvSpPr>
          <p:cNvPr id="2" name="Shape 0"/>
          <p:cNvSpPr/>
          <p:nvPr/>
        </p:nvSpPr>
        <p:spPr>
          <a:xfrm>
            <a:off x="0" y="0"/>
            <a:ext cx="1463040" cy="6858000"/>
          </a:xfrm>
          <a:prstGeom prst="rect">
            <a:avLst/>
          </a:prstGeom>
          <a:solidFill>
            <a:srgbClr val="1A2744"/>
          </a:solidFill>
          <a:ln w="12700">
            <a:solidFill>
              <a:srgbClr val="1A2744"/>
            </a:solidFill>
            <a:prstDash val="solid"/>
          </a:ln>
        </p:spPr>
        <p:txBody>
          <a:bodyPr/>
          <a:lstStyle/>
          <a:p>
            <a:endParaRPr lang="en-US"/>
          </a:p>
        </p:txBody>
      </p:sp>
      <p:sp>
        <p:nvSpPr>
          <p:cNvPr id="3" name="Shape 1"/>
          <p:cNvSpPr/>
          <p:nvPr/>
        </p:nvSpPr>
        <p:spPr>
          <a:xfrm>
            <a:off x="0" y="0"/>
            <a:ext cx="12161520" cy="64008"/>
          </a:xfrm>
          <a:prstGeom prst="rect">
            <a:avLst/>
          </a:prstGeom>
          <a:solidFill>
            <a:srgbClr val="C89728"/>
          </a:solidFill>
          <a:ln w="12700">
            <a:solidFill>
              <a:srgbClr val="C89728"/>
            </a:solidFill>
            <a:prstDash val="solid"/>
          </a:ln>
        </p:spPr>
        <p:txBody>
          <a:bodyPr/>
          <a:lstStyle/>
          <a:p>
            <a:endParaRPr lang="en-US"/>
          </a:p>
        </p:txBody>
      </p:sp>
      <p:sp>
        <p:nvSpPr>
          <p:cNvPr id="4" name="Text 2"/>
          <p:cNvSpPr/>
          <p:nvPr/>
        </p:nvSpPr>
        <p:spPr>
          <a:xfrm>
            <a:off x="1645920" y="164592"/>
            <a:ext cx="10058400" cy="502920"/>
          </a:xfrm>
          <a:prstGeom prst="rect">
            <a:avLst/>
          </a:prstGeom>
          <a:noFill/>
          <a:ln/>
        </p:spPr>
        <p:txBody>
          <a:bodyPr wrap="square" rtlCol="0" anchor="ctr"/>
          <a:lstStyle/>
          <a:p>
            <a:pPr marL="0" indent="0">
              <a:buNone/>
            </a:pPr>
            <a:r>
              <a:rPr lang="en-US" sz="2200" b="1" dirty="0">
                <a:solidFill>
                  <a:srgbClr val="1A2744"/>
                </a:solidFill>
                <a:latin typeface="Calibri" pitchFamily="34" charset="0"/>
                <a:ea typeface="Calibri" pitchFamily="34" charset="-122"/>
                <a:cs typeface="Calibri" pitchFamily="34" charset="-120"/>
              </a:rPr>
              <a:t>RQ 2 — Did Capital Levels Rise?</a:t>
            </a:r>
            <a:endParaRPr lang="en-US" sz="2200" dirty="0"/>
          </a:p>
        </p:txBody>
      </p:sp>
      <p:sp>
        <p:nvSpPr>
          <p:cNvPr id="5" name="Shape 3"/>
          <p:cNvSpPr/>
          <p:nvPr/>
        </p:nvSpPr>
        <p:spPr>
          <a:xfrm>
            <a:off x="1645920" y="658368"/>
            <a:ext cx="10058400" cy="27432"/>
          </a:xfrm>
          <a:prstGeom prst="rect">
            <a:avLst/>
          </a:prstGeom>
          <a:solidFill>
            <a:srgbClr val="C89728"/>
          </a:solidFill>
          <a:ln w="12700">
            <a:solidFill>
              <a:srgbClr val="C89728"/>
            </a:solidFill>
            <a:prstDash val="solid"/>
          </a:ln>
        </p:spPr>
        <p:txBody>
          <a:bodyPr/>
          <a:lstStyle/>
          <a:p>
            <a:endParaRPr lang="en-US"/>
          </a:p>
        </p:txBody>
      </p:sp>
      <p:sp>
        <p:nvSpPr>
          <p:cNvPr id="6" name="Text 4"/>
          <p:cNvSpPr/>
          <p:nvPr/>
        </p:nvSpPr>
        <p:spPr>
          <a:xfrm>
            <a:off x="1645920" y="685800"/>
            <a:ext cx="10058400" cy="292608"/>
          </a:xfrm>
          <a:prstGeom prst="rect">
            <a:avLst/>
          </a:prstGeom>
          <a:noFill/>
          <a:ln/>
        </p:spPr>
        <p:txBody>
          <a:bodyPr wrap="square"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Did the rule cause complex credit unions to hold more capital?</a:t>
            </a:r>
            <a:endParaRPr lang="en-US" sz="1200" dirty="0"/>
          </a:p>
        </p:txBody>
      </p:sp>
      <p:sp>
        <p:nvSpPr>
          <p:cNvPr id="7" name="Shape 5"/>
          <p:cNvSpPr/>
          <p:nvPr/>
        </p:nvSpPr>
        <p:spPr>
          <a:xfrm>
            <a:off x="1691640" y="987552"/>
            <a:ext cx="1920240" cy="237744"/>
          </a:xfrm>
          <a:prstGeom prst="rect">
            <a:avLst/>
          </a:prstGeom>
          <a:solidFill>
            <a:srgbClr val="1A2744"/>
          </a:solidFill>
          <a:ln w="12700">
            <a:solidFill>
              <a:srgbClr val="1A2744"/>
            </a:solidFill>
            <a:prstDash val="solid"/>
          </a:ln>
        </p:spPr>
        <p:txBody>
          <a:bodyPr/>
          <a:lstStyle/>
          <a:p>
            <a:endParaRPr lang="en-US"/>
          </a:p>
        </p:txBody>
      </p:sp>
      <p:sp>
        <p:nvSpPr>
          <p:cNvPr id="8" name="Text 6"/>
          <p:cNvSpPr/>
          <p:nvPr/>
        </p:nvSpPr>
        <p:spPr>
          <a:xfrm>
            <a:off x="1691640" y="987552"/>
            <a:ext cx="1920240" cy="237744"/>
          </a:xfrm>
          <a:prstGeom prst="rect">
            <a:avLst/>
          </a:prstGeom>
          <a:noFill/>
          <a:ln/>
        </p:spPr>
        <p:txBody>
          <a:bodyPr wrap="square"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RESEARCH QUESTION 2</a:t>
            </a:r>
            <a:endParaRPr lang="en-US" sz="900" dirty="0"/>
          </a:p>
        </p:txBody>
      </p:sp>
      <p:sp>
        <p:nvSpPr>
          <p:cNvPr id="9" name="Shape 7"/>
          <p:cNvSpPr/>
          <p:nvPr/>
        </p:nvSpPr>
        <p:spPr>
          <a:xfrm>
            <a:off x="1645920" y="1691640"/>
            <a:ext cx="10058400" cy="96012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0" name="Shape 8"/>
          <p:cNvSpPr/>
          <p:nvPr/>
        </p:nvSpPr>
        <p:spPr>
          <a:xfrm>
            <a:off x="1645920" y="1691640"/>
            <a:ext cx="82296" cy="960120"/>
          </a:xfrm>
          <a:prstGeom prst="rect">
            <a:avLst/>
          </a:prstGeom>
          <a:solidFill>
            <a:srgbClr val="C89728"/>
          </a:solidFill>
          <a:ln w="12700">
            <a:solidFill>
              <a:srgbClr val="C89728"/>
            </a:solidFill>
            <a:prstDash val="solid"/>
          </a:ln>
        </p:spPr>
        <p:txBody>
          <a:bodyPr/>
          <a:lstStyle/>
          <a:p>
            <a:endParaRPr lang="en-US"/>
          </a:p>
        </p:txBody>
      </p:sp>
      <p:sp>
        <p:nvSpPr>
          <p:cNvPr id="11" name="Text 9"/>
          <p:cNvSpPr/>
          <p:nvPr/>
        </p:nvSpPr>
        <p:spPr>
          <a:xfrm>
            <a:off x="1783080" y="1691640"/>
            <a:ext cx="9829800" cy="9601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Answer: Mixed. Average capital levels rose — but fewer institutions are now meeting the well-capitalized standard. The bar rose faster than capital could accumulate.</a:t>
            </a:r>
            <a:endParaRPr lang="en-US" sz="1250" dirty="0"/>
          </a:p>
        </p:txBody>
      </p:sp>
      <p:sp>
        <p:nvSpPr>
          <p:cNvPr id="12" name="Shape 10"/>
          <p:cNvSpPr/>
          <p:nvPr/>
        </p:nvSpPr>
        <p:spPr>
          <a:xfrm>
            <a:off x="1691640" y="2331720"/>
            <a:ext cx="3474720" cy="100584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3" name="Text 11"/>
          <p:cNvSpPr/>
          <p:nvPr/>
        </p:nvSpPr>
        <p:spPr>
          <a:xfrm>
            <a:off x="1783080" y="2404872"/>
            <a:ext cx="3291840" cy="523037"/>
          </a:xfrm>
          <a:prstGeom prst="rect">
            <a:avLst/>
          </a:prstGeom>
          <a:noFill/>
          <a:ln/>
        </p:spPr>
        <p:txBody>
          <a:bodyPr wrap="square" rtlCol="0" anchor="ctr"/>
          <a:lstStyle/>
          <a:p>
            <a:pPr marL="0" indent="0" algn="ctr">
              <a:buNone/>
            </a:pPr>
            <a:r>
              <a:rPr lang="en-US" sz="2400" b="1" dirty="0">
                <a:solidFill>
                  <a:srgbClr val="95D5B2"/>
                </a:solidFill>
                <a:latin typeface="Calibri" pitchFamily="34" charset="0"/>
                <a:ea typeface="Calibri" pitchFamily="34" charset="-122"/>
                <a:cs typeface="Calibri" pitchFamily="34" charset="-120"/>
              </a:rPr>
              <a:t>+46bp</a:t>
            </a:r>
            <a:endParaRPr lang="en-US" sz="2400" dirty="0"/>
          </a:p>
        </p:txBody>
      </p:sp>
      <p:sp>
        <p:nvSpPr>
          <p:cNvPr id="14" name="Text 12"/>
          <p:cNvSpPr/>
          <p:nvPr/>
        </p:nvSpPr>
        <p:spPr>
          <a:xfrm>
            <a:off x="1783080" y="2884932"/>
            <a:ext cx="3291840" cy="402336"/>
          </a:xfrm>
          <a:prstGeom prst="rect">
            <a:avLst/>
          </a:prstGeom>
          <a:noFill/>
          <a:ln/>
        </p:spPr>
        <p:txBody>
          <a:bodyPr wrap="square" rtlCol="0" anchor="t"/>
          <a:lstStyle/>
          <a:p>
            <a:pPr marL="0" indent="0" algn="ctr">
              <a:buNone/>
            </a:pPr>
            <a:r>
              <a:rPr lang="en-US" sz="1000" dirty="0">
                <a:solidFill>
                  <a:srgbClr val="B8C4D8"/>
                </a:solidFill>
                <a:latin typeface="Calibri" pitchFamily="34" charset="0"/>
                <a:ea typeface="Calibri" pitchFamily="34" charset="-122"/>
                <a:cs typeface="Calibri" pitchFamily="34" charset="-120"/>
              </a:rPr>
              <a:t>Net worth ratio increase</a:t>
            </a:r>
            <a:endParaRPr lang="en-US" sz="1000" dirty="0"/>
          </a:p>
          <a:p>
            <a:pPr marL="0" indent="0" algn="ctr">
              <a:buNone/>
            </a:pPr>
            <a:r>
              <a:rPr lang="en-US" sz="1000" dirty="0">
                <a:solidFill>
                  <a:srgbClr val="B8C4D8"/>
                </a:solidFill>
                <a:latin typeface="Calibri" pitchFamily="34" charset="0"/>
                <a:ea typeface="Calibri" pitchFamily="34" charset="-122"/>
                <a:cs typeface="Calibri" pitchFamily="34" charset="-120"/>
              </a:rPr>
              <a:t>(p &lt; 0.01)</a:t>
            </a:r>
            <a:endParaRPr lang="en-US" sz="1000" dirty="0"/>
          </a:p>
        </p:txBody>
      </p:sp>
      <p:sp>
        <p:nvSpPr>
          <p:cNvPr id="15" name="Shape 13"/>
          <p:cNvSpPr/>
          <p:nvPr/>
        </p:nvSpPr>
        <p:spPr>
          <a:xfrm>
            <a:off x="5257800" y="2331720"/>
            <a:ext cx="3474720" cy="100584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6" name="Text 14"/>
          <p:cNvSpPr/>
          <p:nvPr/>
        </p:nvSpPr>
        <p:spPr>
          <a:xfrm>
            <a:off x="5349240" y="2404872"/>
            <a:ext cx="3291840" cy="523037"/>
          </a:xfrm>
          <a:prstGeom prst="rect">
            <a:avLst/>
          </a:prstGeom>
          <a:noFill/>
          <a:ln/>
        </p:spPr>
        <p:txBody>
          <a:bodyPr wrap="square" rtlCol="0" anchor="ctr"/>
          <a:lstStyle/>
          <a:p>
            <a:pPr marL="0" indent="0" algn="ctr">
              <a:buNone/>
            </a:pPr>
            <a:r>
              <a:rPr lang="en-US" sz="2400" b="1" dirty="0">
                <a:solidFill>
                  <a:srgbClr val="F4A5A8"/>
                </a:solidFill>
                <a:latin typeface="Calibri" pitchFamily="34" charset="0"/>
                <a:ea typeface="Calibri" pitchFamily="34" charset="-122"/>
                <a:cs typeface="Calibri" pitchFamily="34" charset="-120"/>
              </a:rPr>
              <a:t>−3.7pp</a:t>
            </a:r>
            <a:endParaRPr lang="en-US" sz="2400" dirty="0"/>
          </a:p>
        </p:txBody>
      </p:sp>
      <p:sp>
        <p:nvSpPr>
          <p:cNvPr id="17" name="Text 15"/>
          <p:cNvSpPr/>
          <p:nvPr/>
        </p:nvSpPr>
        <p:spPr>
          <a:xfrm>
            <a:off x="5349240" y="2884932"/>
            <a:ext cx="3291840" cy="402336"/>
          </a:xfrm>
          <a:prstGeom prst="rect">
            <a:avLst/>
          </a:prstGeom>
          <a:noFill/>
          <a:ln/>
        </p:spPr>
        <p:txBody>
          <a:bodyPr wrap="square" rtlCol="0" anchor="t"/>
          <a:lstStyle/>
          <a:p>
            <a:pPr marL="0" indent="0" algn="ctr">
              <a:buNone/>
            </a:pPr>
            <a:r>
              <a:rPr lang="en-US" sz="1000" dirty="0">
                <a:solidFill>
                  <a:srgbClr val="B8C4D8"/>
                </a:solidFill>
                <a:latin typeface="Calibri" pitchFamily="34" charset="0"/>
                <a:ea typeface="Calibri" pitchFamily="34" charset="-122"/>
                <a:cs typeface="Calibri" pitchFamily="34" charset="-120"/>
              </a:rPr>
              <a:t>Well-capitalized probability</a:t>
            </a:r>
            <a:endParaRPr lang="en-US" sz="1000" dirty="0"/>
          </a:p>
          <a:p>
            <a:pPr marL="0" indent="0" algn="ctr">
              <a:buNone/>
            </a:pPr>
            <a:r>
              <a:rPr lang="en-US" sz="1000" dirty="0">
                <a:solidFill>
                  <a:srgbClr val="B8C4D8"/>
                </a:solidFill>
                <a:latin typeface="Calibri" pitchFamily="34" charset="0"/>
                <a:ea typeface="Calibri" pitchFamily="34" charset="-122"/>
                <a:cs typeface="Calibri" pitchFamily="34" charset="-120"/>
              </a:rPr>
              <a:t>change (p &lt; 0.01)</a:t>
            </a:r>
            <a:endParaRPr lang="en-US" sz="1000" dirty="0"/>
          </a:p>
        </p:txBody>
      </p:sp>
      <p:sp>
        <p:nvSpPr>
          <p:cNvPr id="18" name="Shape 16"/>
          <p:cNvSpPr/>
          <p:nvPr/>
        </p:nvSpPr>
        <p:spPr>
          <a:xfrm>
            <a:off x="8823960" y="2331720"/>
            <a:ext cx="3154680" cy="2926080"/>
          </a:xfrm>
          <a:prstGeom prst="rect">
            <a:avLst/>
          </a:prstGeom>
          <a:solidFill>
            <a:srgbClr val="EDE8DF"/>
          </a:solidFill>
          <a:ln w="12700">
            <a:solidFill>
              <a:srgbClr val="C8C0B0"/>
            </a:solidFill>
            <a:prstDash val="dash"/>
          </a:ln>
        </p:spPr>
        <p:txBody>
          <a:bodyPr/>
          <a:lstStyle/>
          <a:p>
            <a:endParaRPr lang="en-US"/>
          </a:p>
        </p:txBody>
      </p:sp>
      <p:sp>
        <p:nvSpPr>
          <p:cNvPr id="19" name="Text 17"/>
          <p:cNvSpPr/>
          <p:nvPr/>
        </p:nvSpPr>
        <p:spPr>
          <a:xfrm>
            <a:off x="8823960" y="3383280"/>
            <a:ext cx="3154680" cy="457200"/>
          </a:xfrm>
          <a:prstGeom prst="rect">
            <a:avLst/>
          </a:prstGeom>
          <a:noFill/>
          <a:ln/>
        </p:spPr>
        <p:txBody>
          <a:bodyPr wrap="square" rtlCol="0" anchor="ctr"/>
          <a:lstStyle/>
          <a:p>
            <a:pPr marL="0" indent="0" algn="ctr">
              <a:buNone/>
            </a:pPr>
            <a:r>
              <a:rPr lang="en-US" sz="950" i="1" dirty="0">
                <a:solidFill>
                  <a:srgbClr val="C89728"/>
                </a:solidFill>
                <a:latin typeface="Calibri" pitchFamily="34" charset="0"/>
                <a:ea typeface="Calibri" pitchFamily="34" charset="-122"/>
                <a:cs typeface="Calibri" pitchFamily="34" charset="-120"/>
              </a:rPr>
              <a:t>Figure3_EventStudy_Capital.png</a:t>
            </a:r>
            <a:endParaRPr lang="en-US" sz="950" dirty="0"/>
          </a:p>
        </p:txBody>
      </p:sp>
      <p:sp>
        <p:nvSpPr>
          <p:cNvPr id="20" name="Text 18"/>
          <p:cNvSpPr/>
          <p:nvPr/>
        </p:nvSpPr>
        <p:spPr>
          <a:xfrm>
            <a:off x="8823960" y="3886200"/>
            <a:ext cx="3154680" cy="457200"/>
          </a:xfrm>
          <a:prstGeom prst="rect">
            <a:avLst/>
          </a:prstGeom>
          <a:noFill/>
          <a:ln/>
        </p:spPr>
        <p:txBody>
          <a:bodyPr wrap="square" rtlCol="0" anchor="ctr"/>
          <a:lstStyle/>
          <a:p>
            <a:pPr marL="0" indent="0" algn="ctr">
              <a:buNone/>
            </a:pPr>
            <a:r>
              <a:rPr lang="en-US" sz="900" i="1" dirty="0">
                <a:solidFill>
                  <a:srgbClr val="5A5A5A"/>
                </a:solidFill>
                <a:latin typeface="Calibri" pitchFamily="34" charset="0"/>
                <a:ea typeface="Calibri" pitchFamily="34" charset="-122"/>
                <a:cs typeface="Calibri" pitchFamily="34" charset="-120"/>
              </a:rPr>
              <a:t>Pre-period flat ✔ confirms</a:t>
            </a:r>
            <a:endParaRPr lang="en-US" sz="900" dirty="0"/>
          </a:p>
          <a:p>
            <a:pPr marL="0" indent="0" algn="ctr">
              <a:buNone/>
            </a:pPr>
            <a:r>
              <a:rPr lang="en-US" sz="900" i="1" dirty="0">
                <a:solidFill>
                  <a:srgbClr val="5A5A5A"/>
                </a:solidFill>
                <a:latin typeface="Calibri" pitchFamily="34" charset="0"/>
                <a:ea typeface="Calibri" pitchFamily="34" charset="-122"/>
                <a:cs typeface="Calibri" pitchFamily="34" charset="-120"/>
              </a:rPr>
              <a:t>parallel trends</a:t>
            </a:r>
            <a:endParaRPr lang="en-US" sz="900" dirty="0"/>
          </a:p>
        </p:txBody>
      </p:sp>
      <p:sp>
        <p:nvSpPr>
          <p:cNvPr id="21" name="Text 19"/>
          <p:cNvSpPr/>
          <p:nvPr/>
        </p:nvSpPr>
        <p:spPr>
          <a:xfrm>
            <a:off x="1691640" y="315468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THE PARADOX EXPLAINED</a:t>
            </a:r>
            <a:endParaRPr lang="en-US" sz="900" dirty="0"/>
          </a:p>
        </p:txBody>
      </p:sp>
      <p:sp>
        <p:nvSpPr>
          <p:cNvPr id="22" name="Text 20"/>
          <p:cNvSpPr/>
          <p:nvPr/>
        </p:nvSpPr>
        <p:spPr>
          <a:xfrm>
            <a:off x="1691640" y="3666744"/>
            <a:ext cx="6949440" cy="1051560"/>
          </a:xfrm>
          <a:prstGeom prst="rect">
            <a:avLst/>
          </a:prstGeom>
          <a:noFill/>
          <a:ln/>
        </p:spPr>
        <p:txBody>
          <a:bodyPr wrap="square" rtlCol="0" anchor="t"/>
          <a:lstStyle/>
          <a:p>
            <a:pPr marL="342900" indent="-342900">
              <a:spcAft>
                <a:spcPts val="300"/>
              </a:spcAft>
              <a:buSzPct val="100000"/>
              <a:buChar char="•"/>
            </a:pPr>
            <a:r>
              <a:rPr lang="en-US" sz="1200" dirty="0">
                <a:solidFill>
                  <a:srgbClr val="1C1C1C"/>
                </a:solidFill>
                <a:latin typeface="Calibri" pitchFamily="34" charset="0"/>
                <a:ea typeface="Calibri" pitchFamily="34" charset="-122"/>
                <a:cs typeface="Calibri" pitchFamily="34" charset="-120"/>
              </a:rPr>
              <a:t>Capital rose — institutions did respond to the rule’s incentive to build reserves</a:t>
            </a:r>
            <a:endParaRPr lang="en-US" sz="1200" dirty="0"/>
          </a:p>
          <a:p>
            <a:pPr marL="342900" indent="-342900">
              <a:spcAft>
                <a:spcPts val="300"/>
              </a:spcAft>
              <a:buSzPct val="100000"/>
              <a:buChar char="•"/>
            </a:pPr>
            <a:r>
              <a:rPr lang="en-US" sz="1200" dirty="0">
                <a:solidFill>
                  <a:srgbClr val="1C1C1C"/>
                </a:solidFill>
                <a:latin typeface="Calibri" pitchFamily="34" charset="0"/>
                <a:ea typeface="Calibri" pitchFamily="34" charset="-122"/>
                <a:cs typeface="Calibri" pitchFamily="34" charset="-120"/>
              </a:rPr>
              <a:t>But the definition of “well-capitalized” changed simultaneously, raising the bar further</a:t>
            </a:r>
            <a:endParaRPr lang="en-US" sz="1200" dirty="0"/>
          </a:p>
          <a:p>
            <a:pPr marL="342900" indent="-342900">
              <a:spcAft>
                <a:spcPts val="300"/>
              </a:spcAft>
              <a:buSzPct val="100000"/>
              <a:buChar char="•"/>
            </a:pPr>
            <a:r>
              <a:rPr lang="en-US" sz="1200" dirty="0">
                <a:solidFill>
                  <a:srgbClr val="1C1C1C"/>
                </a:solidFill>
                <a:latin typeface="Calibri" pitchFamily="34" charset="0"/>
                <a:ea typeface="Calibri" pitchFamily="34" charset="-122"/>
                <a:cs typeface="Calibri" pitchFamily="34" charset="-120"/>
              </a:rPr>
              <a:t>Result: more capital on average, but fewer institutions clearing the new bar</a:t>
            </a:r>
            <a:endParaRPr lang="en-US" sz="1200" dirty="0"/>
          </a:p>
        </p:txBody>
      </p:sp>
      <p:sp>
        <p:nvSpPr>
          <p:cNvPr id="23" name="Shape 21"/>
          <p:cNvSpPr/>
          <p:nvPr/>
        </p:nvSpPr>
        <p:spPr>
          <a:xfrm>
            <a:off x="1691640" y="4663440"/>
            <a:ext cx="6949440" cy="713232"/>
          </a:xfrm>
          <a:prstGeom prst="rect">
            <a:avLst/>
          </a:prstGeom>
          <a:solidFill>
            <a:srgbClr val="EDE8DF"/>
          </a:solidFill>
          <a:ln w="12700">
            <a:solidFill>
              <a:srgbClr val="C8C0B0"/>
            </a:solidFill>
            <a:prstDash val="solid"/>
          </a:ln>
        </p:spPr>
        <p:txBody>
          <a:bodyPr/>
          <a:lstStyle/>
          <a:p>
            <a:endParaRPr lang="en-US"/>
          </a:p>
        </p:txBody>
      </p:sp>
      <p:sp>
        <p:nvSpPr>
          <p:cNvPr id="24" name="Shape 22"/>
          <p:cNvSpPr/>
          <p:nvPr/>
        </p:nvSpPr>
        <p:spPr>
          <a:xfrm>
            <a:off x="1691640" y="4663440"/>
            <a:ext cx="64008" cy="713232"/>
          </a:xfrm>
          <a:prstGeom prst="rect">
            <a:avLst/>
          </a:prstGeom>
          <a:solidFill>
            <a:srgbClr val="C89728"/>
          </a:solidFill>
          <a:ln w="12700">
            <a:solidFill>
              <a:srgbClr val="C89728"/>
            </a:solidFill>
            <a:prstDash val="solid"/>
          </a:ln>
        </p:spPr>
        <p:txBody>
          <a:bodyPr/>
          <a:lstStyle/>
          <a:p>
            <a:endParaRPr lang="en-US"/>
          </a:p>
        </p:txBody>
      </p:sp>
      <p:sp>
        <p:nvSpPr>
          <p:cNvPr id="25" name="Text 23"/>
          <p:cNvSpPr/>
          <p:nvPr/>
        </p:nvSpPr>
        <p:spPr>
          <a:xfrm>
            <a:off x="1828800" y="4709160"/>
            <a:ext cx="6748272" cy="621792"/>
          </a:xfrm>
          <a:prstGeom prst="rect">
            <a:avLst/>
          </a:prstGeom>
          <a:noFill/>
          <a:ln/>
        </p:spPr>
        <p:txBody>
          <a:bodyPr wrap="square" rtlCol="0" anchor="t"/>
          <a:lstStyle/>
          <a:p>
            <a:pPr marL="0" indent="0">
              <a:buNone/>
            </a:pPr>
            <a:r>
              <a:rPr lang="en-US" sz="1050" dirty="0">
                <a:solidFill>
                  <a:srgbClr val="444444"/>
                </a:solidFill>
                <a:latin typeface="Calibri" pitchFamily="34" charset="0"/>
                <a:ea typeface="Calibri" pitchFamily="34" charset="-122"/>
                <a:cs typeface="Calibri" pitchFamily="34" charset="-120"/>
              </a:rPr>
              <a:t>Analogy: Every student studied harder and raised their score — but the passing grade was raised even more. Average scores went up, yet more students are technically failing. Both facts are simultaneously true.</a:t>
            </a:r>
            <a:endParaRPr lang="en-US" sz="1050" dirty="0"/>
          </a:p>
        </p:txBody>
      </p:sp>
      <p:sp>
        <p:nvSpPr>
          <p:cNvPr id="26" name="Text 24"/>
          <p:cNvSpPr/>
          <p:nvPr/>
        </p:nvSpPr>
        <p:spPr>
          <a:xfrm>
            <a:off x="1691640" y="5559552"/>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WHAT DOES “WELL-CAPITALIZED” MEAN?</a:t>
            </a:r>
            <a:endParaRPr lang="en-US" sz="900" dirty="0"/>
          </a:p>
        </p:txBody>
      </p:sp>
      <p:sp>
        <p:nvSpPr>
          <p:cNvPr id="27" name="Text 25"/>
          <p:cNvSpPr/>
          <p:nvPr/>
        </p:nvSpPr>
        <p:spPr>
          <a:xfrm>
            <a:off x="1691640" y="5760720"/>
            <a:ext cx="6949440" cy="502920"/>
          </a:xfrm>
          <a:prstGeom prst="rect">
            <a:avLst/>
          </a:prstGeom>
          <a:noFill/>
          <a:ln/>
        </p:spPr>
        <p:txBody>
          <a:bodyPr wrap="square" rtlCol="0" anchor="ctr"/>
          <a:lstStyle/>
          <a:p>
            <a:pPr marL="0" indent="0">
              <a:buNone/>
            </a:pPr>
            <a:r>
              <a:rPr lang="en-US" sz="1050" dirty="0">
                <a:solidFill>
                  <a:srgbClr val="5A5A5A"/>
                </a:solidFill>
                <a:latin typeface="Calibri" pitchFamily="34" charset="0"/>
                <a:ea typeface="Calibri" pitchFamily="34" charset="-122"/>
                <a:cs typeface="Calibri" pitchFamily="34" charset="-120"/>
              </a:rPr>
              <a:t>A regulatory classification: a complex CU must hold at least 10% net worth relative to risk-weighted assets. Institutions below this threshold face additional regulatory scrutiny.</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B"/>
        </a:solidFill>
        <a:effectLst/>
      </p:bgPr>
    </p:bg>
    <p:spTree>
      <p:nvGrpSpPr>
        <p:cNvPr id="1" name=""/>
        <p:cNvGrpSpPr/>
        <p:nvPr/>
      </p:nvGrpSpPr>
      <p:grpSpPr>
        <a:xfrm>
          <a:off x="0" y="0"/>
          <a:ext cx="0" cy="0"/>
          <a:chOff x="0" y="0"/>
          <a:chExt cx="0" cy="0"/>
        </a:xfrm>
      </p:grpSpPr>
      <p:sp>
        <p:nvSpPr>
          <p:cNvPr id="2" name="Shape 0"/>
          <p:cNvSpPr/>
          <p:nvPr/>
        </p:nvSpPr>
        <p:spPr>
          <a:xfrm>
            <a:off x="0" y="0"/>
            <a:ext cx="1463040" cy="6858000"/>
          </a:xfrm>
          <a:prstGeom prst="rect">
            <a:avLst/>
          </a:prstGeom>
          <a:solidFill>
            <a:srgbClr val="1A2744"/>
          </a:solidFill>
          <a:ln w="12700">
            <a:solidFill>
              <a:srgbClr val="1A2744"/>
            </a:solidFill>
            <a:prstDash val="solid"/>
          </a:ln>
        </p:spPr>
        <p:txBody>
          <a:bodyPr/>
          <a:lstStyle/>
          <a:p>
            <a:endParaRPr lang="en-US"/>
          </a:p>
        </p:txBody>
      </p:sp>
      <p:sp>
        <p:nvSpPr>
          <p:cNvPr id="3" name="Shape 1"/>
          <p:cNvSpPr/>
          <p:nvPr/>
        </p:nvSpPr>
        <p:spPr>
          <a:xfrm>
            <a:off x="0" y="0"/>
            <a:ext cx="12161520" cy="64008"/>
          </a:xfrm>
          <a:prstGeom prst="rect">
            <a:avLst/>
          </a:prstGeom>
          <a:solidFill>
            <a:srgbClr val="C89728"/>
          </a:solidFill>
          <a:ln w="12700">
            <a:solidFill>
              <a:srgbClr val="C89728"/>
            </a:solidFill>
            <a:prstDash val="solid"/>
          </a:ln>
        </p:spPr>
        <p:txBody>
          <a:bodyPr/>
          <a:lstStyle/>
          <a:p>
            <a:endParaRPr lang="en-US"/>
          </a:p>
        </p:txBody>
      </p:sp>
      <p:sp>
        <p:nvSpPr>
          <p:cNvPr id="4" name="Text 2"/>
          <p:cNvSpPr/>
          <p:nvPr/>
        </p:nvSpPr>
        <p:spPr>
          <a:xfrm>
            <a:off x="1645920" y="164592"/>
            <a:ext cx="10058400" cy="502920"/>
          </a:xfrm>
          <a:prstGeom prst="rect">
            <a:avLst/>
          </a:prstGeom>
          <a:noFill/>
          <a:ln/>
        </p:spPr>
        <p:txBody>
          <a:bodyPr wrap="square" rtlCol="0" anchor="ctr"/>
          <a:lstStyle/>
          <a:p>
            <a:pPr marL="0" indent="0">
              <a:buNone/>
            </a:pPr>
            <a:r>
              <a:rPr lang="en-US" sz="2200" b="1" dirty="0">
                <a:solidFill>
                  <a:srgbClr val="1A2744"/>
                </a:solidFill>
                <a:latin typeface="Calibri" pitchFamily="34" charset="0"/>
                <a:ea typeface="Calibri" pitchFamily="34" charset="-122"/>
                <a:cs typeface="Calibri" pitchFamily="34" charset="-120"/>
              </a:rPr>
              <a:t>RQ 3 — Did Loan Rate Spreads Change?</a:t>
            </a:r>
            <a:endParaRPr lang="en-US" sz="2200" dirty="0"/>
          </a:p>
        </p:txBody>
      </p:sp>
      <p:sp>
        <p:nvSpPr>
          <p:cNvPr id="5" name="Shape 3"/>
          <p:cNvSpPr/>
          <p:nvPr/>
        </p:nvSpPr>
        <p:spPr>
          <a:xfrm>
            <a:off x="1645920" y="658368"/>
            <a:ext cx="10058400" cy="27432"/>
          </a:xfrm>
          <a:prstGeom prst="rect">
            <a:avLst/>
          </a:prstGeom>
          <a:solidFill>
            <a:srgbClr val="C89728"/>
          </a:solidFill>
          <a:ln w="12700">
            <a:solidFill>
              <a:srgbClr val="C89728"/>
            </a:solidFill>
            <a:prstDash val="solid"/>
          </a:ln>
        </p:spPr>
        <p:txBody>
          <a:bodyPr/>
          <a:lstStyle/>
          <a:p>
            <a:endParaRPr lang="en-US"/>
          </a:p>
        </p:txBody>
      </p:sp>
      <p:sp>
        <p:nvSpPr>
          <p:cNvPr id="6" name="Text 4"/>
          <p:cNvSpPr/>
          <p:nvPr/>
        </p:nvSpPr>
        <p:spPr>
          <a:xfrm>
            <a:off x="1645920" y="685800"/>
            <a:ext cx="10058400" cy="292608"/>
          </a:xfrm>
          <a:prstGeom prst="rect">
            <a:avLst/>
          </a:prstGeom>
          <a:noFill/>
          <a:ln/>
        </p:spPr>
        <p:txBody>
          <a:bodyPr wrap="square"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Did loan rate spreads change significantly after the RBC rule?</a:t>
            </a:r>
            <a:endParaRPr lang="en-US" sz="1200" dirty="0"/>
          </a:p>
        </p:txBody>
      </p:sp>
      <p:sp>
        <p:nvSpPr>
          <p:cNvPr id="7" name="Shape 5"/>
          <p:cNvSpPr/>
          <p:nvPr/>
        </p:nvSpPr>
        <p:spPr>
          <a:xfrm>
            <a:off x="1691640" y="987552"/>
            <a:ext cx="1920240" cy="237744"/>
          </a:xfrm>
          <a:prstGeom prst="rect">
            <a:avLst/>
          </a:prstGeom>
          <a:solidFill>
            <a:srgbClr val="1A2744"/>
          </a:solidFill>
          <a:ln w="12700">
            <a:solidFill>
              <a:srgbClr val="1A2744"/>
            </a:solidFill>
            <a:prstDash val="solid"/>
          </a:ln>
        </p:spPr>
        <p:txBody>
          <a:bodyPr/>
          <a:lstStyle/>
          <a:p>
            <a:endParaRPr lang="en-US"/>
          </a:p>
        </p:txBody>
      </p:sp>
      <p:sp>
        <p:nvSpPr>
          <p:cNvPr id="8" name="Text 6"/>
          <p:cNvSpPr/>
          <p:nvPr/>
        </p:nvSpPr>
        <p:spPr>
          <a:xfrm>
            <a:off x="1691640" y="987552"/>
            <a:ext cx="1920240" cy="237744"/>
          </a:xfrm>
          <a:prstGeom prst="rect">
            <a:avLst/>
          </a:prstGeom>
          <a:noFill/>
          <a:ln/>
        </p:spPr>
        <p:txBody>
          <a:bodyPr wrap="square"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RESEARCH QUESTION 3</a:t>
            </a:r>
            <a:endParaRPr lang="en-US" sz="900" dirty="0"/>
          </a:p>
        </p:txBody>
      </p:sp>
      <p:sp>
        <p:nvSpPr>
          <p:cNvPr id="9" name="Shape 7"/>
          <p:cNvSpPr/>
          <p:nvPr/>
        </p:nvSpPr>
        <p:spPr>
          <a:xfrm>
            <a:off x="1645920" y="1691640"/>
            <a:ext cx="10058400" cy="96012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0" name="Shape 8"/>
          <p:cNvSpPr/>
          <p:nvPr/>
        </p:nvSpPr>
        <p:spPr>
          <a:xfrm>
            <a:off x="1645920" y="1691640"/>
            <a:ext cx="82296" cy="960120"/>
          </a:xfrm>
          <a:prstGeom prst="rect">
            <a:avLst/>
          </a:prstGeom>
          <a:solidFill>
            <a:srgbClr val="C89728"/>
          </a:solidFill>
          <a:ln w="12700">
            <a:solidFill>
              <a:srgbClr val="C89728"/>
            </a:solidFill>
            <a:prstDash val="solid"/>
          </a:ln>
        </p:spPr>
        <p:txBody>
          <a:bodyPr/>
          <a:lstStyle/>
          <a:p>
            <a:endParaRPr lang="en-US"/>
          </a:p>
        </p:txBody>
      </p:sp>
      <p:sp>
        <p:nvSpPr>
          <p:cNvPr id="11" name="Text 9"/>
          <p:cNvSpPr/>
          <p:nvPr/>
        </p:nvSpPr>
        <p:spPr>
          <a:xfrm>
            <a:off x="1783080" y="1691640"/>
            <a:ext cx="9829800" cy="9601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Answer: Yes — across every loan type, by large and economically meaningful amounts. The evidence indicates complete pass-through to member-borrowers.</a:t>
            </a:r>
            <a:endParaRPr lang="en-US" sz="1250" dirty="0"/>
          </a:p>
        </p:txBody>
      </p:sp>
      <p:sp>
        <p:nvSpPr>
          <p:cNvPr id="12" name="Shape 10"/>
          <p:cNvSpPr/>
          <p:nvPr/>
        </p:nvSpPr>
        <p:spPr>
          <a:xfrm>
            <a:off x="1691640" y="2331720"/>
            <a:ext cx="2423160" cy="86868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3" name="Text 11"/>
          <p:cNvSpPr/>
          <p:nvPr/>
        </p:nvSpPr>
        <p:spPr>
          <a:xfrm>
            <a:off x="1737360" y="2331720"/>
            <a:ext cx="2331720" cy="530352"/>
          </a:xfrm>
          <a:prstGeom prst="rect">
            <a:avLst/>
          </a:prstGeom>
          <a:noFill/>
          <a:ln/>
        </p:spPr>
        <p:txBody>
          <a:bodyPr wrap="square" rtlCol="0" anchor="ctr"/>
          <a:lstStyle/>
          <a:p>
            <a:pPr marL="0" indent="0" algn="ctr">
              <a:buNone/>
            </a:pPr>
            <a:r>
              <a:rPr lang="en-US" sz="2200" b="1" dirty="0">
                <a:solidFill>
                  <a:srgbClr val="F4A5A8"/>
                </a:solidFill>
                <a:latin typeface="Calibri" pitchFamily="34" charset="0"/>
                <a:ea typeface="Calibri" pitchFamily="34" charset="-122"/>
                <a:cs typeface="Calibri" pitchFamily="34" charset="-120"/>
              </a:rPr>
              <a:t>+73bp</a:t>
            </a:r>
            <a:endParaRPr lang="en-US" sz="2200" dirty="0"/>
          </a:p>
        </p:txBody>
      </p:sp>
      <p:sp>
        <p:nvSpPr>
          <p:cNvPr id="14" name="Text 12"/>
          <p:cNvSpPr/>
          <p:nvPr/>
        </p:nvSpPr>
        <p:spPr>
          <a:xfrm>
            <a:off x="1737360" y="2816352"/>
            <a:ext cx="2331720" cy="347472"/>
          </a:xfrm>
          <a:prstGeom prst="rect">
            <a:avLst/>
          </a:prstGeom>
          <a:noFill/>
          <a:ln/>
        </p:spPr>
        <p:txBody>
          <a:bodyPr wrap="square" rtlCol="0" anchor="ctr"/>
          <a:lstStyle/>
          <a:p>
            <a:pPr marL="0" indent="0" algn="ctr">
              <a:buNone/>
            </a:pPr>
            <a:r>
              <a:rPr lang="en-US" sz="1000" dirty="0">
                <a:solidFill>
                  <a:srgbClr val="B8C4D8"/>
                </a:solidFill>
                <a:latin typeface="Calibri" pitchFamily="34" charset="0"/>
                <a:ea typeface="Calibri" pitchFamily="34" charset="-122"/>
                <a:cs typeface="Calibri" pitchFamily="34" charset="-120"/>
              </a:rPr>
              <a:t>Mortgage</a:t>
            </a:r>
            <a:endParaRPr lang="en-US" sz="1000" dirty="0"/>
          </a:p>
          <a:p>
            <a:pPr marL="0" indent="0" algn="ctr">
              <a:buNone/>
            </a:pPr>
            <a:r>
              <a:rPr lang="en-US" sz="1000" dirty="0">
                <a:solidFill>
                  <a:srgbClr val="B8C4D8"/>
                </a:solidFill>
                <a:latin typeface="Calibri" pitchFamily="34" charset="0"/>
                <a:ea typeface="Calibri" pitchFamily="34" charset="-122"/>
                <a:cs typeface="Calibri" pitchFamily="34" charset="-120"/>
              </a:rPr>
              <a:t>spread</a:t>
            </a:r>
            <a:endParaRPr lang="en-US" sz="1000" dirty="0"/>
          </a:p>
        </p:txBody>
      </p:sp>
      <p:sp>
        <p:nvSpPr>
          <p:cNvPr id="15" name="Shape 13"/>
          <p:cNvSpPr/>
          <p:nvPr/>
        </p:nvSpPr>
        <p:spPr>
          <a:xfrm>
            <a:off x="4270248" y="2331720"/>
            <a:ext cx="2423160" cy="86868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6" name="Text 14"/>
          <p:cNvSpPr/>
          <p:nvPr/>
        </p:nvSpPr>
        <p:spPr>
          <a:xfrm>
            <a:off x="4315968" y="2331720"/>
            <a:ext cx="2331720" cy="530352"/>
          </a:xfrm>
          <a:prstGeom prst="rect">
            <a:avLst/>
          </a:prstGeom>
          <a:noFill/>
          <a:ln/>
        </p:spPr>
        <p:txBody>
          <a:bodyPr wrap="square" rtlCol="0" anchor="ctr"/>
          <a:lstStyle/>
          <a:p>
            <a:pPr marL="0" indent="0" algn="ctr">
              <a:buNone/>
            </a:pPr>
            <a:r>
              <a:rPr lang="en-US" sz="2200" b="1" dirty="0">
                <a:solidFill>
                  <a:srgbClr val="F4A5A8"/>
                </a:solidFill>
                <a:latin typeface="Calibri" pitchFamily="34" charset="0"/>
                <a:ea typeface="Calibri" pitchFamily="34" charset="-122"/>
                <a:cs typeface="Calibri" pitchFamily="34" charset="-120"/>
              </a:rPr>
              <a:t>+56bp</a:t>
            </a:r>
            <a:endParaRPr lang="en-US" sz="2200" dirty="0"/>
          </a:p>
        </p:txBody>
      </p:sp>
      <p:sp>
        <p:nvSpPr>
          <p:cNvPr id="17" name="Text 15"/>
          <p:cNvSpPr/>
          <p:nvPr/>
        </p:nvSpPr>
        <p:spPr>
          <a:xfrm>
            <a:off x="4315968" y="2816352"/>
            <a:ext cx="2331720" cy="347472"/>
          </a:xfrm>
          <a:prstGeom prst="rect">
            <a:avLst/>
          </a:prstGeom>
          <a:noFill/>
          <a:ln/>
        </p:spPr>
        <p:txBody>
          <a:bodyPr wrap="square" rtlCol="0" anchor="ctr"/>
          <a:lstStyle/>
          <a:p>
            <a:pPr marL="0" indent="0" algn="ctr">
              <a:buNone/>
            </a:pPr>
            <a:r>
              <a:rPr lang="en-US" sz="1000" dirty="0">
                <a:solidFill>
                  <a:srgbClr val="B8C4D8"/>
                </a:solidFill>
                <a:latin typeface="Calibri" pitchFamily="34" charset="0"/>
                <a:ea typeface="Calibri" pitchFamily="34" charset="-122"/>
                <a:cs typeface="Calibri" pitchFamily="34" charset="-120"/>
              </a:rPr>
              <a:t>New auto</a:t>
            </a:r>
            <a:endParaRPr lang="en-US" sz="1000" dirty="0"/>
          </a:p>
          <a:p>
            <a:pPr marL="0" indent="0" algn="ctr">
              <a:buNone/>
            </a:pPr>
            <a:r>
              <a:rPr lang="en-US" sz="1000" dirty="0">
                <a:solidFill>
                  <a:srgbClr val="B8C4D8"/>
                </a:solidFill>
                <a:latin typeface="Calibri" pitchFamily="34" charset="0"/>
                <a:ea typeface="Calibri" pitchFamily="34" charset="-122"/>
                <a:cs typeface="Calibri" pitchFamily="34" charset="-120"/>
              </a:rPr>
              <a:t>spread</a:t>
            </a:r>
            <a:endParaRPr lang="en-US" sz="1000" dirty="0"/>
          </a:p>
        </p:txBody>
      </p:sp>
      <p:sp>
        <p:nvSpPr>
          <p:cNvPr id="18" name="Shape 16"/>
          <p:cNvSpPr/>
          <p:nvPr/>
        </p:nvSpPr>
        <p:spPr>
          <a:xfrm>
            <a:off x="6848856" y="2331720"/>
            <a:ext cx="2423160" cy="86868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9" name="Text 17"/>
          <p:cNvSpPr/>
          <p:nvPr/>
        </p:nvSpPr>
        <p:spPr>
          <a:xfrm>
            <a:off x="6894576" y="2331720"/>
            <a:ext cx="2331720" cy="530352"/>
          </a:xfrm>
          <a:prstGeom prst="rect">
            <a:avLst/>
          </a:prstGeom>
          <a:noFill/>
          <a:ln/>
        </p:spPr>
        <p:txBody>
          <a:bodyPr wrap="square" rtlCol="0" anchor="ctr"/>
          <a:lstStyle/>
          <a:p>
            <a:pPr marL="0" indent="0" algn="ctr">
              <a:buNone/>
            </a:pPr>
            <a:r>
              <a:rPr lang="en-US" sz="2200" b="1" dirty="0">
                <a:solidFill>
                  <a:srgbClr val="F4A5A8"/>
                </a:solidFill>
                <a:latin typeface="Calibri" pitchFamily="34" charset="0"/>
                <a:ea typeface="Calibri" pitchFamily="34" charset="-122"/>
                <a:cs typeface="Calibri" pitchFamily="34" charset="-120"/>
              </a:rPr>
              <a:t>+76bp</a:t>
            </a:r>
            <a:endParaRPr lang="en-US" sz="2200" dirty="0"/>
          </a:p>
        </p:txBody>
      </p:sp>
      <p:sp>
        <p:nvSpPr>
          <p:cNvPr id="20" name="Text 18"/>
          <p:cNvSpPr/>
          <p:nvPr/>
        </p:nvSpPr>
        <p:spPr>
          <a:xfrm>
            <a:off x="6894576" y="2816352"/>
            <a:ext cx="2331720" cy="347472"/>
          </a:xfrm>
          <a:prstGeom prst="rect">
            <a:avLst/>
          </a:prstGeom>
          <a:noFill/>
          <a:ln/>
        </p:spPr>
        <p:txBody>
          <a:bodyPr wrap="square" rtlCol="0" anchor="ctr"/>
          <a:lstStyle/>
          <a:p>
            <a:pPr marL="0" indent="0" algn="ctr">
              <a:buNone/>
            </a:pPr>
            <a:r>
              <a:rPr lang="en-US" sz="1000" dirty="0">
                <a:solidFill>
                  <a:srgbClr val="B8C4D8"/>
                </a:solidFill>
                <a:latin typeface="Calibri" pitchFamily="34" charset="0"/>
                <a:ea typeface="Calibri" pitchFamily="34" charset="-122"/>
                <a:cs typeface="Calibri" pitchFamily="34" charset="-120"/>
              </a:rPr>
              <a:t>Used auto</a:t>
            </a:r>
            <a:endParaRPr lang="en-US" sz="1000" dirty="0"/>
          </a:p>
          <a:p>
            <a:pPr marL="0" indent="0" algn="ctr">
              <a:buNone/>
            </a:pPr>
            <a:r>
              <a:rPr lang="en-US" sz="1000" dirty="0">
                <a:solidFill>
                  <a:srgbClr val="B8C4D8"/>
                </a:solidFill>
                <a:latin typeface="Calibri" pitchFamily="34" charset="0"/>
                <a:ea typeface="Calibri" pitchFamily="34" charset="-122"/>
                <a:cs typeface="Calibri" pitchFamily="34" charset="-120"/>
              </a:rPr>
              <a:t>spread</a:t>
            </a:r>
            <a:endParaRPr lang="en-US" sz="1000" dirty="0"/>
          </a:p>
        </p:txBody>
      </p:sp>
      <p:sp>
        <p:nvSpPr>
          <p:cNvPr id="21" name="Shape 19"/>
          <p:cNvSpPr/>
          <p:nvPr/>
        </p:nvSpPr>
        <p:spPr>
          <a:xfrm>
            <a:off x="9427464" y="2331720"/>
            <a:ext cx="2423160" cy="86868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22" name="Text 20"/>
          <p:cNvSpPr/>
          <p:nvPr/>
        </p:nvSpPr>
        <p:spPr>
          <a:xfrm>
            <a:off x="9473184" y="2331720"/>
            <a:ext cx="2331720" cy="530352"/>
          </a:xfrm>
          <a:prstGeom prst="rect">
            <a:avLst/>
          </a:prstGeom>
          <a:noFill/>
          <a:ln/>
        </p:spPr>
        <p:txBody>
          <a:bodyPr wrap="square" rtlCol="0" anchor="ctr"/>
          <a:lstStyle/>
          <a:p>
            <a:pPr marL="0" indent="0" algn="ctr">
              <a:buNone/>
            </a:pPr>
            <a:r>
              <a:rPr lang="en-US" sz="2200" b="1" dirty="0">
                <a:solidFill>
                  <a:srgbClr val="F4A5A8"/>
                </a:solidFill>
                <a:latin typeface="Calibri" pitchFamily="34" charset="0"/>
                <a:ea typeface="Calibri" pitchFamily="34" charset="-122"/>
                <a:cs typeface="Calibri" pitchFamily="34" charset="-120"/>
              </a:rPr>
              <a:t>+66bp</a:t>
            </a:r>
            <a:endParaRPr lang="en-US" sz="2200" dirty="0"/>
          </a:p>
        </p:txBody>
      </p:sp>
      <p:sp>
        <p:nvSpPr>
          <p:cNvPr id="23" name="Text 21"/>
          <p:cNvSpPr/>
          <p:nvPr/>
        </p:nvSpPr>
        <p:spPr>
          <a:xfrm>
            <a:off x="9473184" y="2816352"/>
            <a:ext cx="2331720" cy="347472"/>
          </a:xfrm>
          <a:prstGeom prst="rect">
            <a:avLst/>
          </a:prstGeom>
          <a:noFill/>
          <a:ln/>
        </p:spPr>
        <p:txBody>
          <a:bodyPr wrap="square" rtlCol="0" anchor="ctr"/>
          <a:lstStyle/>
          <a:p>
            <a:pPr marL="0" indent="0" algn="ctr">
              <a:buNone/>
            </a:pPr>
            <a:r>
              <a:rPr lang="en-US" sz="1000" dirty="0">
                <a:solidFill>
                  <a:srgbClr val="B8C4D8"/>
                </a:solidFill>
                <a:latin typeface="Calibri" pitchFamily="34" charset="0"/>
                <a:ea typeface="Calibri" pitchFamily="34" charset="-122"/>
                <a:cs typeface="Calibri" pitchFamily="34" charset="-120"/>
              </a:rPr>
              <a:t>Commercial</a:t>
            </a:r>
            <a:endParaRPr lang="en-US" sz="1000" dirty="0"/>
          </a:p>
          <a:p>
            <a:pPr marL="0" indent="0" algn="ctr">
              <a:buNone/>
            </a:pPr>
            <a:r>
              <a:rPr lang="en-US" sz="1000" dirty="0">
                <a:solidFill>
                  <a:srgbClr val="B8C4D8"/>
                </a:solidFill>
                <a:latin typeface="Calibri" pitchFamily="34" charset="0"/>
                <a:ea typeface="Calibri" pitchFamily="34" charset="-122"/>
                <a:cs typeface="Calibri" pitchFamily="34" charset="-120"/>
              </a:rPr>
              <a:t>spread</a:t>
            </a:r>
            <a:endParaRPr lang="en-US" sz="1000" dirty="0"/>
          </a:p>
        </p:txBody>
      </p:sp>
      <p:sp>
        <p:nvSpPr>
          <p:cNvPr id="24" name="Text 22"/>
          <p:cNvSpPr/>
          <p:nvPr/>
        </p:nvSpPr>
        <p:spPr>
          <a:xfrm>
            <a:off x="1691640" y="3337560"/>
            <a:ext cx="10195560" cy="274320"/>
          </a:xfrm>
          <a:prstGeom prst="rect">
            <a:avLst/>
          </a:prstGeom>
          <a:noFill/>
          <a:ln/>
        </p:spPr>
        <p:txBody>
          <a:bodyPr wrap="square" rtlCol="0" anchor="ctr"/>
          <a:lstStyle/>
          <a:p>
            <a:pPr marL="0" indent="0" algn="ctr">
              <a:buNone/>
            </a:pPr>
            <a:r>
              <a:rPr lang="en-US" sz="1050" i="1" dirty="0">
                <a:solidFill>
                  <a:srgbClr val="5A5A5A"/>
                </a:solidFill>
                <a:latin typeface="Calibri" pitchFamily="34" charset="0"/>
                <a:ea typeface="Calibri" pitchFamily="34" charset="-122"/>
                <a:cs typeface="Calibri" pitchFamily="34" charset="-120"/>
              </a:rPr>
              <a:t>All effects significant at the 0.1% level — persistent through 10+ quarters with no convergence</a:t>
            </a:r>
            <a:endParaRPr lang="en-US" sz="1050" dirty="0"/>
          </a:p>
        </p:txBody>
      </p:sp>
      <p:sp>
        <p:nvSpPr>
          <p:cNvPr id="25" name="Text 23"/>
          <p:cNvSpPr/>
          <p:nvPr/>
        </p:nvSpPr>
        <p:spPr>
          <a:xfrm>
            <a:off x="1691640" y="333756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KEY POINTS</a:t>
            </a:r>
            <a:endParaRPr lang="en-US" sz="900" dirty="0"/>
          </a:p>
        </p:txBody>
      </p:sp>
      <p:sp>
        <p:nvSpPr>
          <p:cNvPr id="26" name="Text 24"/>
          <p:cNvSpPr/>
          <p:nvPr/>
        </p:nvSpPr>
        <p:spPr>
          <a:xfrm>
            <a:off x="1691640" y="3749040"/>
            <a:ext cx="5029200" cy="1097280"/>
          </a:xfrm>
          <a:prstGeom prst="rect">
            <a:avLst/>
          </a:prstGeom>
          <a:noFill/>
          <a:ln/>
        </p:spPr>
        <p:txBody>
          <a:bodyPr wrap="square" rtlCol="0" anchor="t"/>
          <a:lstStyle/>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Credit unions raised rates to cover higher capital costs — the entire regulatory cost was transferred to member-borrowers</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A 73bp mortgage increase on a $300,000 loan adds roughly $130 per month in payments</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The rate increases show no sign of reversing through the full observation window</a:t>
            </a:r>
            <a:endParaRPr lang="en-US" sz="1150" dirty="0"/>
          </a:p>
        </p:txBody>
      </p:sp>
      <p:sp>
        <p:nvSpPr>
          <p:cNvPr id="27" name="Shape 25"/>
          <p:cNvSpPr/>
          <p:nvPr/>
        </p:nvSpPr>
        <p:spPr>
          <a:xfrm>
            <a:off x="6766560" y="3520440"/>
            <a:ext cx="36576" cy="2560320"/>
          </a:xfrm>
          <a:prstGeom prst="rect">
            <a:avLst/>
          </a:prstGeom>
          <a:solidFill>
            <a:srgbClr val="C8C0B0"/>
          </a:solidFill>
          <a:ln w="12700">
            <a:solidFill>
              <a:srgbClr val="C8C0B0"/>
            </a:solidFill>
            <a:prstDash val="solid"/>
          </a:ln>
        </p:spPr>
        <p:txBody>
          <a:bodyPr/>
          <a:lstStyle/>
          <a:p>
            <a:endParaRPr lang="en-US"/>
          </a:p>
        </p:txBody>
      </p:sp>
      <p:sp>
        <p:nvSpPr>
          <p:cNvPr id="28" name="Text 26"/>
          <p:cNvSpPr/>
          <p:nvPr/>
        </p:nvSpPr>
        <p:spPr>
          <a:xfrm>
            <a:off x="6903720" y="333756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EVENT STUDY — LOAN SPREADS</a:t>
            </a:r>
            <a:endParaRPr lang="en-US" sz="900" dirty="0"/>
          </a:p>
        </p:txBody>
      </p:sp>
      <p:sp>
        <p:nvSpPr>
          <p:cNvPr id="29" name="Shape 27"/>
          <p:cNvSpPr/>
          <p:nvPr/>
        </p:nvSpPr>
        <p:spPr>
          <a:xfrm>
            <a:off x="6903720" y="3749040"/>
            <a:ext cx="4983480" cy="1051560"/>
          </a:xfrm>
          <a:prstGeom prst="rect">
            <a:avLst/>
          </a:prstGeom>
          <a:solidFill>
            <a:srgbClr val="EDE8DF"/>
          </a:solidFill>
          <a:ln w="12700">
            <a:solidFill>
              <a:srgbClr val="C8C0B0"/>
            </a:solidFill>
            <a:prstDash val="dash"/>
          </a:ln>
        </p:spPr>
        <p:txBody>
          <a:bodyPr/>
          <a:lstStyle/>
          <a:p>
            <a:endParaRPr lang="en-US"/>
          </a:p>
        </p:txBody>
      </p:sp>
      <p:sp>
        <p:nvSpPr>
          <p:cNvPr id="30" name="Text 28"/>
          <p:cNvSpPr/>
          <p:nvPr/>
        </p:nvSpPr>
        <p:spPr>
          <a:xfrm>
            <a:off x="6903720" y="4114800"/>
            <a:ext cx="4983480" cy="320040"/>
          </a:xfrm>
          <a:prstGeom prst="rect">
            <a:avLst/>
          </a:prstGeom>
          <a:noFill/>
          <a:ln/>
        </p:spPr>
        <p:txBody>
          <a:bodyPr wrap="square" rtlCol="0" anchor="ctr"/>
          <a:lstStyle/>
          <a:p>
            <a:pPr marL="0" indent="0" algn="ctr">
              <a:buNone/>
            </a:pPr>
            <a:r>
              <a:rPr lang="en-US" sz="950" i="1" dirty="0">
                <a:solidFill>
                  <a:srgbClr val="C89728"/>
                </a:solidFill>
                <a:latin typeface="Calibri" pitchFamily="34" charset="0"/>
                <a:ea typeface="Calibri" pitchFamily="34" charset="-122"/>
                <a:cs typeface="Calibri" pitchFamily="34" charset="-120"/>
              </a:rPr>
              <a:t>Figure4_EventStudy_Spreads.png</a:t>
            </a:r>
            <a:endParaRPr lang="en-US" sz="950" dirty="0"/>
          </a:p>
        </p:txBody>
      </p:sp>
      <p:sp>
        <p:nvSpPr>
          <p:cNvPr id="31" name="Text 29"/>
          <p:cNvSpPr/>
          <p:nvPr/>
        </p:nvSpPr>
        <p:spPr>
          <a:xfrm>
            <a:off x="6903720" y="484632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EVENT STUDY — LOAN GROWTH</a:t>
            </a:r>
            <a:endParaRPr lang="en-US" sz="900" dirty="0"/>
          </a:p>
        </p:txBody>
      </p:sp>
      <p:sp>
        <p:nvSpPr>
          <p:cNvPr id="32" name="Shape 30"/>
          <p:cNvSpPr/>
          <p:nvPr/>
        </p:nvSpPr>
        <p:spPr>
          <a:xfrm>
            <a:off x="6903720" y="5074920"/>
            <a:ext cx="4983480" cy="1188720"/>
          </a:xfrm>
          <a:prstGeom prst="rect">
            <a:avLst/>
          </a:prstGeom>
          <a:solidFill>
            <a:srgbClr val="EDE8DF"/>
          </a:solidFill>
          <a:ln w="12700">
            <a:solidFill>
              <a:srgbClr val="C8C0B0"/>
            </a:solidFill>
            <a:prstDash val="dash"/>
          </a:ln>
        </p:spPr>
        <p:txBody>
          <a:bodyPr/>
          <a:lstStyle/>
          <a:p>
            <a:endParaRPr lang="en-US"/>
          </a:p>
        </p:txBody>
      </p:sp>
      <p:sp>
        <p:nvSpPr>
          <p:cNvPr id="33" name="Text 31"/>
          <p:cNvSpPr/>
          <p:nvPr/>
        </p:nvSpPr>
        <p:spPr>
          <a:xfrm>
            <a:off x="6903720" y="5532120"/>
            <a:ext cx="4983480" cy="320040"/>
          </a:xfrm>
          <a:prstGeom prst="rect">
            <a:avLst/>
          </a:prstGeom>
          <a:noFill/>
          <a:ln/>
        </p:spPr>
        <p:txBody>
          <a:bodyPr wrap="square" rtlCol="0" anchor="ctr"/>
          <a:lstStyle/>
          <a:p>
            <a:pPr marL="0" indent="0" algn="ctr">
              <a:buNone/>
            </a:pPr>
            <a:r>
              <a:rPr lang="en-US" sz="950" i="1" dirty="0">
                <a:solidFill>
                  <a:srgbClr val="C89728"/>
                </a:solidFill>
                <a:latin typeface="Calibri" pitchFamily="34" charset="0"/>
                <a:ea typeface="Calibri" pitchFamily="34" charset="-122"/>
                <a:cs typeface="Calibri" pitchFamily="34" charset="-120"/>
              </a:rPr>
              <a:t>Figure3b_EventStudy_LoanGrowth.png</a:t>
            </a:r>
            <a:endParaRPr lang="en-US" sz="950" dirty="0"/>
          </a:p>
        </p:txBody>
      </p:sp>
      <p:sp>
        <p:nvSpPr>
          <p:cNvPr id="34" name="Shape 32"/>
          <p:cNvSpPr/>
          <p:nvPr/>
        </p:nvSpPr>
        <p:spPr>
          <a:xfrm>
            <a:off x="1691640" y="4892040"/>
            <a:ext cx="5029200" cy="91440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35" name="Text 33"/>
          <p:cNvSpPr/>
          <p:nvPr/>
        </p:nvSpPr>
        <p:spPr>
          <a:xfrm>
            <a:off x="1783080" y="4965192"/>
            <a:ext cx="4846320" cy="475488"/>
          </a:xfrm>
          <a:prstGeom prst="rect">
            <a:avLst/>
          </a:prstGeom>
          <a:noFill/>
          <a:ln/>
        </p:spPr>
        <p:txBody>
          <a:bodyPr wrap="square" rtlCol="0" anchor="ctr"/>
          <a:lstStyle/>
          <a:p>
            <a:pPr marL="0" indent="0" algn="ctr">
              <a:buNone/>
            </a:pPr>
            <a:r>
              <a:rPr lang="en-US" sz="2400" b="1" dirty="0">
                <a:solidFill>
                  <a:srgbClr val="F4A5A8"/>
                </a:solidFill>
                <a:latin typeface="Calibri" pitchFamily="34" charset="0"/>
                <a:ea typeface="Calibri" pitchFamily="34" charset="-122"/>
                <a:cs typeface="Calibri" pitchFamily="34" charset="-120"/>
              </a:rPr>
              <a:t>−0.44pp/qtr</a:t>
            </a:r>
            <a:endParaRPr lang="en-US" sz="2400" dirty="0"/>
          </a:p>
        </p:txBody>
      </p:sp>
      <p:sp>
        <p:nvSpPr>
          <p:cNvPr id="36" name="Text 34"/>
          <p:cNvSpPr/>
          <p:nvPr/>
        </p:nvSpPr>
        <p:spPr>
          <a:xfrm>
            <a:off x="1783080" y="5394960"/>
            <a:ext cx="4846320" cy="365760"/>
          </a:xfrm>
          <a:prstGeom prst="rect">
            <a:avLst/>
          </a:prstGeom>
          <a:noFill/>
          <a:ln/>
        </p:spPr>
        <p:txBody>
          <a:bodyPr wrap="square" rtlCol="0" anchor="t"/>
          <a:lstStyle/>
          <a:p>
            <a:pPr marL="0" indent="0" algn="ctr">
              <a:buNone/>
            </a:pPr>
            <a:r>
              <a:rPr lang="en-US" sz="1000" dirty="0">
                <a:solidFill>
                  <a:srgbClr val="B8C4D8"/>
                </a:solidFill>
                <a:latin typeface="Calibri" pitchFamily="34" charset="0"/>
                <a:ea typeface="Calibri" pitchFamily="34" charset="-122"/>
                <a:cs typeface="Calibri" pitchFamily="34" charset="-120"/>
              </a:rPr>
              <a:t>Loan growth reduction—persistent, no recovery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B"/>
        </a:solidFill>
        <a:effectLst/>
      </p:bgPr>
    </p:bg>
    <p:spTree>
      <p:nvGrpSpPr>
        <p:cNvPr id="1" name=""/>
        <p:cNvGrpSpPr/>
        <p:nvPr/>
      </p:nvGrpSpPr>
      <p:grpSpPr>
        <a:xfrm>
          <a:off x="0" y="0"/>
          <a:ext cx="0" cy="0"/>
          <a:chOff x="0" y="0"/>
          <a:chExt cx="0" cy="0"/>
        </a:xfrm>
      </p:grpSpPr>
      <p:sp>
        <p:nvSpPr>
          <p:cNvPr id="2" name="Shape 0"/>
          <p:cNvSpPr/>
          <p:nvPr/>
        </p:nvSpPr>
        <p:spPr>
          <a:xfrm>
            <a:off x="0" y="0"/>
            <a:ext cx="1463040" cy="6858000"/>
          </a:xfrm>
          <a:prstGeom prst="rect">
            <a:avLst/>
          </a:prstGeom>
          <a:solidFill>
            <a:srgbClr val="1A2744"/>
          </a:solidFill>
          <a:ln w="12700">
            <a:solidFill>
              <a:srgbClr val="1A2744"/>
            </a:solidFill>
            <a:prstDash val="solid"/>
          </a:ln>
        </p:spPr>
        <p:txBody>
          <a:bodyPr/>
          <a:lstStyle/>
          <a:p>
            <a:endParaRPr lang="en-US"/>
          </a:p>
        </p:txBody>
      </p:sp>
      <p:sp>
        <p:nvSpPr>
          <p:cNvPr id="3" name="Shape 1"/>
          <p:cNvSpPr/>
          <p:nvPr/>
        </p:nvSpPr>
        <p:spPr>
          <a:xfrm>
            <a:off x="0" y="0"/>
            <a:ext cx="12161520" cy="64008"/>
          </a:xfrm>
          <a:prstGeom prst="rect">
            <a:avLst/>
          </a:prstGeom>
          <a:solidFill>
            <a:srgbClr val="C89728"/>
          </a:solidFill>
          <a:ln w="12700">
            <a:solidFill>
              <a:srgbClr val="C89728"/>
            </a:solidFill>
            <a:prstDash val="solid"/>
          </a:ln>
        </p:spPr>
        <p:txBody>
          <a:bodyPr/>
          <a:lstStyle/>
          <a:p>
            <a:endParaRPr lang="en-US"/>
          </a:p>
        </p:txBody>
      </p:sp>
      <p:sp>
        <p:nvSpPr>
          <p:cNvPr id="4" name="Text 2"/>
          <p:cNvSpPr/>
          <p:nvPr/>
        </p:nvSpPr>
        <p:spPr>
          <a:xfrm>
            <a:off x="1645920" y="164592"/>
            <a:ext cx="10058400" cy="502920"/>
          </a:xfrm>
          <a:prstGeom prst="rect">
            <a:avLst/>
          </a:prstGeom>
          <a:noFill/>
          <a:ln/>
        </p:spPr>
        <p:txBody>
          <a:bodyPr wrap="square" rtlCol="0" anchor="ctr"/>
          <a:lstStyle/>
          <a:p>
            <a:pPr marL="0" indent="0">
              <a:buNone/>
            </a:pPr>
            <a:r>
              <a:rPr lang="en-US" sz="2200" b="1" dirty="0">
                <a:solidFill>
                  <a:srgbClr val="1A2744"/>
                </a:solidFill>
                <a:latin typeface="Calibri" pitchFamily="34" charset="0"/>
                <a:ea typeface="Calibri" pitchFamily="34" charset="-122"/>
                <a:cs typeface="Calibri" pitchFamily="34" charset="-120"/>
              </a:rPr>
              <a:t>RQ 4 — Portfolio Shift and Crisis Comparison</a:t>
            </a:r>
            <a:endParaRPr lang="en-US" sz="2200" dirty="0"/>
          </a:p>
        </p:txBody>
      </p:sp>
      <p:sp>
        <p:nvSpPr>
          <p:cNvPr id="5" name="Shape 3"/>
          <p:cNvSpPr/>
          <p:nvPr/>
        </p:nvSpPr>
        <p:spPr>
          <a:xfrm>
            <a:off x="1645920" y="658368"/>
            <a:ext cx="10058400" cy="27432"/>
          </a:xfrm>
          <a:prstGeom prst="rect">
            <a:avLst/>
          </a:prstGeom>
          <a:solidFill>
            <a:srgbClr val="C89728"/>
          </a:solidFill>
          <a:ln w="12700">
            <a:solidFill>
              <a:srgbClr val="C89728"/>
            </a:solidFill>
            <a:prstDash val="solid"/>
          </a:ln>
        </p:spPr>
        <p:txBody>
          <a:bodyPr/>
          <a:lstStyle/>
          <a:p>
            <a:endParaRPr lang="en-US"/>
          </a:p>
        </p:txBody>
      </p:sp>
      <p:sp>
        <p:nvSpPr>
          <p:cNvPr id="6" name="Text 4"/>
          <p:cNvSpPr/>
          <p:nvPr/>
        </p:nvSpPr>
        <p:spPr>
          <a:xfrm>
            <a:off x="1645920" y="685800"/>
            <a:ext cx="10058400" cy="292608"/>
          </a:xfrm>
          <a:prstGeom prst="rect">
            <a:avLst/>
          </a:prstGeom>
          <a:noFill/>
          <a:ln/>
        </p:spPr>
        <p:txBody>
          <a:bodyPr wrap="square"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Did asset and loan growth change — and how does this compare to the 2008 crisis?</a:t>
            </a:r>
            <a:endParaRPr lang="en-US" sz="1200" dirty="0"/>
          </a:p>
        </p:txBody>
      </p:sp>
      <p:sp>
        <p:nvSpPr>
          <p:cNvPr id="7" name="Shape 5"/>
          <p:cNvSpPr/>
          <p:nvPr/>
        </p:nvSpPr>
        <p:spPr>
          <a:xfrm>
            <a:off x="1691640" y="987552"/>
            <a:ext cx="1920240" cy="237744"/>
          </a:xfrm>
          <a:prstGeom prst="rect">
            <a:avLst/>
          </a:prstGeom>
          <a:solidFill>
            <a:srgbClr val="1A2744"/>
          </a:solidFill>
          <a:ln w="12700">
            <a:solidFill>
              <a:srgbClr val="1A2744"/>
            </a:solidFill>
            <a:prstDash val="solid"/>
          </a:ln>
        </p:spPr>
        <p:txBody>
          <a:bodyPr/>
          <a:lstStyle/>
          <a:p>
            <a:endParaRPr lang="en-US"/>
          </a:p>
        </p:txBody>
      </p:sp>
      <p:sp>
        <p:nvSpPr>
          <p:cNvPr id="8" name="Text 6"/>
          <p:cNvSpPr/>
          <p:nvPr/>
        </p:nvSpPr>
        <p:spPr>
          <a:xfrm>
            <a:off x="1691640" y="987552"/>
            <a:ext cx="1920240" cy="237744"/>
          </a:xfrm>
          <a:prstGeom prst="rect">
            <a:avLst/>
          </a:prstGeom>
          <a:noFill/>
          <a:ln/>
        </p:spPr>
        <p:txBody>
          <a:bodyPr wrap="square"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RESEARCH QUESTION 4</a:t>
            </a:r>
            <a:endParaRPr lang="en-US" sz="900" dirty="0"/>
          </a:p>
        </p:txBody>
      </p:sp>
      <p:sp>
        <p:nvSpPr>
          <p:cNvPr id="9" name="Shape 7"/>
          <p:cNvSpPr/>
          <p:nvPr/>
        </p:nvSpPr>
        <p:spPr>
          <a:xfrm>
            <a:off x="1645920" y="1691640"/>
            <a:ext cx="10058400" cy="96012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0" name="Shape 8"/>
          <p:cNvSpPr/>
          <p:nvPr/>
        </p:nvSpPr>
        <p:spPr>
          <a:xfrm>
            <a:off x="1645920" y="1691640"/>
            <a:ext cx="82296" cy="960120"/>
          </a:xfrm>
          <a:prstGeom prst="rect">
            <a:avLst/>
          </a:prstGeom>
          <a:solidFill>
            <a:srgbClr val="C89728"/>
          </a:solidFill>
          <a:ln w="12700">
            <a:solidFill>
              <a:srgbClr val="C89728"/>
            </a:solidFill>
            <a:prstDash val="solid"/>
          </a:ln>
        </p:spPr>
        <p:txBody>
          <a:bodyPr/>
          <a:lstStyle/>
          <a:p>
            <a:endParaRPr lang="en-US"/>
          </a:p>
        </p:txBody>
      </p:sp>
      <p:sp>
        <p:nvSpPr>
          <p:cNvPr id="11" name="Text 9"/>
          <p:cNvSpPr/>
          <p:nvPr/>
        </p:nvSpPr>
        <p:spPr>
          <a:xfrm>
            <a:off x="1783080" y="1691640"/>
            <a:ext cx="9829800" cy="9601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Answer: Yes. Complex CUs shifted from auto loans toward mortgages — consistent with risk-weight arbitrage. This shift is unique to the RBC rule; it did not occur during the 2008 financial crisis.</a:t>
            </a:r>
            <a:endParaRPr lang="en-US" sz="1250" dirty="0"/>
          </a:p>
        </p:txBody>
      </p:sp>
      <p:sp>
        <p:nvSpPr>
          <p:cNvPr id="12" name="Shape 10"/>
          <p:cNvSpPr/>
          <p:nvPr/>
        </p:nvSpPr>
        <p:spPr>
          <a:xfrm>
            <a:off x="1691640" y="2331720"/>
            <a:ext cx="2377440" cy="91440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3" name="Text 11"/>
          <p:cNvSpPr/>
          <p:nvPr/>
        </p:nvSpPr>
        <p:spPr>
          <a:xfrm>
            <a:off x="1783080" y="2404872"/>
            <a:ext cx="2194560" cy="475488"/>
          </a:xfrm>
          <a:prstGeom prst="rect">
            <a:avLst/>
          </a:prstGeom>
          <a:noFill/>
          <a:ln/>
        </p:spPr>
        <p:txBody>
          <a:bodyPr wrap="square" rtlCol="0" anchor="ctr"/>
          <a:lstStyle/>
          <a:p>
            <a:pPr marL="0" indent="0" algn="ctr">
              <a:buNone/>
            </a:pPr>
            <a:r>
              <a:rPr lang="en-US" sz="2400" b="1" dirty="0">
                <a:solidFill>
                  <a:srgbClr val="F4A5A8"/>
                </a:solidFill>
                <a:latin typeface="Calibri" pitchFamily="34" charset="0"/>
                <a:ea typeface="Calibri" pitchFamily="34" charset="-122"/>
                <a:cs typeface="Calibri" pitchFamily="34" charset="-120"/>
              </a:rPr>
              <a:t>−4.0pp</a:t>
            </a:r>
            <a:endParaRPr lang="en-US" sz="2400" dirty="0"/>
          </a:p>
        </p:txBody>
      </p:sp>
      <p:sp>
        <p:nvSpPr>
          <p:cNvPr id="14" name="Text 12"/>
          <p:cNvSpPr/>
          <p:nvPr/>
        </p:nvSpPr>
        <p:spPr>
          <a:xfrm>
            <a:off x="1783080" y="2834640"/>
            <a:ext cx="2194560" cy="365760"/>
          </a:xfrm>
          <a:prstGeom prst="rect">
            <a:avLst/>
          </a:prstGeom>
          <a:noFill/>
          <a:ln/>
        </p:spPr>
        <p:txBody>
          <a:bodyPr wrap="square" rtlCol="0" anchor="t"/>
          <a:lstStyle/>
          <a:p>
            <a:pPr marL="0" indent="0" algn="ctr">
              <a:buNone/>
            </a:pPr>
            <a:r>
              <a:rPr lang="en-US" sz="1000" dirty="0">
                <a:solidFill>
                  <a:srgbClr val="B8C4D8"/>
                </a:solidFill>
                <a:latin typeface="Calibri" pitchFamily="34" charset="0"/>
                <a:ea typeface="Calibri" pitchFamily="34" charset="-122"/>
                <a:cs typeface="Calibri" pitchFamily="34" charset="-120"/>
              </a:rPr>
              <a:t>Auto loan share</a:t>
            </a:r>
            <a:endParaRPr lang="en-US" sz="1000" dirty="0"/>
          </a:p>
          <a:p>
            <a:pPr marL="0" indent="0" algn="ctr">
              <a:buNone/>
            </a:pPr>
            <a:r>
              <a:rPr lang="en-US" sz="1000" dirty="0">
                <a:solidFill>
                  <a:srgbClr val="B8C4D8"/>
                </a:solidFill>
                <a:latin typeface="Calibri" pitchFamily="34" charset="0"/>
                <a:ea typeface="Calibri" pitchFamily="34" charset="-122"/>
                <a:cs typeface="Calibri" pitchFamily="34" charset="-120"/>
              </a:rPr>
              <a:t>(vs. controls)</a:t>
            </a:r>
            <a:endParaRPr lang="en-US" sz="1000" dirty="0"/>
          </a:p>
        </p:txBody>
      </p:sp>
      <p:sp>
        <p:nvSpPr>
          <p:cNvPr id="15" name="Shape 13"/>
          <p:cNvSpPr/>
          <p:nvPr/>
        </p:nvSpPr>
        <p:spPr>
          <a:xfrm>
            <a:off x="4160520" y="2331720"/>
            <a:ext cx="2377440" cy="91440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6" name="Text 14"/>
          <p:cNvSpPr/>
          <p:nvPr/>
        </p:nvSpPr>
        <p:spPr>
          <a:xfrm>
            <a:off x="4251960" y="2404872"/>
            <a:ext cx="2194560" cy="475488"/>
          </a:xfrm>
          <a:prstGeom prst="rect">
            <a:avLst/>
          </a:prstGeom>
          <a:noFill/>
          <a:ln/>
        </p:spPr>
        <p:txBody>
          <a:bodyPr wrap="square" rtlCol="0" anchor="ctr"/>
          <a:lstStyle/>
          <a:p>
            <a:pPr marL="0" indent="0" algn="ctr">
              <a:buNone/>
            </a:pPr>
            <a:r>
              <a:rPr lang="en-US" sz="2400" b="1" dirty="0">
                <a:solidFill>
                  <a:srgbClr val="95D5B2"/>
                </a:solidFill>
                <a:latin typeface="Calibri" pitchFamily="34" charset="0"/>
                <a:ea typeface="Calibri" pitchFamily="34" charset="-122"/>
                <a:cs typeface="Calibri" pitchFamily="34" charset="-120"/>
              </a:rPr>
              <a:t>+2.4pp</a:t>
            </a:r>
            <a:endParaRPr lang="en-US" sz="2400" dirty="0"/>
          </a:p>
        </p:txBody>
      </p:sp>
      <p:sp>
        <p:nvSpPr>
          <p:cNvPr id="17" name="Text 15"/>
          <p:cNvSpPr/>
          <p:nvPr/>
        </p:nvSpPr>
        <p:spPr>
          <a:xfrm>
            <a:off x="4251960" y="2834640"/>
            <a:ext cx="2194560" cy="365760"/>
          </a:xfrm>
          <a:prstGeom prst="rect">
            <a:avLst/>
          </a:prstGeom>
          <a:noFill/>
          <a:ln/>
        </p:spPr>
        <p:txBody>
          <a:bodyPr wrap="square" rtlCol="0" anchor="t"/>
          <a:lstStyle/>
          <a:p>
            <a:pPr marL="0" indent="0" algn="ctr">
              <a:buNone/>
            </a:pPr>
            <a:r>
              <a:rPr lang="en-US" sz="1000" dirty="0">
                <a:solidFill>
                  <a:srgbClr val="B8C4D8"/>
                </a:solidFill>
                <a:latin typeface="Calibri" pitchFamily="34" charset="0"/>
                <a:ea typeface="Calibri" pitchFamily="34" charset="-122"/>
                <a:cs typeface="Calibri" pitchFamily="34" charset="-120"/>
              </a:rPr>
              <a:t>Real estate</a:t>
            </a:r>
            <a:endParaRPr lang="en-US" sz="1000" dirty="0"/>
          </a:p>
          <a:p>
            <a:pPr marL="0" indent="0" algn="ctr">
              <a:buNone/>
            </a:pPr>
            <a:r>
              <a:rPr lang="en-US" sz="1000" dirty="0">
                <a:solidFill>
                  <a:srgbClr val="B8C4D8"/>
                </a:solidFill>
                <a:latin typeface="Calibri" pitchFamily="34" charset="0"/>
                <a:ea typeface="Calibri" pitchFamily="34" charset="-122"/>
                <a:cs typeface="Calibri" pitchFamily="34" charset="-120"/>
              </a:rPr>
              <a:t>loan share</a:t>
            </a:r>
            <a:endParaRPr lang="en-US" sz="1000" dirty="0"/>
          </a:p>
        </p:txBody>
      </p:sp>
      <p:sp>
        <p:nvSpPr>
          <p:cNvPr id="18" name="Text 16"/>
          <p:cNvSpPr/>
          <p:nvPr/>
        </p:nvSpPr>
        <p:spPr>
          <a:xfrm>
            <a:off x="1691640" y="3364992"/>
            <a:ext cx="5029200" cy="914400"/>
          </a:xfrm>
          <a:prstGeom prst="rect">
            <a:avLst/>
          </a:prstGeom>
          <a:noFill/>
          <a:ln/>
        </p:spPr>
        <p:txBody>
          <a:bodyPr wrap="square" rtlCol="0" anchor="t"/>
          <a:lstStyle/>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Under the RBC rule, different loan types carry different capital requirements. Mortgages carry a lower requirement than auto loans — so shifting to mortgages reduces required capital, a rational institutional response</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Delinquency rates rose +8bp, driven by a capacity channel — CUs with the largest profitability declines showed 2x the delinquency increase</a:t>
            </a:r>
            <a:endParaRPr lang="en-US" sz="1150" dirty="0"/>
          </a:p>
        </p:txBody>
      </p:sp>
      <p:sp>
        <p:nvSpPr>
          <p:cNvPr id="19" name="Shape 17"/>
          <p:cNvSpPr/>
          <p:nvPr/>
        </p:nvSpPr>
        <p:spPr>
          <a:xfrm>
            <a:off x="6766560" y="2331720"/>
            <a:ext cx="36576" cy="3657600"/>
          </a:xfrm>
          <a:prstGeom prst="rect">
            <a:avLst/>
          </a:prstGeom>
          <a:solidFill>
            <a:srgbClr val="C8C0B0"/>
          </a:solidFill>
          <a:ln w="12700">
            <a:solidFill>
              <a:srgbClr val="C8C0B0"/>
            </a:solidFill>
            <a:prstDash val="solid"/>
          </a:ln>
        </p:spPr>
        <p:txBody>
          <a:bodyPr/>
          <a:lstStyle/>
          <a:p>
            <a:endParaRPr lang="en-US"/>
          </a:p>
        </p:txBody>
      </p:sp>
      <p:sp>
        <p:nvSpPr>
          <p:cNvPr id="20" name="Text 18"/>
          <p:cNvSpPr/>
          <p:nvPr/>
        </p:nvSpPr>
        <p:spPr>
          <a:xfrm>
            <a:off x="6903720" y="2029968"/>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COMPARISON TO THE 2008 FINANCIAL CRISIS</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903720" y="2514600"/>
          <a:ext cx="4983480" cy="1783080"/>
        </p:xfrm>
        <a:graphic>
          <a:graphicData uri="http://schemas.openxmlformats.org/drawingml/2006/table">
            <a:tbl>
              <a:tblPr/>
              <a:tblGrid>
                <a:gridCol w="22860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tblGrid>
              <a:tr h="35661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Outcome</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2744"/>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2008 Crisis</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2744"/>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RBC Rule</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356616">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Capital accumulation</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Similar</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Similar</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6616">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Auto loan exit</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888888"/>
                          </a:solidFill>
                          <a:latin typeface="Calibri" pitchFamily="34" charset="0"/>
                          <a:ea typeface="Calibri" pitchFamily="34" charset="-122"/>
                          <a:cs typeface="Calibri" pitchFamily="34" charset="-120"/>
                        </a:rPr>
                        <a:t>Not observed</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9B2226"/>
                          </a:solidFill>
                          <a:latin typeface="Calibri" pitchFamily="34" charset="0"/>
                          <a:ea typeface="Calibri" pitchFamily="34" charset="-122"/>
                          <a:cs typeface="Calibri" pitchFamily="34" charset="-120"/>
                        </a:rPr>
                        <a:t>Permanent</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6616">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Loan growth</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888888"/>
                          </a:solidFill>
                          <a:latin typeface="Calibri" pitchFamily="34" charset="0"/>
                          <a:ea typeface="Calibri" pitchFamily="34" charset="-122"/>
                          <a:cs typeface="Calibri" pitchFamily="34" charset="-120"/>
                        </a:rPr>
                        <a:t>Temporary</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9B2226"/>
                          </a:solidFill>
                          <a:latin typeface="Calibri" pitchFamily="34" charset="0"/>
                          <a:ea typeface="Calibri" pitchFamily="34" charset="-122"/>
                          <a:cs typeface="Calibri" pitchFamily="34" charset="-120"/>
                        </a:rPr>
                        <a:t>No recovery</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6616">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Profitability</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888888"/>
                          </a:solidFill>
                          <a:latin typeface="Calibri" pitchFamily="34" charset="0"/>
                          <a:ea typeface="Calibri" pitchFamily="34" charset="-122"/>
                          <a:cs typeface="Calibri" pitchFamily="34" charset="-120"/>
                        </a:rPr>
                        <a:t>Temporary</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9B2226"/>
                          </a:solidFill>
                          <a:latin typeface="Calibri" pitchFamily="34" charset="0"/>
                          <a:ea typeface="Calibri" pitchFamily="34" charset="-122"/>
                          <a:cs typeface="Calibri" pitchFamily="34" charset="-120"/>
                        </a:rPr>
                        <a:t>No recovery</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2" name="Text 19"/>
          <p:cNvSpPr/>
          <p:nvPr/>
        </p:nvSpPr>
        <p:spPr>
          <a:xfrm>
            <a:off x="6903720" y="4224528"/>
            <a:ext cx="4983480" cy="457200"/>
          </a:xfrm>
          <a:prstGeom prst="rect">
            <a:avLst/>
          </a:prstGeom>
          <a:noFill/>
          <a:ln/>
        </p:spPr>
        <p:txBody>
          <a:bodyPr wrap="square" rtlCol="0" anchor="ctr"/>
          <a:lstStyle/>
          <a:p>
            <a:pPr marL="0" indent="0">
              <a:buNone/>
            </a:pPr>
            <a:r>
              <a:rPr lang="en-US" sz="1050" i="1" dirty="0">
                <a:solidFill>
                  <a:srgbClr val="5A5A5A"/>
                </a:solidFill>
                <a:latin typeface="Calibri" pitchFamily="34" charset="0"/>
                <a:ea typeface="Calibri" pitchFamily="34" charset="-122"/>
                <a:cs typeface="Calibri" pitchFamily="34" charset="-120"/>
              </a:rPr>
              <a:t>Capital behavior resembles a crisis response — but lending and profitability effects are distinctly regulatory in character and persistence.</a:t>
            </a:r>
            <a:endParaRPr lang="en-US" sz="1050" dirty="0"/>
          </a:p>
        </p:txBody>
      </p:sp>
      <p:sp>
        <p:nvSpPr>
          <p:cNvPr id="23" name="Text 20"/>
          <p:cNvSpPr/>
          <p:nvPr/>
        </p:nvSpPr>
        <p:spPr>
          <a:xfrm>
            <a:off x="6903720" y="475488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FIGURE REFERENCES</a:t>
            </a:r>
            <a:endParaRPr lang="en-US" sz="900" dirty="0"/>
          </a:p>
        </p:txBody>
      </p:sp>
      <p:sp>
        <p:nvSpPr>
          <p:cNvPr id="24" name="Shape 21"/>
          <p:cNvSpPr/>
          <p:nvPr/>
        </p:nvSpPr>
        <p:spPr>
          <a:xfrm>
            <a:off x="6903720" y="4965192"/>
            <a:ext cx="4983480" cy="777240"/>
          </a:xfrm>
          <a:prstGeom prst="rect">
            <a:avLst/>
          </a:prstGeom>
          <a:solidFill>
            <a:srgbClr val="EDE8DF"/>
          </a:solidFill>
          <a:ln w="12700">
            <a:solidFill>
              <a:srgbClr val="C8C0B0"/>
            </a:solidFill>
            <a:prstDash val="dash"/>
          </a:ln>
        </p:spPr>
        <p:txBody>
          <a:bodyPr/>
          <a:lstStyle/>
          <a:p>
            <a:endParaRPr lang="en-US"/>
          </a:p>
        </p:txBody>
      </p:sp>
      <p:sp>
        <p:nvSpPr>
          <p:cNvPr id="25" name="Text 22"/>
          <p:cNvSpPr/>
          <p:nvPr/>
        </p:nvSpPr>
        <p:spPr>
          <a:xfrm>
            <a:off x="6903720" y="5193792"/>
            <a:ext cx="4983480" cy="320040"/>
          </a:xfrm>
          <a:prstGeom prst="rect">
            <a:avLst/>
          </a:prstGeom>
          <a:noFill/>
          <a:ln/>
        </p:spPr>
        <p:txBody>
          <a:bodyPr wrap="square" rtlCol="0" anchor="ctr"/>
          <a:lstStyle/>
          <a:p>
            <a:pPr marL="0" indent="0" algn="ctr">
              <a:buNone/>
            </a:pPr>
            <a:r>
              <a:rPr lang="en-US" sz="950" i="1" dirty="0">
                <a:solidFill>
                  <a:srgbClr val="C89728"/>
                </a:solidFill>
                <a:latin typeface="Calibri" pitchFamily="34" charset="0"/>
                <a:ea typeface="Calibri" pitchFamily="34" charset="-122"/>
                <a:cs typeface="Calibri" pitchFamily="34" charset="-120"/>
              </a:rPr>
              <a:t>Figure5_Portfolio_Trends.png  ·  Figure6_Crisis_vs_RBC_Capital.png</a:t>
            </a:r>
            <a:endParaRPr lang="en-US" sz="950" dirty="0"/>
          </a:p>
        </p:txBody>
      </p:sp>
      <p:sp>
        <p:nvSpPr>
          <p:cNvPr id="26" name="Shape 23"/>
          <p:cNvSpPr/>
          <p:nvPr/>
        </p:nvSpPr>
        <p:spPr>
          <a:xfrm>
            <a:off x="1691640" y="4160520"/>
            <a:ext cx="5029200" cy="1645920"/>
          </a:xfrm>
          <a:prstGeom prst="rect">
            <a:avLst/>
          </a:prstGeom>
          <a:solidFill>
            <a:srgbClr val="EDE8DF"/>
          </a:solidFill>
          <a:ln w="12700">
            <a:solidFill>
              <a:srgbClr val="C8C0B0"/>
            </a:solidFill>
            <a:prstDash val="dash"/>
          </a:ln>
        </p:spPr>
        <p:txBody>
          <a:bodyPr/>
          <a:lstStyle/>
          <a:p>
            <a:endParaRPr lang="en-US"/>
          </a:p>
        </p:txBody>
      </p:sp>
      <p:sp>
        <p:nvSpPr>
          <p:cNvPr id="27" name="Text 24"/>
          <p:cNvSpPr/>
          <p:nvPr/>
        </p:nvSpPr>
        <p:spPr>
          <a:xfrm>
            <a:off x="1691640" y="4754880"/>
            <a:ext cx="5029200" cy="320040"/>
          </a:xfrm>
          <a:prstGeom prst="rect">
            <a:avLst/>
          </a:prstGeom>
          <a:noFill/>
          <a:ln/>
        </p:spPr>
        <p:txBody>
          <a:bodyPr wrap="square" rtlCol="0" anchor="ctr"/>
          <a:lstStyle/>
          <a:p>
            <a:pPr marL="0" indent="0" algn="ctr">
              <a:buNone/>
            </a:pPr>
            <a:r>
              <a:rPr lang="en-US" sz="950" i="1" dirty="0">
                <a:solidFill>
                  <a:srgbClr val="C89728"/>
                </a:solidFill>
                <a:latin typeface="Calibri" pitchFamily="34" charset="0"/>
                <a:ea typeface="Calibri" pitchFamily="34" charset="-122"/>
                <a:cs typeface="Calibri" pitchFamily="34" charset="-120"/>
              </a:rPr>
              <a:t>Figure5_Portfolio_Trends.png</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B"/>
        </a:solidFill>
        <a:effectLst/>
      </p:bgPr>
    </p:bg>
    <p:spTree>
      <p:nvGrpSpPr>
        <p:cNvPr id="1" name=""/>
        <p:cNvGrpSpPr/>
        <p:nvPr/>
      </p:nvGrpSpPr>
      <p:grpSpPr>
        <a:xfrm>
          <a:off x="0" y="0"/>
          <a:ext cx="0" cy="0"/>
          <a:chOff x="0" y="0"/>
          <a:chExt cx="0" cy="0"/>
        </a:xfrm>
      </p:grpSpPr>
      <p:sp>
        <p:nvSpPr>
          <p:cNvPr id="2" name="Shape 0"/>
          <p:cNvSpPr/>
          <p:nvPr/>
        </p:nvSpPr>
        <p:spPr>
          <a:xfrm>
            <a:off x="0" y="0"/>
            <a:ext cx="1463040" cy="6858000"/>
          </a:xfrm>
          <a:prstGeom prst="rect">
            <a:avLst/>
          </a:prstGeom>
          <a:solidFill>
            <a:srgbClr val="1A2744"/>
          </a:solidFill>
          <a:ln w="12700">
            <a:solidFill>
              <a:srgbClr val="1A2744"/>
            </a:solidFill>
            <a:prstDash val="solid"/>
          </a:ln>
        </p:spPr>
        <p:txBody>
          <a:bodyPr/>
          <a:lstStyle/>
          <a:p>
            <a:endParaRPr lang="en-US"/>
          </a:p>
        </p:txBody>
      </p:sp>
      <p:sp>
        <p:nvSpPr>
          <p:cNvPr id="3" name="Shape 1"/>
          <p:cNvSpPr/>
          <p:nvPr/>
        </p:nvSpPr>
        <p:spPr>
          <a:xfrm>
            <a:off x="0" y="0"/>
            <a:ext cx="12161520" cy="64008"/>
          </a:xfrm>
          <a:prstGeom prst="rect">
            <a:avLst/>
          </a:prstGeom>
          <a:solidFill>
            <a:srgbClr val="C89728"/>
          </a:solidFill>
          <a:ln w="12700">
            <a:solidFill>
              <a:srgbClr val="C89728"/>
            </a:solidFill>
            <a:prstDash val="solid"/>
          </a:ln>
        </p:spPr>
        <p:txBody>
          <a:bodyPr/>
          <a:lstStyle/>
          <a:p>
            <a:endParaRPr lang="en-US"/>
          </a:p>
        </p:txBody>
      </p:sp>
      <p:sp>
        <p:nvSpPr>
          <p:cNvPr id="4" name="Text 2"/>
          <p:cNvSpPr/>
          <p:nvPr/>
        </p:nvSpPr>
        <p:spPr>
          <a:xfrm>
            <a:off x="1645920" y="164592"/>
            <a:ext cx="10058400" cy="502920"/>
          </a:xfrm>
          <a:prstGeom prst="rect">
            <a:avLst/>
          </a:prstGeom>
          <a:noFill/>
          <a:ln/>
        </p:spPr>
        <p:txBody>
          <a:bodyPr wrap="square" rtlCol="0" anchor="ctr"/>
          <a:lstStyle/>
          <a:p>
            <a:pPr marL="0" indent="0">
              <a:buNone/>
            </a:pPr>
            <a:r>
              <a:rPr lang="en-US" sz="2200" b="1" dirty="0">
                <a:solidFill>
                  <a:srgbClr val="1A2744"/>
                </a:solidFill>
                <a:latin typeface="Calibri" pitchFamily="34" charset="0"/>
                <a:ea typeface="Calibri" pitchFamily="34" charset="-122"/>
                <a:cs typeface="Calibri" pitchFamily="34" charset="-120"/>
              </a:rPr>
              <a:t>Supporting Finding — Profitability</a:t>
            </a:r>
            <a:endParaRPr lang="en-US" sz="2200" dirty="0"/>
          </a:p>
        </p:txBody>
      </p:sp>
      <p:sp>
        <p:nvSpPr>
          <p:cNvPr id="5" name="Shape 3"/>
          <p:cNvSpPr/>
          <p:nvPr/>
        </p:nvSpPr>
        <p:spPr>
          <a:xfrm>
            <a:off x="1645920" y="658368"/>
            <a:ext cx="10058400" cy="27432"/>
          </a:xfrm>
          <a:prstGeom prst="rect">
            <a:avLst/>
          </a:prstGeom>
          <a:solidFill>
            <a:srgbClr val="C89728"/>
          </a:solidFill>
          <a:ln w="12700">
            <a:solidFill>
              <a:srgbClr val="C89728"/>
            </a:solidFill>
            <a:prstDash val="solid"/>
          </a:ln>
        </p:spPr>
        <p:txBody>
          <a:bodyPr/>
          <a:lstStyle/>
          <a:p>
            <a:endParaRPr lang="en-US"/>
          </a:p>
        </p:txBody>
      </p:sp>
      <p:sp>
        <p:nvSpPr>
          <p:cNvPr id="6" name="Text 4"/>
          <p:cNvSpPr/>
          <p:nvPr/>
        </p:nvSpPr>
        <p:spPr>
          <a:xfrm>
            <a:off x="1645920" y="685800"/>
            <a:ext cx="10058400" cy="292608"/>
          </a:xfrm>
          <a:prstGeom prst="rect">
            <a:avLst/>
          </a:prstGeom>
          <a:noFill/>
          <a:ln/>
        </p:spPr>
        <p:txBody>
          <a:bodyPr wrap="square"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Profitability Declined Persistently — Largest Institutions Hit Hardest</a:t>
            </a:r>
            <a:endParaRPr lang="en-US" sz="1200" dirty="0"/>
          </a:p>
        </p:txBody>
      </p:sp>
      <p:sp>
        <p:nvSpPr>
          <p:cNvPr id="7" name="Shape 5"/>
          <p:cNvSpPr/>
          <p:nvPr/>
        </p:nvSpPr>
        <p:spPr>
          <a:xfrm>
            <a:off x="1691640" y="987552"/>
            <a:ext cx="1920240" cy="237744"/>
          </a:xfrm>
          <a:prstGeom prst="rect">
            <a:avLst/>
          </a:prstGeom>
          <a:solidFill>
            <a:srgbClr val="5A5A5A"/>
          </a:solidFill>
          <a:ln w="12700">
            <a:solidFill>
              <a:srgbClr val="5A5A5A"/>
            </a:solidFill>
            <a:prstDash val="solid"/>
          </a:ln>
        </p:spPr>
        <p:txBody>
          <a:bodyPr/>
          <a:lstStyle/>
          <a:p>
            <a:endParaRPr lang="en-US"/>
          </a:p>
        </p:txBody>
      </p:sp>
      <p:sp>
        <p:nvSpPr>
          <p:cNvPr id="8" name="Text 6"/>
          <p:cNvSpPr/>
          <p:nvPr/>
        </p:nvSpPr>
        <p:spPr>
          <a:xfrm>
            <a:off x="1691640" y="987552"/>
            <a:ext cx="1920240" cy="237744"/>
          </a:xfrm>
          <a:prstGeom prst="rect">
            <a:avLst/>
          </a:prstGeom>
          <a:noFill/>
          <a:ln/>
        </p:spPr>
        <p:txBody>
          <a:bodyPr wrap="square"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SUPPORTING FINDING</a:t>
            </a:r>
            <a:endParaRPr lang="en-US" sz="900" dirty="0"/>
          </a:p>
        </p:txBody>
      </p:sp>
      <p:sp>
        <p:nvSpPr>
          <p:cNvPr id="9" name="Shape 7"/>
          <p:cNvSpPr/>
          <p:nvPr/>
        </p:nvSpPr>
        <p:spPr>
          <a:xfrm>
            <a:off x="1645920" y="1691640"/>
            <a:ext cx="10058400" cy="96012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0" name="Shape 8"/>
          <p:cNvSpPr/>
          <p:nvPr/>
        </p:nvSpPr>
        <p:spPr>
          <a:xfrm>
            <a:off x="1645920" y="1691640"/>
            <a:ext cx="82296" cy="960120"/>
          </a:xfrm>
          <a:prstGeom prst="rect">
            <a:avLst/>
          </a:prstGeom>
          <a:solidFill>
            <a:srgbClr val="C89728"/>
          </a:solidFill>
          <a:ln w="12700">
            <a:solidFill>
              <a:srgbClr val="C89728"/>
            </a:solidFill>
            <a:prstDash val="solid"/>
          </a:ln>
        </p:spPr>
        <p:txBody>
          <a:bodyPr/>
          <a:lstStyle/>
          <a:p>
            <a:endParaRPr lang="en-US"/>
          </a:p>
        </p:txBody>
      </p:sp>
      <p:sp>
        <p:nvSpPr>
          <p:cNvPr id="11" name="Text 9"/>
          <p:cNvSpPr/>
          <p:nvPr/>
        </p:nvSpPr>
        <p:spPr>
          <a:xfrm>
            <a:off x="1783080" y="1691640"/>
            <a:ext cx="9829800" cy="9601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Return on assets fell across complex CUs — with the largest institutions experiencing the sharpest declines. This directly informs the financial stability question in RQ5.</a:t>
            </a:r>
            <a:endParaRPr lang="en-US" sz="1250" dirty="0"/>
          </a:p>
        </p:txBody>
      </p:sp>
      <p:sp>
        <p:nvSpPr>
          <p:cNvPr id="12" name="Shape 10"/>
          <p:cNvSpPr/>
          <p:nvPr/>
        </p:nvSpPr>
        <p:spPr>
          <a:xfrm>
            <a:off x="1691640" y="2331720"/>
            <a:ext cx="3291840" cy="100584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3" name="Text 11"/>
          <p:cNvSpPr/>
          <p:nvPr/>
        </p:nvSpPr>
        <p:spPr>
          <a:xfrm>
            <a:off x="1783080" y="2404872"/>
            <a:ext cx="3108960" cy="523037"/>
          </a:xfrm>
          <a:prstGeom prst="rect">
            <a:avLst/>
          </a:prstGeom>
          <a:noFill/>
          <a:ln/>
        </p:spPr>
        <p:txBody>
          <a:bodyPr wrap="square" rtlCol="0" anchor="ctr"/>
          <a:lstStyle/>
          <a:p>
            <a:pPr marL="0" indent="0" algn="ctr">
              <a:buNone/>
            </a:pPr>
            <a:r>
              <a:rPr lang="en-US" sz="2400" b="1" dirty="0">
                <a:solidFill>
                  <a:srgbClr val="F4A5A8"/>
                </a:solidFill>
                <a:latin typeface="Calibri" pitchFamily="34" charset="0"/>
                <a:ea typeface="Calibri" pitchFamily="34" charset="-122"/>
                <a:cs typeface="Calibri" pitchFamily="34" charset="-120"/>
              </a:rPr>
              <a:t>−26bp</a:t>
            </a:r>
            <a:endParaRPr lang="en-US" sz="2400" dirty="0"/>
          </a:p>
        </p:txBody>
      </p:sp>
      <p:sp>
        <p:nvSpPr>
          <p:cNvPr id="14" name="Text 12"/>
          <p:cNvSpPr/>
          <p:nvPr/>
        </p:nvSpPr>
        <p:spPr>
          <a:xfrm>
            <a:off x="1783080" y="2884932"/>
            <a:ext cx="3108960" cy="402336"/>
          </a:xfrm>
          <a:prstGeom prst="rect">
            <a:avLst/>
          </a:prstGeom>
          <a:noFill/>
          <a:ln/>
        </p:spPr>
        <p:txBody>
          <a:bodyPr wrap="square" rtlCol="0" anchor="t"/>
          <a:lstStyle/>
          <a:p>
            <a:pPr marL="0" indent="0" algn="ctr">
              <a:buNone/>
            </a:pPr>
            <a:r>
              <a:rPr lang="en-US" sz="1000" dirty="0">
                <a:solidFill>
                  <a:srgbClr val="B8C4D8"/>
                </a:solidFill>
                <a:latin typeface="Calibri" pitchFamily="34" charset="0"/>
                <a:ea typeface="Calibri" pitchFamily="34" charset="-122"/>
                <a:cs typeface="Calibri" pitchFamily="34" charset="-120"/>
              </a:rPr>
              <a:t>Average ROA decline</a:t>
            </a:r>
            <a:endParaRPr lang="en-US" sz="1000" dirty="0"/>
          </a:p>
          <a:p>
            <a:pPr marL="0" indent="0" algn="ctr">
              <a:buNone/>
            </a:pPr>
            <a:r>
              <a:rPr lang="en-US" sz="1000" dirty="0">
                <a:solidFill>
                  <a:srgbClr val="B8C4D8"/>
                </a:solidFill>
                <a:latin typeface="Calibri" pitchFamily="34" charset="0"/>
                <a:ea typeface="Calibri" pitchFamily="34" charset="-122"/>
                <a:cs typeface="Calibri" pitchFamily="34" charset="-120"/>
              </a:rPr>
              <a:t>all complex CUs (p &lt; 0.01)</a:t>
            </a:r>
            <a:endParaRPr lang="en-US" sz="1000" dirty="0"/>
          </a:p>
        </p:txBody>
      </p:sp>
      <p:sp>
        <p:nvSpPr>
          <p:cNvPr id="15" name="Shape 13"/>
          <p:cNvSpPr/>
          <p:nvPr/>
        </p:nvSpPr>
        <p:spPr>
          <a:xfrm>
            <a:off x="5074920" y="2029968"/>
            <a:ext cx="3291840" cy="100584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6" name="Text 14"/>
          <p:cNvSpPr/>
          <p:nvPr/>
        </p:nvSpPr>
        <p:spPr>
          <a:xfrm>
            <a:off x="5166360" y="2103120"/>
            <a:ext cx="3108960" cy="523037"/>
          </a:xfrm>
          <a:prstGeom prst="rect">
            <a:avLst/>
          </a:prstGeom>
          <a:noFill/>
          <a:ln/>
        </p:spPr>
        <p:txBody>
          <a:bodyPr wrap="square" rtlCol="0" anchor="ctr"/>
          <a:lstStyle/>
          <a:p>
            <a:pPr marL="0" indent="0" algn="ctr">
              <a:buNone/>
            </a:pPr>
            <a:r>
              <a:rPr lang="en-US" sz="2400" b="1" dirty="0">
                <a:solidFill>
                  <a:srgbClr val="F4A5A8"/>
                </a:solidFill>
                <a:latin typeface="Calibri" pitchFamily="34" charset="0"/>
                <a:ea typeface="Calibri" pitchFamily="34" charset="-122"/>
                <a:cs typeface="Calibri" pitchFamily="34" charset="-120"/>
              </a:rPr>
              <a:t>−47bp</a:t>
            </a:r>
            <a:endParaRPr lang="en-US" sz="2400" dirty="0"/>
          </a:p>
        </p:txBody>
      </p:sp>
      <p:sp>
        <p:nvSpPr>
          <p:cNvPr id="17" name="Text 15"/>
          <p:cNvSpPr/>
          <p:nvPr/>
        </p:nvSpPr>
        <p:spPr>
          <a:xfrm>
            <a:off x="5166360" y="2583180"/>
            <a:ext cx="3108960" cy="402336"/>
          </a:xfrm>
          <a:prstGeom prst="rect">
            <a:avLst/>
          </a:prstGeom>
          <a:noFill/>
          <a:ln/>
        </p:spPr>
        <p:txBody>
          <a:bodyPr wrap="square" rtlCol="0" anchor="t"/>
          <a:lstStyle/>
          <a:p>
            <a:pPr marL="0" indent="0" algn="ctr">
              <a:buNone/>
            </a:pPr>
            <a:r>
              <a:rPr lang="en-US" sz="1000" dirty="0">
                <a:solidFill>
                  <a:srgbClr val="B8C4D8"/>
                </a:solidFill>
                <a:latin typeface="Calibri" pitchFamily="34" charset="0"/>
                <a:ea typeface="Calibri" pitchFamily="34" charset="-122"/>
                <a:cs typeface="Calibri" pitchFamily="34" charset="-120"/>
              </a:rPr>
              <a:t>ROA decline for CUs</a:t>
            </a:r>
            <a:endParaRPr lang="en-US" sz="1000" dirty="0"/>
          </a:p>
          <a:p>
            <a:pPr marL="0" indent="0" algn="ctr">
              <a:buNone/>
            </a:pPr>
            <a:r>
              <a:rPr lang="en-US" sz="1000" dirty="0">
                <a:solidFill>
                  <a:srgbClr val="B8C4D8"/>
                </a:solidFill>
                <a:latin typeface="Calibri" pitchFamily="34" charset="0"/>
                <a:ea typeface="Calibri" pitchFamily="34" charset="-122"/>
                <a:cs typeface="Calibri" pitchFamily="34" charset="-120"/>
              </a:rPr>
              <a:t>above $10B in assets</a:t>
            </a:r>
            <a:endParaRPr lang="en-US" sz="1000" dirty="0"/>
          </a:p>
        </p:txBody>
      </p:sp>
      <p:sp>
        <p:nvSpPr>
          <p:cNvPr id="18" name="Shape 16"/>
          <p:cNvSpPr/>
          <p:nvPr/>
        </p:nvSpPr>
        <p:spPr>
          <a:xfrm>
            <a:off x="8458200" y="2331720"/>
            <a:ext cx="3520440" cy="3474720"/>
          </a:xfrm>
          <a:prstGeom prst="rect">
            <a:avLst/>
          </a:prstGeom>
          <a:solidFill>
            <a:srgbClr val="EDE8DF"/>
          </a:solidFill>
          <a:ln w="12700">
            <a:solidFill>
              <a:srgbClr val="C8C0B0"/>
            </a:solidFill>
            <a:prstDash val="dash"/>
          </a:ln>
        </p:spPr>
        <p:txBody>
          <a:bodyPr/>
          <a:lstStyle/>
          <a:p>
            <a:endParaRPr lang="en-US"/>
          </a:p>
        </p:txBody>
      </p:sp>
      <p:sp>
        <p:nvSpPr>
          <p:cNvPr id="19" name="Text 17"/>
          <p:cNvSpPr/>
          <p:nvPr/>
        </p:nvSpPr>
        <p:spPr>
          <a:xfrm>
            <a:off x="8458200" y="3566160"/>
            <a:ext cx="3520440" cy="502920"/>
          </a:xfrm>
          <a:prstGeom prst="rect">
            <a:avLst/>
          </a:prstGeom>
          <a:noFill/>
          <a:ln/>
        </p:spPr>
        <p:txBody>
          <a:bodyPr wrap="square" rtlCol="0" anchor="ctr"/>
          <a:lstStyle/>
          <a:p>
            <a:pPr marL="0" indent="0" algn="ctr">
              <a:buNone/>
            </a:pPr>
            <a:r>
              <a:rPr lang="en-US" sz="950" i="1" dirty="0">
                <a:solidFill>
                  <a:srgbClr val="C89728"/>
                </a:solidFill>
                <a:latin typeface="Calibri" pitchFamily="34" charset="0"/>
                <a:ea typeface="Calibri" pitchFamily="34" charset="-122"/>
                <a:cs typeface="Calibri" pitchFamily="34" charset="-120"/>
              </a:rPr>
              <a:t>Figure3d_EventStudy_ROA.png</a:t>
            </a:r>
            <a:endParaRPr lang="en-US" sz="950" dirty="0"/>
          </a:p>
          <a:p>
            <a:pPr marL="0" indent="0" algn="ctr">
              <a:buNone/>
            </a:pPr>
            <a:r>
              <a:rPr lang="en-US" sz="950" i="1" dirty="0">
                <a:solidFill>
                  <a:srgbClr val="C89728"/>
                </a:solidFill>
                <a:latin typeface="Calibri" pitchFamily="34" charset="0"/>
                <a:ea typeface="Calibri" pitchFamily="34" charset="-122"/>
                <a:cs typeface="Calibri" pitchFamily="34" charset="-120"/>
              </a:rPr>
              <a:t>Figure7_CCULR_EventStudy.png</a:t>
            </a:r>
            <a:endParaRPr lang="en-US" sz="950" dirty="0"/>
          </a:p>
        </p:txBody>
      </p:sp>
      <p:sp>
        <p:nvSpPr>
          <p:cNvPr id="20" name="Text 18"/>
          <p:cNvSpPr/>
          <p:nvPr/>
        </p:nvSpPr>
        <p:spPr>
          <a:xfrm>
            <a:off x="1691640" y="315468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KEY POINTS</a:t>
            </a:r>
            <a:endParaRPr lang="en-US" sz="900" dirty="0"/>
          </a:p>
        </p:txBody>
      </p:sp>
      <p:sp>
        <p:nvSpPr>
          <p:cNvPr id="21" name="Text 19"/>
          <p:cNvSpPr/>
          <p:nvPr/>
        </p:nvSpPr>
        <p:spPr>
          <a:xfrm>
            <a:off x="1691640" y="3639312"/>
            <a:ext cx="6583680" cy="1234440"/>
          </a:xfrm>
          <a:prstGeom prst="rect">
            <a:avLst/>
          </a:prstGeom>
          <a:noFill/>
          <a:ln/>
        </p:spPr>
        <p:txBody>
          <a:bodyPr wrap="square" rtlCol="0" anchor="t"/>
          <a:lstStyle/>
          <a:p>
            <a:pPr marL="342900" indent="-342900">
              <a:spcAft>
                <a:spcPts val="300"/>
              </a:spcAft>
              <a:buSzPct val="100000"/>
              <a:buChar char="•"/>
            </a:pPr>
            <a:r>
              <a:rPr lang="en-US" sz="1200" dirty="0">
                <a:solidFill>
                  <a:srgbClr val="1C1C1C"/>
                </a:solidFill>
                <a:latin typeface="Calibri" pitchFamily="34" charset="0"/>
                <a:ea typeface="Calibri" pitchFamily="34" charset="-122"/>
                <a:cs typeface="Calibri" pitchFamily="34" charset="-120"/>
              </a:rPr>
              <a:t>ROA decline is persistent — no evidence of adaptation or recovery through the observation window</a:t>
            </a:r>
            <a:endParaRPr lang="en-US" sz="1200" dirty="0"/>
          </a:p>
          <a:p>
            <a:pPr marL="342900" indent="-342900">
              <a:spcAft>
                <a:spcPts val="300"/>
              </a:spcAft>
              <a:buSzPct val="100000"/>
              <a:buChar char="•"/>
            </a:pPr>
            <a:r>
              <a:rPr lang="en-US" sz="1200" dirty="0">
                <a:solidFill>
                  <a:srgbClr val="1C1C1C"/>
                </a:solidFill>
                <a:latin typeface="Calibri" pitchFamily="34" charset="0"/>
                <a:ea typeface="Calibri" pitchFamily="34" charset="-122"/>
                <a:cs typeface="Calibri" pitchFamily="34" charset="-120"/>
              </a:rPr>
              <a:t>Largest CUs (above $10B in assets) experience a decline nearly double the average</a:t>
            </a:r>
            <a:endParaRPr lang="en-US" sz="1200" dirty="0"/>
          </a:p>
          <a:p>
            <a:pPr marL="342900" indent="-342900">
              <a:spcAft>
                <a:spcPts val="300"/>
              </a:spcAft>
              <a:buSzPct val="100000"/>
              <a:buChar char="•"/>
            </a:pPr>
            <a:r>
              <a:rPr lang="en-US" sz="1200" dirty="0">
                <a:solidFill>
                  <a:srgbClr val="1C1C1C"/>
                </a:solidFill>
                <a:latin typeface="Calibri" pitchFamily="34" charset="0"/>
                <a:ea typeface="Calibri" pitchFamily="34" charset="-122"/>
                <a:cs typeface="Calibri" pitchFamily="34" charset="-120"/>
              </a:rPr>
              <a:t>CCULR provided no significant relief on lending outcomes; CCULR adopters showed worse baseline outcomes consistent with distressed self-selection</a:t>
            </a:r>
            <a:endParaRPr lang="en-US" sz="1200" dirty="0"/>
          </a:p>
        </p:txBody>
      </p:sp>
      <p:sp>
        <p:nvSpPr>
          <p:cNvPr id="22" name="Shape 20"/>
          <p:cNvSpPr/>
          <p:nvPr/>
        </p:nvSpPr>
        <p:spPr>
          <a:xfrm>
            <a:off x="1691640" y="4828032"/>
            <a:ext cx="6583680" cy="658368"/>
          </a:xfrm>
          <a:prstGeom prst="rect">
            <a:avLst/>
          </a:prstGeom>
          <a:solidFill>
            <a:srgbClr val="EDE8DF"/>
          </a:solidFill>
          <a:ln w="12700">
            <a:solidFill>
              <a:srgbClr val="C8C0B0"/>
            </a:solidFill>
            <a:prstDash val="solid"/>
          </a:ln>
        </p:spPr>
        <p:txBody>
          <a:bodyPr/>
          <a:lstStyle/>
          <a:p>
            <a:endParaRPr lang="en-US"/>
          </a:p>
        </p:txBody>
      </p:sp>
      <p:sp>
        <p:nvSpPr>
          <p:cNvPr id="23" name="Shape 21"/>
          <p:cNvSpPr/>
          <p:nvPr/>
        </p:nvSpPr>
        <p:spPr>
          <a:xfrm>
            <a:off x="1691640" y="4828032"/>
            <a:ext cx="64008" cy="658368"/>
          </a:xfrm>
          <a:prstGeom prst="rect">
            <a:avLst/>
          </a:prstGeom>
          <a:solidFill>
            <a:srgbClr val="C89728"/>
          </a:solidFill>
          <a:ln w="12700">
            <a:solidFill>
              <a:srgbClr val="C89728"/>
            </a:solidFill>
            <a:prstDash val="solid"/>
          </a:ln>
        </p:spPr>
        <p:txBody>
          <a:bodyPr/>
          <a:lstStyle/>
          <a:p>
            <a:endParaRPr lang="en-US"/>
          </a:p>
        </p:txBody>
      </p:sp>
      <p:sp>
        <p:nvSpPr>
          <p:cNvPr id="24" name="Text 22"/>
          <p:cNvSpPr/>
          <p:nvPr/>
        </p:nvSpPr>
        <p:spPr>
          <a:xfrm>
            <a:off x="1828800" y="4873752"/>
            <a:ext cx="6382512" cy="566928"/>
          </a:xfrm>
          <a:prstGeom prst="rect">
            <a:avLst/>
          </a:prstGeom>
          <a:noFill/>
          <a:ln/>
        </p:spPr>
        <p:txBody>
          <a:bodyPr wrap="square" rtlCol="0" anchor="t"/>
          <a:lstStyle/>
          <a:p>
            <a:pPr marL="0" indent="0">
              <a:buNone/>
            </a:pPr>
            <a:r>
              <a:rPr lang="en-US" sz="1050" dirty="0">
                <a:solidFill>
                  <a:srgbClr val="444444"/>
                </a:solidFill>
                <a:latin typeface="Calibri" pitchFamily="34" charset="0"/>
                <a:ea typeface="Calibri" pitchFamily="34" charset="-122"/>
                <a:cs typeface="Calibri" pitchFamily="34" charset="-120"/>
              </a:rPr>
              <a:t>Why this matters: Lower profitability reduces organic capital-building ability. A CU that cannot retain earnings must raise rates, cut lending, or draw down its capital ratio — all three patterns appear in the data.</a:t>
            </a:r>
            <a:endParaRPr lang="en-US" sz="1050" dirty="0"/>
          </a:p>
        </p:txBody>
      </p:sp>
      <p:sp>
        <p:nvSpPr>
          <p:cNvPr id="25" name="Shape 23"/>
          <p:cNvSpPr/>
          <p:nvPr/>
        </p:nvSpPr>
        <p:spPr>
          <a:xfrm>
            <a:off x="1691640" y="5559552"/>
            <a:ext cx="6583680" cy="658368"/>
          </a:xfrm>
          <a:prstGeom prst="rect">
            <a:avLst/>
          </a:prstGeom>
          <a:solidFill>
            <a:srgbClr val="EDE8DF"/>
          </a:solidFill>
          <a:ln w="12700">
            <a:solidFill>
              <a:srgbClr val="C8C0B0"/>
            </a:solidFill>
            <a:prstDash val="solid"/>
          </a:ln>
        </p:spPr>
        <p:txBody>
          <a:bodyPr/>
          <a:lstStyle/>
          <a:p>
            <a:endParaRPr lang="en-US"/>
          </a:p>
        </p:txBody>
      </p:sp>
      <p:sp>
        <p:nvSpPr>
          <p:cNvPr id="26" name="Shape 24"/>
          <p:cNvSpPr/>
          <p:nvPr/>
        </p:nvSpPr>
        <p:spPr>
          <a:xfrm>
            <a:off x="1691640" y="5559552"/>
            <a:ext cx="64008" cy="658368"/>
          </a:xfrm>
          <a:prstGeom prst="rect">
            <a:avLst/>
          </a:prstGeom>
          <a:solidFill>
            <a:srgbClr val="C89728"/>
          </a:solidFill>
          <a:ln w="12700">
            <a:solidFill>
              <a:srgbClr val="C89728"/>
            </a:solidFill>
            <a:prstDash val="solid"/>
          </a:ln>
        </p:spPr>
        <p:txBody>
          <a:bodyPr/>
          <a:lstStyle/>
          <a:p>
            <a:endParaRPr lang="en-US"/>
          </a:p>
        </p:txBody>
      </p:sp>
      <p:sp>
        <p:nvSpPr>
          <p:cNvPr id="27" name="Text 25"/>
          <p:cNvSpPr/>
          <p:nvPr/>
        </p:nvSpPr>
        <p:spPr>
          <a:xfrm>
            <a:off x="1828800" y="5605272"/>
            <a:ext cx="6382512" cy="566928"/>
          </a:xfrm>
          <a:prstGeom prst="rect">
            <a:avLst/>
          </a:prstGeom>
          <a:noFill/>
          <a:ln/>
        </p:spPr>
        <p:txBody>
          <a:bodyPr wrap="square" rtlCol="0" anchor="t"/>
          <a:lstStyle/>
          <a:p>
            <a:pPr marL="0" indent="0">
              <a:buNone/>
            </a:pPr>
            <a:r>
              <a:rPr lang="en-US" sz="1050" dirty="0">
                <a:solidFill>
                  <a:srgbClr val="444444"/>
                </a:solidFill>
                <a:latin typeface="Calibri" pitchFamily="34" charset="0"/>
                <a:ea typeface="Calibri" pitchFamily="34" charset="-122"/>
                <a:cs typeface="Calibri" pitchFamily="34" charset="-120"/>
              </a:rPr>
              <a:t>CCULR finding: Institutions most likely to adopt the Community Credit Union Leverage Ratio were already under financial stress — CCULR adoption did not cause or reverse their worse outcomes.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B"/>
        </a:solidFill>
        <a:effectLst/>
      </p:bgPr>
    </p:bg>
    <p:spTree>
      <p:nvGrpSpPr>
        <p:cNvPr id="1" name=""/>
        <p:cNvGrpSpPr/>
        <p:nvPr/>
      </p:nvGrpSpPr>
      <p:grpSpPr>
        <a:xfrm>
          <a:off x="0" y="0"/>
          <a:ext cx="0" cy="0"/>
          <a:chOff x="0" y="0"/>
          <a:chExt cx="0" cy="0"/>
        </a:xfrm>
      </p:grpSpPr>
      <p:sp>
        <p:nvSpPr>
          <p:cNvPr id="2" name="Shape 0"/>
          <p:cNvSpPr/>
          <p:nvPr/>
        </p:nvSpPr>
        <p:spPr>
          <a:xfrm>
            <a:off x="0" y="0"/>
            <a:ext cx="1463040" cy="6858000"/>
          </a:xfrm>
          <a:prstGeom prst="rect">
            <a:avLst/>
          </a:prstGeom>
          <a:solidFill>
            <a:srgbClr val="1A2744"/>
          </a:solidFill>
          <a:ln w="12700">
            <a:solidFill>
              <a:srgbClr val="1A2744"/>
            </a:solidFill>
            <a:prstDash val="solid"/>
          </a:ln>
        </p:spPr>
        <p:txBody>
          <a:bodyPr/>
          <a:lstStyle/>
          <a:p>
            <a:endParaRPr lang="en-US"/>
          </a:p>
        </p:txBody>
      </p:sp>
      <p:sp>
        <p:nvSpPr>
          <p:cNvPr id="3" name="Shape 1"/>
          <p:cNvSpPr/>
          <p:nvPr/>
        </p:nvSpPr>
        <p:spPr>
          <a:xfrm>
            <a:off x="0" y="0"/>
            <a:ext cx="12161520" cy="64008"/>
          </a:xfrm>
          <a:prstGeom prst="rect">
            <a:avLst/>
          </a:prstGeom>
          <a:solidFill>
            <a:srgbClr val="C89728"/>
          </a:solidFill>
          <a:ln w="12700">
            <a:solidFill>
              <a:srgbClr val="C89728"/>
            </a:solidFill>
            <a:prstDash val="solid"/>
          </a:ln>
        </p:spPr>
        <p:txBody>
          <a:bodyPr/>
          <a:lstStyle/>
          <a:p>
            <a:endParaRPr lang="en-US"/>
          </a:p>
        </p:txBody>
      </p:sp>
      <p:sp>
        <p:nvSpPr>
          <p:cNvPr id="4" name="Text 2"/>
          <p:cNvSpPr/>
          <p:nvPr/>
        </p:nvSpPr>
        <p:spPr>
          <a:xfrm>
            <a:off x="1645920" y="164592"/>
            <a:ext cx="10058400" cy="502920"/>
          </a:xfrm>
          <a:prstGeom prst="rect">
            <a:avLst/>
          </a:prstGeom>
          <a:noFill/>
          <a:ln/>
        </p:spPr>
        <p:txBody>
          <a:bodyPr wrap="square" rtlCol="0" anchor="ctr"/>
          <a:lstStyle/>
          <a:p>
            <a:pPr marL="0" indent="0">
              <a:buNone/>
            </a:pPr>
            <a:r>
              <a:rPr lang="en-US" sz="2200" b="1" dirty="0">
                <a:solidFill>
                  <a:srgbClr val="1A2744"/>
                </a:solidFill>
                <a:latin typeface="Calibri" pitchFamily="34" charset="0"/>
                <a:ea typeface="Calibri" pitchFamily="34" charset="-122"/>
                <a:cs typeface="Calibri" pitchFamily="34" charset="-120"/>
              </a:rPr>
              <a:t>RQ 5 — Financial Stability Implications</a:t>
            </a:r>
            <a:endParaRPr lang="en-US" sz="2200" dirty="0"/>
          </a:p>
        </p:txBody>
      </p:sp>
      <p:sp>
        <p:nvSpPr>
          <p:cNvPr id="5" name="Shape 3"/>
          <p:cNvSpPr/>
          <p:nvPr/>
        </p:nvSpPr>
        <p:spPr>
          <a:xfrm>
            <a:off x="1645920" y="658368"/>
            <a:ext cx="10058400" cy="27432"/>
          </a:xfrm>
          <a:prstGeom prst="rect">
            <a:avLst/>
          </a:prstGeom>
          <a:solidFill>
            <a:srgbClr val="C89728"/>
          </a:solidFill>
          <a:ln w="12700">
            <a:solidFill>
              <a:srgbClr val="C89728"/>
            </a:solidFill>
            <a:prstDash val="solid"/>
          </a:ln>
        </p:spPr>
        <p:txBody>
          <a:bodyPr/>
          <a:lstStyle/>
          <a:p>
            <a:endParaRPr lang="en-US"/>
          </a:p>
        </p:txBody>
      </p:sp>
      <p:sp>
        <p:nvSpPr>
          <p:cNvPr id="6" name="Text 4"/>
          <p:cNvSpPr/>
          <p:nvPr/>
        </p:nvSpPr>
        <p:spPr>
          <a:xfrm>
            <a:off x="1645920" y="685800"/>
            <a:ext cx="10058400" cy="292608"/>
          </a:xfrm>
          <a:prstGeom prst="rect">
            <a:avLst/>
          </a:prstGeom>
          <a:noFill/>
          <a:ln/>
        </p:spPr>
        <p:txBody>
          <a:bodyPr wrap="square"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What does the data show about the rule’s financial stability implications for complex credit unions?</a:t>
            </a:r>
            <a:endParaRPr lang="en-US" sz="1200" dirty="0"/>
          </a:p>
        </p:txBody>
      </p:sp>
      <p:sp>
        <p:nvSpPr>
          <p:cNvPr id="7" name="Shape 5"/>
          <p:cNvSpPr/>
          <p:nvPr/>
        </p:nvSpPr>
        <p:spPr>
          <a:xfrm>
            <a:off x="1691640" y="987552"/>
            <a:ext cx="1920240" cy="237744"/>
          </a:xfrm>
          <a:prstGeom prst="rect">
            <a:avLst/>
          </a:prstGeom>
          <a:solidFill>
            <a:srgbClr val="1A2744"/>
          </a:solidFill>
          <a:ln w="12700">
            <a:solidFill>
              <a:srgbClr val="1A2744"/>
            </a:solidFill>
            <a:prstDash val="solid"/>
          </a:ln>
        </p:spPr>
        <p:txBody>
          <a:bodyPr/>
          <a:lstStyle/>
          <a:p>
            <a:endParaRPr lang="en-US"/>
          </a:p>
        </p:txBody>
      </p:sp>
      <p:sp>
        <p:nvSpPr>
          <p:cNvPr id="8" name="Text 6"/>
          <p:cNvSpPr/>
          <p:nvPr/>
        </p:nvSpPr>
        <p:spPr>
          <a:xfrm>
            <a:off x="1691640" y="987552"/>
            <a:ext cx="1920240" cy="237744"/>
          </a:xfrm>
          <a:prstGeom prst="rect">
            <a:avLst/>
          </a:prstGeom>
          <a:noFill/>
          <a:ln/>
        </p:spPr>
        <p:txBody>
          <a:bodyPr wrap="square"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RESEARCH QUESTION 5</a:t>
            </a:r>
            <a:endParaRPr lang="en-US" sz="900" dirty="0"/>
          </a:p>
        </p:txBody>
      </p:sp>
      <p:sp>
        <p:nvSpPr>
          <p:cNvPr id="9" name="Shape 7"/>
          <p:cNvSpPr/>
          <p:nvPr/>
        </p:nvSpPr>
        <p:spPr>
          <a:xfrm>
            <a:off x="1645920" y="1691640"/>
            <a:ext cx="10058400" cy="96012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0" name="Shape 8"/>
          <p:cNvSpPr/>
          <p:nvPr/>
        </p:nvSpPr>
        <p:spPr>
          <a:xfrm>
            <a:off x="1645920" y="1691640"/>
            <a:ext cx="82296" cy="960120"/>
          </a:xfrm>
          <a:prstGeom prst="rect">
            <a:avLst/>
          </a:prstGeom>
          <a:solidFill>
            <a:srgbClr val="C89728"/>
          </a:solidFill>
          <a:ln w="12700">
            <a:solidFill>
              <a:srgbClr val="C89728"/>
            </a:solidFill>
            <a:prstDash val="solid"/>
          </a:ln>
        </p:spPr>
        <p:txBody>
          <a:bodyPr/>
          <a:lstStyle/>
          <a:p>
            <a:endParaRPr lang="en-US"/>
          </a:p>
        </p:txBody>
      </p:sp>
      <p:sp>
        <p:nvSpPr>
          <p:cNvPr id="11" name="Text 9"/>
          <p:cNvSpPr/>
          <p:nvPr/>
        </p:nvSpPr>
        <p:spPr>
          <a:xfrm>
            <a:off x="1783080" y="1691640"/>
            <a:ext cx="9829800" cy="9601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Answer: The rule provides a quantifiable but modest degree of protection against institutional failure. At 2008 crisis severity, it shields approximately 24 institutions — but most of that protection was already building organically before the rule.</a:t>
            </a:r>
            <a:endParaRPr lang="en-US" sz="1250" dirty="0"/>
          </a:p>
        </p:txBody>
      </p:sp>
      <p:sp>
        <p:nvSpPr>
          <p:cNvPr id="12" name="Text 10"/>
          <p:cNvSpPr/>
          <p:nvPr/>
        </p:nvSpPr>
        <p:spPr>
          <a:xfrm>
            <a:off x="1691640" y="233172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STRESS TEST — SIMULATED FAILURE RATES AT 2008 GFC SEVERITY</a:t>
            </a:r>
            <a:endParaRPr lang="en-US" sz="900" dirty="0"/>
          </a:p>
        </p:txBody>
      </p:sp>
      <p:sp>
        <p:nvSpPr>
          <p:cNvPr id="13" name="Shape 11"/>
          <p:cNvSpPr/>
          <p:nvPr/>
        </p:nvSpPr>
        <p:spPr>
          <a:xfrm>
            <a:off x="1691640" y="2542032"/>
            <a:ext cx="4846320" cy="141732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4" name="Text 12"/>
          <p:cNvSpPr/>
          <p:nvPr/>
        </p:nvSpPr>
        <p:spPr>
          <a:xfrm>
            <a:off x="1783080" y="2578608"/>
            <a:ext cx="4663440" cy="274320"/>
          </a:xfrm>
          <a:prstGeom prst="rect">
            <a:avLst/>
          </a:prstGeom>
          <a:noFill/>
          <a:ln/>
        </p:spPr>
        <p:txBody>
          <a:bodyPr wrap="square" rtlCol="0" anchor="ctr"/>
          <a:lstStyle/>
          <a:p>
            <a:pPr marL="0" indent="0">
              <a:buNone/>
            </a:pPr>
            <a:r>
              <a:rPr lang="en-US" sz="900" b="1" kern="0" spc="100" dirty="0">
                <a:solidFill>
                  <a:srgbClr val="C89728"/>
                </a:solidFill>
                <a:latin typeface="Calibri" pitchFamily="34" charset="0"/>
                <a:ea typeface="Calibri" pitchFamily="34" charset="-122"/>
                <a:cs typeface="Calibri" pitchFamily="34" charset="-120"/>
              </a:rPr>
              <a:t>CURRENT RULE IN PLACE</a:t>
            </a:r>
            <a:endParaRPr lang="en-US" sz="900" dirty="0"/>
          </a:p>
        </p:txBody>
      </p:sp>
      <p:sp>
        <p:nvSpPr>
          <p:cNvPr id="15" name="Text 13"/>
          <p:cNvSpPr/>
          <p:nvPr/>
        </p:nvSpPr>
        <p:spPr>
          <a:xfrm>
            <a:off x="1783080" y="2834640"/>
            <a:ext cx="2194560" cy="640080"/>
          </a:xfrm>
          <a:prstGeom prst="rect">
            <a:avLst/>
          </a:prstGeom>
          <a:noFill/>
          <a:ln/>
        </p:spPr>
        <p:txBody>
          <a:bodyPr wrap="square" rtlCol="0" anchor="ctr"/>
          <a:lstStyle/>
          <a:p>
            <a:pPr marL="0" indent="0">
              <a:buNone/>
            </a:pPr>
            <a:r>
              <a:rPr lang="en-US" sz="3400" b="1" dirty="0">
                <a:solidFill>
                  <a:srgbClr val="95D5B2"/>
                </a:solidFill>
                <a:latin typeface="Calibri" pitchFamily="34" charset="0"/>
                <a:ea typeface="Calibri" pitchFamily="34" charset="-122"/>
                <a:cs typeface="Calibri" pitchFamily="34" charset="-120"/>
              </a:rPr>
              <a:t>19.4%</a:t>
            </a:r>
            <a:endParaRPr lang="en-US" sz="3400" dirty="0"/>
          </a:p>
        </p:txBody>
      </p:sp>
      <p:sp>
        <p:nvSpPr>
          <p:cNvPr id="16" name="Text 14"/>
          <p:cNvSpPr/>
          <p:nvPr/>
        </p:nvSpPr>
        <p:spPr>
          <a:xfrm>
            <a:off x="3977640" y="2834640"/>
            <a:ext cx="2377440" cy="640080"/>
          </a:xfrm>
          <a:prstGeom prst="rect">
            <a:avLst/>
          </a:prstGeom>
          <a:noFill/>
          <a:ln/>
        </p:spPr>
        <p:txBody>
          <a:bodyPr wrap="square" rtlCol="0" anchor="ctr"/>
          <a:lstStyle/>
          <a:p>
            <a:pPr marL="0" indent="0">
              <a:buNone/>
            </a:pPr>
            <a:r>
              <a:rPr lang="en-US" sz="1050" dirty="0">
                <a:solidFill>
                  <a:srgbClr val="B8C4D8"/>
                </a:solidFill>
                <a:latin typeface="Calibri" pitchFamily="34" charset="0"/>
                <a:ea typeface="Calibri" pitchFamily="34" charset="-122"/>
                <a:cs typeface="Calibri" pitchFamily="34" charset="-120"/>
              </a:rPr>
              <a:t>simulated failure rate</a:t>
            </a:r>
            <a:endParaRPr lang="en-US" sz="1050" dirty="0"/>
          </a:p>
          <a:p>
            <a:pPr marL="0" indent="0">
              <a:buNone/>
            </a:pPr>
            <a:r>
              <a:rPr lang="en-US" sz="1050" dirty="0">
                <a:solidFill>
                  <a:srgbClr val="B8C4D8"/>
                </a:solidFill>
                <a:latin typeface="Calibri" pitchFamily="34" charset="0"/>
                <a:ea typeface="Calibri" pitchFamily="34" charset="-122"/>
                <a:cs typeface="Calibri" pitchFamily="34" charset="-120"/>
              </a:rPr>
              <a:t>at 2008 crisis severity</a:t>
            </a:r>
            <a:endParaRPr lang="en-US" sz="1050" dirty="0"/>
          </a:p>
        </p:txBody>
      </p:sp>
      <p:sp>
        <p:nvSpPr>
          <p:cNvPr id="17" name="Text 15"/>
          <p:cNvSpPr/>
          <p:nvPr/>
        </p:nvSpPr>
        <p:spPr>
          <a:xfrm>
            <a:off x="1783080" y="3456432"/>
            <a:ext cx="4663440" cy="438912"/>
          </a:xfrm>
          <a:prstGeom prst="rect">
            <a:avLst/>
          </a:prstGeom>
          <a:noFill/>
          <a:ln/>
        </p:spPr>
        <p:txBody>
          <a:bodyPr wrap="square" rtlCol="0" anchor="ctr"/>
          <a:lstStyle/>
          <a:p>
            <a:pPr marL="0" indent="0">
              <a:buNone/>
            </a:pPr>
            <a:r>
              <a:rPr lang="en-US" sz="950" dirty="0">
                <a:solidFill>
                  <a:srgbClr val="8FA4C8"/>
                </a:solidFill>
                <a:latin typeface="Calibri" pitchFamily="34" charset="0"/>
                <a:ea typeface="Calibri" pitchFamily="34" charset="-122"/>
                <a:cs typeface="Calibri" pitchFamily="34" charset="-120"/>
              </a:rPr>
              <a:t>Complex CUs were already building capital before the rule — the rule adds only 0.3 percentage points of incremental protection above what they had accumulated on their own.</a:t>
            </a:r>
            <a:endParaRPr lang="en-US" sz="950" dirty="0"/>
          </a:p>
        </p:txBody>
      </p:sp>
      <p:sp>
        <p:nvSpPr>
          <p:cNvPr id="18" name="Text 16"/>
          <p:cNvSpPr/>
          <p:nvPr/>
        </p:nvSpPr>
        <p:spPr>
          <a:xfrm>
            <a:off x="6656832" y="2926080"/>
            <a:ext cx="274320" cy="457200"/>
          </a:xfrm>
          <a:prstGeom prst="rect">
            <a:avLst/>
          </a:prstGeom>
          <a:noFill/>
          <a:ln/>
        </p:spPr>
        <p:txBody>
          <a:bodyPr wrap="square" rtlCol="0" anchor="ctr"/>
          <a:lstStyle/>
          <a:p>
            <a:pPr marL="0" indent="0" algn="ctr">
              <a:buNone/>
            </a:pPr>
            <a:r>
              <a:rPr lang="en-US" sz="2200" b="1" dirty="0">
                <a:solidFill>
                  <a:srgbClr val="C89728"/>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6995160" y="2542032"/>
            <a:ext cx="5029200" cy="1417320"/>
          </a:xfrm>
          <a:prstGeom prst="rect">
            <a:avLst/>
          </a:prstGeom>
          <a:solidFill>
            <a:srgbClr val="6B1A1A"/>
          </a:solidFill>
          <a:ln w="12700">
            <a:solidFill>
              <a:srgbClr val="9B2226"/>
            </a:solidFill>
            <a:prstDash val="solid"/>
          </a:ln>
          <a:effectLst>
            <a:outerShdw blurRad="76200" dist="25400" dir="8100000" algn="bl" rotWithShape="0">
              <a:srgbClr val="000000">
                <a:alpha val="12000"/>
              </a:srgbClr>
            </a:outerShdw>
          </a:effectLst>
        </p:spPr>
        <p:txBody>
          <a:bodyPr/>
          <a:lstStyle/>
          <a:p>
            <a:endParaRPr lang="en-US"/>
          </a:p>
        </p:txBody>
      </p:sp>
      <p:sp>
        <p:nvSpPr>
          <p:cNvPr id="20" name="Text 18"/>
          <p:cNvSpPr/>
          <p:nvPr/>
        </p:nvSpPr>
        <p:spPr>
          <a:xfrm>
            <a:off x="7086600" y="2578608"/>
            <a:ext cx="4846320" cy="274320"/>
          </a:xfrm>
          <a:prstGeom prst="rect">
            <a:avLst/>
          </a:prstGeom>
          <a:noFill/>
          <a:ln/>
        </p:spPr>
        <p:txBody>
          <a:bodyPr wrap="square" rtlCol="0" anchor="ctr"/>
          <a:lstStyle/>
          <a:p>
            <a:pPr marL="0" indent="0">
              <a:buNone/>
            </a:pPr>
            <a:r>
              <a:rPr lang="en-US" sz="900" b="1" kern="0" spc="100" dirty="0">
                <a:solidFill>
                  <a:srgbClr val="F4A5A8"/>
                </a:solidFill>
                <a:latin typeface="Calibri" pitchFamily="34" charset="0"/>
                <a:ea typeface="Calibri" pitchFamily="34" charset="-122"/>
                <a:cs typeface="Calibri" pitchFamily="34" charset="-120"/>
              </a:rPr>
              <a:t>WITHOUT THE RULE</a:t>
            </a:r>
            <a:endParaRPr lang="en-US" sz="900" dirty="0"/>
          </a:p>
        </p:txBody>
      </p:sp>
      <p:sp>
        <p:nvSpPr>
          <p:cNvPr id="21" name="Text 19"/>
          <p:cNvSpPr/>
          <p:nvPr/>
        </p:nvSpPr>
        <p:spPr>
          <a:xfrm>
            <a:off x="7086600" y="2834640"/>
            <a:ext cx="2194560" cy="640080"/>
          </a:xfrm>
          <a:prstGeom prst="rect">
            <a:avLst/>
          </a:prstGeom>
          <a:noFill/>
          <a:ln/>
        </p:spPr>
        <p:txBody>
          <a:bodyPr wrap="square" rtlCol="0" anchor="ctr"/>
          <a:lstStyle/>
          <a:p>
            <a:pPr marL="0" indent="0">
              <a:buNone/>
            </a:pPr>
            <a:r>
              <a:rPr lang="en-US" sz="3400" b="1" dirty="0">
                <a:solidFill>
                  <a:srgbClr val="F4A5A8"/>
                </a:solidFill>
                <a:latin typeface="Calibri" pitchFamily="34" charset="0"/>
                <a:ea typeface="Calibri" pitchFamily="34" charset="-122"/>
                <a:cs typeface="Calibri" pitchFamily="34" charset="-120"/>
              </a:rPr>
              <a:t>22.5%</a:t>
            </a:r>
            <a:endParaRPr lang="en-US" sz="3400" dirty="0"/>
          </a:p>
        </p:txBody>
      </p:sp>
      <p:sp>
        <p:nvSpPr>
          <p:cNvPr id="22" name="Text 20"/>
          <p:cNvSpPr/>
          <p:nvPr/>
        </p:nvSpPr>
        <p:spPr>
          <a:xfrm>
            <a:off x="9281160" y="2834640"/>
            <a:ext cx="2560320" cy="640080"/>
          </a:xfrm>
          <a:prstGeom prst="rect">
            <a:avLst/>
          </a:prstGeom>
          <a:noFill/>
          <a:ln/>
        </p:spPr>
        <p:txBody>
          <a:bodyPr wrap="square" rtlCol="0" anchor="ctr"/>
          <a:lstStyle/>
          <a:p>
            <a:pPr marL="0" indent="0">
              <a:buNone/>
            </a:pPr>
            <a:r>
              <a:rPr lang="en-US" sz="1050" dirty="0">
                <a:solidFill>
                  <a:srgbClr val="F4A5A8"/>
                </a:solidFill>
                <a:latin typeface="Calibri" pitchFamily="34" charset="0"/>
                <a:ea typeface="Calibri" pitchFamily="34" charset="-122"/>
                <a:cs typeface="Calibri" pitchFamily="34" charset="-120"/>
              </a:rPr>
              <a:t>simulated failure rate</a:t>
            </a:r>
            <a:endParaRPr lang="en-US" sz="1050" dirty="0"/>
          </a:p>
          <a:p>
            <a:pPr marL="0" indent="0">
              <a:buNone/>
            </a:pPr>
            <a:r>
              <a:rPr lang="en-US" sz="1050" dirty="0">
                <a:solidFill>
                  <a:srgbClr val="F4A5A8"/>
                </a:solidFill>
                <a:latin typeface="Calibri" pitchFamily="34" charset="0"/>
                <a:ea typeface="Calibri" pitchFamily="34" charset="-122"/>
                <a:cs typeface="Calibri" pitchFamily="34" charset="-120"/>
              </a:rPr>
              <a:t>at 2008 crisis severity</a:t>
            </a:r>
            <a:endParaRPr lang="en-US" sz="1050" dirty="0"/>
          </a:p>
        </p:txBody>
      </p:sp>
      <p:sp>
        <p:nvSpPr>
          <p:cNvPr id="23" name="Text 21"/>
          <p:cNvSpPr/>
          <p:nvPr/>
        </p:nvSpPr>
        <p:spPr>
          <a:xfrm>
            <a:off x="7086600" y="3456432"/>
            <a:ext cx="4846320" cy="438912"/>
          </a:xfrm>
          <a:prstGeom prst="rect">
            <a:avLst/>
          </a:prstGeom>
          <a:noFill/>
          <a:ln/>
        </p:spPr>
        <p:txBody>
          <a:bodyPr wrap="square" rtlCol="0" anchor="ctr"/>
          <a:lstStyle/>
          <a:p>
            <a:pPr marL="0" indent="0">
              <a:buNone/>
            </a:pPr>
            <a:r>
              <a:rPr lang="en-US" sz="950" dirty="0">
                <a:solidFill>
                  <a:srgbClr val="F4A5A8"/>
                </a:solidFill>
                <a:latin typeface="Calibri" pitchFamily="34" charset="0"/>
                <a:ea typeface="Calibri" pitchFamily="34" charset="-122"/>
                <a:cs typeface="Calibri" pitchFamily="34" charset="-120"/>
              </a:rPr>
              <a:t>+3.4 percentage points higher — approximately 24 additional institutions representing roughly $14 billion in assets each.</a:t>
            </a:r>
            <a:endParaRPr lang="en-US" sz="950" dirty="0"/>
          </a:p>
        </p:txBody>
      </p:sp>
      <p:sp>
        <p:nvSpPr>
          <p:cNvPr id="24" name="Shape 22"/>
          <p:cNvSpPr/>
          <p:nvPr/>
        </p:nvSpPr>
        <p:spPr>
          <a:xfrm>
            <a:off x="1691640" y="4069080"/>
            <a:ext cx="10195560" cy="804672"/>
          </a:xfrm>
          <a:prstGeom prst="rect">
            <a:avLst/>
          </a:prstGeom>
          <a:solidFill>
            <a:srgbClr val="EDE8DF"/>
          </a:solidFill>
          <a:ln w="12700">
            <a:solidFill>
              <a:srgbClr val="C8C0B0"/>
            </a:solidFill>
            <a:prstDash val="solid"/>
          </a:ln>
        </p:spPr>
        <p:txBody>
          <a:bodyPr/>
          <a:lstStyle/>
          <a:p>
            <a:endParaRPr lang="en-US"/>
          </a:p>
        </p:txBody>
      </p:sp>
      <p:sp>
        <p:nvSpPr>
          <p:cNvPr id="25" name="Shape 23"/>
          <p:cNvSpPr/>
          <p:nvPr/>
        </p:nvSpPr>
        <p:spPr>
          <a:xfrm>
            <a:off x="1691640" y="4069080"/>
            <a:ext cx="64008" cy="804672"/>
          </a:xfrm>
          <a:prstGeom prst="rect">
            <a:avLst/>
          </a:prstGeom>
          <a:solidFill>
            <a:srgbClr val="C89728"/>
          </a:solidFill>
          <a:ln w="12700">
            <a:solidFill>
              <a:srgbClr val="C89728"/>
            </a:solidFill>
            <a:prstDash val="solid"/>
          </a:ln>
        </p:spPr>
        <p:txBody>
          <a:bodyPr/>
          <a:lstStyle/>
          <a:p>
            <a:endParaRPr lang="en-US"/>
          </a:p>
        </p:txBody>
      </p:sp>
      <p:sp>
        <p:nvSpPr>
          <p:cNvPr id="26" name="Text 24"/>
          <p:cNvSpPr/>
          <p:nvPr/>
        </p:nvSpPr>
        <p:spPr>
          <a:xfrm>
            <a:off x="1828800" y="4114800"/>
            <a:ext cx="9994392" cy="713232"/>
          </a:xfrm>
          <a:prstGeom prst="rect">
            <a:avLst/>
          </a:prstGeom>
          <a:noFill/>
          <a:ln/>
        </p:spPr>
        <p:txBody>
          <a:bodyPr wrap="square" rtlCol="0" anchor="t"/>
          <a:lstStyle/>
          <a:p>
            <a:pPr marL="0" indent="0">
              <a:buNone/>
            </a:pPr>
            <a:r>
              <a:rPr lang="en-US" sz="1050" dirty="0">
                <a:solidFill>
                  <a:srgbClr val="444444"/>
                </a:solidFill>
                <a:latin typeface="Calibri" pitchFamily="34" charset="0"/>
                <a:ea typeface="Calibri" pitchFamily="34" charset="-122"/>
                <a:cs typeface="Calibri" pitchFamily="34" charset="-120"/>
              </a:rPr>
              <a:t>Context: Both the pre-rule (19.1%) and with-rule (19.4%) failure rates are similar because complex credit unions were already accumulating capital buffers before the rule came into effect. The rule added relatively little on top of what was already happening. The 22.5% figure shows what would happen if those rule-induced buffers were fully unwound.</a:t>
            </a:r>
            <a:endParaRPr lang="en-US" sz="1050" dirty="0"/>
          </a:p>
        </p:txBody>
      </p:sp>
      <p:sp>
        <p:nvSpPr>
          <p:cNvPr id="27" name="Text 25"/>
          <p:cNvSpPr/>
          <p:nvPr/>
        </p:nvSpPr>
        <p:spPr>
          <a:xfrm>
            <a:off x="1691640" y="498348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ADDITIONAL FINANCIAL STABILITY INSIGHTS</a:t>
            </a:r>
            <a:endParaRPr lang="en-US" sz="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1691640" y="5193792"/>
          <a:ext cx="7315200" cy="1371600"/>
        </p:xfrm>
        <a:graphic>
          <a:graphicData uri="http://schemas.openxmlformats.org/drawingml/2006/table">
            <a:tbl>
              <a:tblPr/>
              <a:tblGrid>
                <a:gridCol w="201168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tblGrid>
              <a:tr h="34290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Finding</a:t>
                      </a:r>
                      <a:endParaRPr lang="en-US" sz="10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274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Detail</a:t>
                      </a:r>
                      <a:endParaRPr lang="en-US" sz="10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34290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Capital built regardless</a:t>
                      </a:r>
                      <a:endParaRPr lang="en-US" sz="10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During the 2008 crisis, complex CUs built capital faster than non-complex CUs even without a formal capital rule in place</a:t>
                      </a:r>
                      <a:endParaRPr lang="en-US" sz="10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290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Portfolio risk shifted</a:t>
                      </a:r>
                      <a:endParaRPr lang="en-US" sz="10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The shift from auto loans to commercial real estate may have increased complex CU sensitivity to property market stress</a:t>
                      </a:r>
                      <a:endParaRPr lang="en-US" sz="10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290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Rule’s value grows under severity</a:t>
                      </a:r>
                      <a:endParaRPr lang="en-US" sz="10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The protective effect becomes more meaningful in stress scenarios more severe than 2008</a:t>
                      </a:r>
                      <a:endParaRPr lang="en-US" sz="10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9" name="Text 26"/>
          <p:cNvSpPr/>
          <p:nvPr/>
        </p:nvSpPr>
        <p:spPr>
          <a:xfrm>
            <a:off x="9144000" y="498348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SIMULATED FAILURE RATES AT 2008 SEVERITY</a:t>
            </a:r>
            <a:endParaRPr lang="en-US" sz="900" dirty="0"/>
          </a:p>
        </p:txBody>
      </p:sp>
      <p:graphicFrame>
        <p:nvGraphicFramePr>
          <p:cNvPr id="30" name="Chart 0"/>
          <p:cNvGraphicFramePr/>
          <p:nvPr/>
        </p:nvGraphicFramePr>
        <p:xfrm>
          <a:off x="9052560" y="5166360"/>
          <a:ext cx="3063240" cy="1417320"/>
        </p:xfrm>
        <a:graphic>
          <a:graphicData uri="http://schemas.openxmlformats.org/drawingml/2006/chart">
            <c:chart xmlns:c="http://schemas.openxmlformats.org/drawingml/2006/chart" xmlns:r="http://schemas.openxmlformats.org/officeDocument/2006/relationships" r:id="rId3"/>
          </a:graphicData>
        </a:graphic>
      </p:graphicFrame>
      <p:sp>
        <p:nvSpPr>
          <p:cNvPr id="31" name="Text 27"/>
          <p:cNvSpPr/>
          <p:nvPr/>
        </p:nvSpPr>
        <p:spPr>
          <a:xfrm>
            <a:off x="9052560" y="6601968"/>
            <a:ext cx="3063240" cy="228600"/>
          </a:xfrm>
          <a:prstGeom prst="rect">
            <a:avLst/>
          </a:prstGeom>
          <a:noFill/>
          <a:ln/>
        </p:spPr>
        <p:txBody>
          <a:bodyPr wrap="square" rtlCol="0" anchor="ctr"/>
          <a:lstStyle/>
          <a:p>
            <a:pPr marL="0" indent="0" algn="ctr">
              <a:buNone/>
            </a:pPr>
            <a:r>
              <a:rPr lang="en-US" sz="850" i="1" dirty="0">
                <a:solidFill>
                  <a:srgbClr val="5A5A5A"/>
                </a:solidFill>
                <a:latin typeface="Calibri" pitchFamily="34" charset="0"/>
                <a:ea typeface="Calibri" pitchFamily="34" charset="-122"/>
                <a:cs typeface="Calibri" pitchFamily="34" charset="-120"/>
              </a:rPr>
              <a:t>% of complex CUs falling below 7% floor</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B"/>
        </a:solidFill>
        <a:effectLst/>
      </p:bgPr>
    </p:bg>
    <p:spTree>
      <p:nvGrpSpPr>
        <p:cNvPr id="1" name=""/>
        <p:cNvGrpSpPr/>
        <p:nvPr/>
      </p:nvGrpSpPr>
      <p:grpSpPr>
        <a:xfrm>
          <a:off x="0" y="0"/>
          <a:ext cx="0" cy="0"/>
          <a:chOff x="0" y="0"/>
          <a:chExt cx="0" cy="0"/>
        </a:xfrm>
      </p:grpSpPr>
      <p:sp>
        <p:nvSpPr>
          <p:cNvPr id="2" name="Shape 0"/>
          <p:cNvSpPr/>
          <p:nvPr/>
        </p:nvSpPr>
        <p:spPr>
          <a:xfrm>
            <a:off x="0" y="0"/>
            <a:ext cx="1463040" cy="6858000"/>
          </a:xfrm>
          <a:prstGeom prst="rect">
            <a:avLst/>
          </a:prstGeom>
          <a:solidFill>
            <a:srgbClr val="1A2744"/>
          </a:solidFill>
          <a:ln w="12700">
            <a:solidFill>
              <a:srgbClr val="1A2744"/>
            </a:solidFill>
            <a:prstDash val="solid"/>
          </a:ln>
        </p:spPr>
        <p:txBody>
          <a:bodyPr/>
          <a:lstStyle/>
          <a:p>
            <a:endParaRPr lang="en-US"/>
          </a:p>
        </p:txBody>
      </p:sp>
      <p:sp>
        <p:nvSpPr>
          <p:cNvPr id="3" name="Shape 1"/>
          <p:cNvSpPr/>
          <p:nvPr/>
        </p:nvSpPr>
        <p:spPr>
          <a:xfrm>
            <a:off x="0" y="0"/>
            <a:ext cx="12161520" cy="64008"/>
          </a:xfrm>
          <a:prstGeom prst="rect">
            <a:avLst/>
          </a:prstGeom>
          <a:solidFill>
            <a:srgbClr val="C89728"/>
          </a:solidFill>
          <a:ln w="12700">
            <a:solidFill>
              <a:srgbClr val="C89728"/>
            </a:solidFill>
            <a:prstDash val="solid"/>
          </a:ln>
        </p:spPr>
        <p:txBody>
          <a:bodyPr/>
          <a:lstStyle/>
          <a:p>
            <a:endParaRPr lang="en-US"/>
          </a:p>
        </p:txBody>
      </p:sp>
      <p:sp>
        <p:nvSpPr>
          <p:cNvPr id="4" name="Text 2"/>
          <p:cNvSpPr/>
          <p:nvPr/>
        </p:nvSpPr>
        <p:spPr>
          <a:xfrm>
            <a:off x="1645920" y="164592"/>
            <a:ext cx="10058400" cy="502920"/>
          </a:xfrm>
          <a:prstGeom prst="rect">
            <a:avLst/>
          </a:prstGeom>
          <a:noFill/>
          <a:ln/>
        </p:spPr>
        <p:txBody>
          <a:bodyPr wrap="square" rtlCol="0" anchor="ctr"/>
          <a:lstStyle/>
          <a:p>
            <a:pPr marL="0" indent="0">
              <a:buNone/>
            </a:pPr>
            <a:r>
              <a:rPr lang="en-US" sz="2200" b="1" dirty="0">
                <a:solidFill>
                  <a:srgbClr val="1A2744"/>
                </a:solidFill>
                <a:latin typeface="Calibri" pitchFamily="34" charset="0"/>
                <a:ea typeface="Calibri" pitchFamily="34" charset="-122"/>
                <a:cs typeface="Calibri" pitchFamily="34" charset="-120"/>
              </a:rPr>
              <a:t>RQ 6 — Did the CCULR Relief Provision Work?</a:t>
            </a:r>
            <a:endParaRPr lang="en-US" sz="2200" dirty="0"/>
          </a:p>
        </p:txBody>
      </p:sp>
      <p:sp>
        <p:nvSpPr>
          <p:cNvPr id="5" name="Shape 3"/>
          <p:cNvSpPr/>
          <p:nvPr/>
        </p:nvSpPr>
        <p:spPr>
          <a:xfrm>
            <a:off x="1645920" y="658368"/>
            <a:ext cx="10058400" cy="27432"/>
          </a:xfrm>
          <a:prstGeom prst="rect">
            <a:avLst/>
          </a:prstGeom>
          <a:solidFill>
            <a:srgbClr val="C89728"/>
          </a:solidFill>
          <a:ln w="12700">
            <a:solidFill>
              <a:srgbClr val="C89728"/>
            </a:solidFill>
            <a:prstDash val="solid"/>
          </a:ln>
        </p:spPr>
        <p:txBody>
          <a:bodyPr/>
          <a:lstStyle/>
          <a:p>
            <a:endParaRPr lang="en-US"/>
          </a:p>
        </p:txBody>
      </p:sp>
      <p:sp>
        <p:nvSpPr>
          <p:cNvPr id="6" name="Text 4"/>
          <p:cNvSpPr/>
          <p:nvPr/>
        </p:nvSpPr>
        <p:spPr>
          <a:xfrm>
            <a:off x="1645920" y="685800"/>
            <a:ext cx="10058400" cy="292608"/>
          </a:xfrm>
          <a:prstGeom prst="rect">
            <a:avLst/>
          </a:prstGeom>
          <a:noFill/>
          <a:ln/>
        </p:spPr>
        <p:txBody>
          <a:bodyPr wrap="square"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Did the Community Credit Union Leverage Ratio provide meaningful relief to smaller complex institutions?</a:t>
            </a:r>
            <a:endParaRPr lang="en-US" sz="1200" dirty="0"/>
          </a:p>
        </p:txBody>
      </p:sp>
      <p:sp>
        <p:nvSpPr>
          <p:cNvPr id="7" name="Shape 5"/>
          <p:cNvSpPr/>
          <p:nvPr/>
        </p:nvSpPr>
        <p:spPr>
          <a:xfrm>
            <a:off x="1691640" y="987552"/>
            <a:ext cx="1920240" cy="237744"/>
          </a:xfrm>
          <a:prstGeom prst="rect">
            <a:avLst/>
          </a:prstGeom>
          <a:solidFill>
            <a:srgbClr val="1A2744"/>
          </a:solidFill>
          <a:ln w="12700">
            <a:solidFill>
              <a:srgbClr val="1A2744"/>
            </a:solidFill>
            <a:prstDash val="solid"/>
          </a:ln>
        </p:spPr>
        <p:txBody>
          <a:bodyPr/>
          <a:lstStyle/>
          <a:p>
            <a:endParaRPr lang="en-US"/>
          </a:p>
        </p:txBody>
      </p:sp>
      <p:sp>
        <p:nvSpPr>
          <p:cNvPr id="8" name="Text 6"/>
          <p:cNvSpPr/>
          <p:nvPr/>
        </p:nvSpPr>
        <p:spPr>
          <a:xfrm>
            <a:off x="1691640" y="987552"/>
            <a:ext cx="1920240" cy="237744"/>
          </a:xfrm>
          <a:prstGeom prst="rect">
            <a:avLst/>
          </a:prstGeom>
          <a:noFill/>
          <a:ln/>
        </p:spPr>
        <p:txBody>
          <a:bodyPr wrap="square"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RESEARCH QUESTION 6</a:t>
            </a:r>
            <a:endParaRPr lang="en-US" sz="900" dirty="0"/>
          </a:p>
        </p:txBody>
      </p:sp>
      <p:sp>
        <p:nvSpPr>
          <p:cNvPr id="9" name="Shape 7"/>
          <p:cNvSpPr/>
          <p:nvPr/>
        </p:nvSpPr>
        <p:spPr>
          <a:xfrm>
            <a:off x="1645920" y="1691640"/>
            <a:ext cx="10058400" cy="960120"/>
          </a:xfrm>
          <a:prstGeom prst="rect">
            <a:avLst/>
          </a:prstGeom>
          <a:solidFill>
            <a:srgbClr val="1A2744"/>
          </a:solidFill>
          <a:ln w="12700">
            <a:solidFill>
              <a:srgbClr val="1A2744"/>
            </a:solidFill>
            <a:prstDash val="solid"/>
          </a:ln>
          <a:effectLst>
            <a:outerShdw blurRad="76200" dist="25400" dir="8100000" algn="bl" rotWithShape="0">
              <a:srgbClr val="000000">
                <a:alpha val="12000"/>
              </a:srgbClr>
            </a:outerShdw>
          </a:effectLst>
        </p:spPr>
        <p:txBody>
          <a:bodyPr/>
          <a:lstStyle/>
          <a:p>
            <a:endParaRPr lang="en-US"/>
          </a:p>
        </p:txBody>
      </p:sp>
      <p:sp>
        <p:nvSpPr>
          <p:cNvPr id="10" name="Shape 8"/>
          <p:cNvSpPr/>
          <p:nvPr/>
        </p:nvSpPr>
        <p:spPr>
          <a:xfrm>
            <a:off x="1645920" y="1691640"/>
            <a:ext cx="82296" cy="960120"/>
          </a:xfrm>
          <a:prstGeom prst="rect">
            <a:avLst/>
          </a:prstGeom>
          <a:solidFill>
            <a:srgbClr val="C89728"/>
          </a:solidFill>
          <a:ln w="12700">
            <a:solidFill>
              <a:srgbClr val="C89728"/>
            </a:solidFill>
            <a:prstDash val="solid"/>
          </a:ln>
        </p:spPr>
        <p:txBody>
          <a:bodyPr/>
          <a:lstStyle/>
          <a:p>
            <a:endParaRPr lang="en-US"/>
          </a:p>
        </p:txBody>
      </p:sp>
      <p:sp>
        <p:nvSpPr>
          <p:cNvPr id="11" name="Text 9"/>
          <p:cNvSpPr/>
          <p:nvPr/>
        </p:nvSpPr>
        <p:spPr>
          <a:xfrm>
            <a:off x="1783080" y="1691640"/>
            <a:ext cx="9829800" cy="9601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Answer: No. The CCULR — designed as a simpler compliance pathway — provided no statistically significant relief. Institutions most likely to adopt it were already under financial stress before adoption.</a:t>
            </a:r>
            <a:endParaRPr lang="en-US" sz="1250" dirty="0"/>
          </a:p>
        </p:txBody>
      </p:sp>
      <p:sp>
        <p:nvSpPr>
          <p:cNvPr id="12" name="Text 10"/>
          <p:cNvSpPr/>
          <p:nvPr/>
        </p:nvSpPr>
        <p:spPr>
          <a:xfrm>
            <a:off x="1691640" y="233172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WHAT IS THE CCULR?</a:t>
            </a:r>
            <a:endParaRPr lang="en-US" sz="900" dirty="0"/>
          </a:p>
        </p:txBody>
      </p:sp>
      <p:sp>
        <p:nvSpPr>
          <p:cNvPr id="13" name="Shape 11"/>
          <p:cNvSpPr/>
          <p:nvPr/>
        </p:nvSpPr>
        <p:spPr>
          <a:xfrm>
            <a:off x="1691640" y="2514600"/>
            <a:ext cx="5029200" cy="1005840"/>
          </a:xfrm>
          <a:prstGeom prst="rect">
            <a:avLst/>
          </a:prstGeom>
          <a:solidFill>
            <a:srgbClr val="EDE8DF"/>
          </a:solidFill>
          <a:ln w="12700">
            <a:solidFill>
              <a:srgbClr val="C8C0B0"/>
            </a:solidFill>
            <a:prstDash val="solid"/>
          </a:ln>
        </p:spPr>
        <p:txBody>
          <a:bodyPr/>
          <a:lstStyle/>
          <a:p>
            <a:endParaRPr lang="en-US"/>
          </a:p>
        </p:txBody>
      </p:sp>
      <p:sp>
        <p:nvSpPr>
          <p:cNvPr id="14" name="Shape 12"/>
          <p:cNvSpPr/>
          <p:nvPr/>
        </p:nvSpPr>
        <p:spPr>
          <a:xfrm>
            <a:off x="1691640" y="2514600"/>
            <a:ext cx="64008" cy="1005840"/>
          </a:xfrm>
          <a:prstGeom prst="rect">
            <a:avLst/>
          </a:prstGeom>
          <a:solidFill>
            <a:srgbClr val="C89728"/>
          </a:solidFill>
          <a:ln w="12700">
            <a:solidFill>
              <a:srgbClr val="C89728"/>
            </a:solidFill>
            <a:prstDash val="solid"/>
          </a:ln>
        </p:spPr>
        <p:txBody>
          <a:bodyPr/>
          <a:lstStyle/>
          <a:p>
            <a:endParaRPr lang="en-US"/>
          </a:p>
        </p:txBody>
      </p:sp>
      <p:sp>
        <p:nvSpPr>
          <p:cNvPr id="15" name="Text 13"/>
          <p:cNvSpPr/>
          <p:nvPr/>
        </p:nvSpPr>
        <p:spPr>
          <a:xfrm>
            <a:off x="1828800" y="2560320"/>
            <a:ext cx="4828032" cy="914400"/>
          </a:xfrm>
          <a:prstGeom prst="rect">
            <a:avLst/>
          </a:prstGeom>
          <a:noFill/>
          <a:ln/>
        </p:spPr>
        <p:txBody>
          <a:bodyPr wrap="square" rtlCol="0" anchor="t"/>
          <a:lstStyle/>
          <a:p>
            <a:pPr marL="0" indent="0">
              <a:buNone/>
            </a:pPr>
            <a:r>
              <a:rPr lang="en-US" sz="1050" dirty="0">
                <a:solidFill>
                  <a:srgbClr val="444444"/>
                </a:solidFill>
                <a:latin typeface="Calibri" pitchFamily="34" charset="0"/>
                <a:ea typeface="Calibri" pitchFamily="34" charset="-122"/>
                <a:cs typeface="Calibri" pitchFamily="34" charset="-120"/>
              </a:rPr>
              <a:t>The Community Credit Union Leverage Ratio (CCULR) was introduced as an alternative to the full RBC framework. Complex CUs that met certain criteria could use a simpler, single-ratio test rather than the full risk-based capital calculation. The intent was to reduce compliance burden — particularly for smaller complex institutions in the $500M–$1B asset range.</a:t>
            </a:r>
            <a:endParaRPr lang="en-US" sz="1050" dirty="0"/>
          </a:p>
        </p:txBody>
      </p:sp>
      <p:sp>
        <p:nvSpPr>
          <p:cNvPr id="16" name="Text 14"/>
          <p:cNvSpPr/>
          <p:nvPr/>
        </p:nvSpPr>
        <p:spPr>
          <a:xfrm>
            <a:off x="1691640" y="3639312"/>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THE $400M–$1B INSTITUTION PROBLEM</a:t>
            </a:r>
            <a:endParaRPr lang="en-US" sz="900" dirty="0"/>
          </a:p>
        </p:txBody>
      </p:sp>
      <p:sp>
        <p:nvSpPr>
          <p:cNvPr id="17" name="Text 15"/>
          <p:cNvSpPr/>
          <p:nvPr/>
        </p:nvSpPr>
        <p:spPr>
          <a:xfrm>
            <a:off x="1691640" y="3840480"/>
            <a:ext cx="5029200" cy="2240280"/>
          </a:xfrm>
          <a:prstGeom prst="rect">
            <a:avLst/>
          </a:prstGeom>
          <a:noFill/>
          <a:ln/>
        </p:spPr>
        <p:txBody>
          <a:bodyPr wrap="square" rtlCol="0" anchor="t"/>
          <a:lstStyle/>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Institutions just above the $500M complex threshold — particularly those in the $400M–$1B range — experienced the largest relative burden from the rule</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These institutions lack the scale of the largest complex CUs to absorb compliance costs, but are still subject to the full capital requirements</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For this group, the CCULR was supposed to offer relief — but the data show it did not deliver</a:t>
            </a:r>
            <a:endParaRPr lang="en-US" sz="1150" dirty="0"/>
          </a:p>
          <a:p>
            <a:pPr marL="342900" indent="-342900">
              <a:spcAft>
                <a:spcPts val="300"/>
              </a:spcAft>
              <a:buSzPct val="100000"/>
              <a:buChar char="•"/>
            </a:pPr>
            <a:r>
              <a:rPr lang="en-US" sz="1150" dirty="0">
                <a:solidFill>
                  <a:srgbClr val="1C1C1C"/>
                </a:solidFill>
                <a:latin typeface="Calibri" pitchFamily="34" charset="0"/>
                <a:ea typeface="Calibri" pitchFamily="34" charset="-122"/>
                <a:cs typeface="Calibri" pitchFamily="34" charset="-120"/>
              </a:rPr>
              <a:t>CCULR adopters in this size range showed lending outcomes as bad or worse than non-adopters of similar size</a:t>
            </a:r>
            <a:endParaRPr lang="en-US" sz="1150" dirty="0"/>
          </a:p>
        </p:txBody>
      </p:sp>
      <p:sp>
        <p:nvSpPr>
          <p:cNvPr id="18" name="Shape 16"/>
          <p:cNvSpPr/>
          <p:nvPr/>
        </p:nvSpPr>
        <p:spPr>
          <a:xfrm>
            <a:off x="6766560" y="2331720"/>
            <a:ext cx="36576" cy="3977640"/>
          </a:xfrm>
          <a:prstGeom prst="rect">
            <a:avLst/>
          </a:prstGeom>
          <a:solidFill>
            <a:srgbClr val="C8C0B0"/>
          </a:solidFill>
          <a:ln w="12700">
            <a:solidFill>
              <a:srgbClr val="C8C0B0"/>
            </a:solidFill>
            <a:prstDash val="solid"/>
          </a:ln>
        </p:spPr>
        <p:txBody>
          <a:bodyPr/>
          <a:lstStyle/>
          <a:p>
            <a:endParaRPr lang="en-US"/>
          </a:p>
        </p:txBody>
      </p:sp>
      <p:sp>
        <p:nvSpPr>
          <p:cNvPr id="19" name="Text 17"/>
          <p:cNvSpPr/>
          <p:nvPr/>
        </p:nvSpPr>
        <p:spPr>
          <a:xfrm>
            <a:off x="6903720" y="233172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KEY EMPIRICAL FINDINGS</a:t>
            </a:r>
            <a:endParaRPr lang="en-US" sz="900" dirty="0"/>
          </a:p>
        </p:txBody>
      </p:sp>
      <p:sp>
        <p:nvSpPr>
          <p:cNvPr id="20" name="Shape 18"/>
          <p:cNvSpPr/>
          <p:nvPr/>
        </p:nvSpPr>
        <p:spPr>
          <a:xfrm>
            <a:off x="6903720" y="2542032"/>
            <a:ext cx="4983480" cy="1078992"/>
          </a:xfrm>
          <a:prstGeom prst="rect">
            <a:avLst/>
          </a:prstGeom>
          <a:solidFill>
            <a:srgbClr val="FFFFFF"/>
          </a:solidFill>
          <a:ln w="12700">
            <a:solidFill>
              <a:srgbClr val="C8C0B0"/>
            </a:solidFill>
            <a:prstDash val="solid"/>
          </a:ln>
          <a:effectLst>
            <a:outerShdw blurRad="76200" dist="25400" dir="8100000" algn="bl" rotWithShape="0">
              <a:srgbClr val="000000">
                <a:alpha val="12000"/>
              </a:srgbClr>
            </a:outerShdw>
          </a:effectLst>
        </p:spPr>
        <p:txBody>
          <a:bodyPr/>
          <a:lstStyle/>
          <a:p>
            <a:endParaRPr lang="en-US"/>
          </a:p>
        </p:txBody>
      </p:sp>
      <p:sp>
        <p:nvSpPr>
          <p:cNvPr id="21" name="Shape 19"/>
          <p:cNvSpPr/>
          <p:nvPr/>
        </p:nvSpPr>
        <p:spPr>
          <a:xfrm>
            <a:off x="6903720" y="2542032"/>
            <a:ext cx="64008" cy="1078992"/>
          </a:xfrm>
          <a:prstGeom prst="rect">
            <a:avLst/>
          </a:prstGeom>
          <a:solidFill>
            <a:srgbClr val="9B2226"/>
          </a:solidFill>
          <a:ln w="12700">
            <a:solidFill>
              <a:srgbClr val="9B2226"/>
            </a:solidFill>
            <a:prstDash val="solid"/>
          </a:ln>
        </p:spPr>
        <p:txBody>
          <a:bodyPr/>
          <a:lstStyle/>
          <a:p>
            <a:endParaRPr lang="en-US"/>
          </a:p>
        </p:txBody>
      </p:sp>
      <p:sp>
        <p:nvSpPr>
          <p:cNvPr id="22" name="Text 20"/>
          <p:cNvSpPr/>
          <p:nvPr/>
        </p:nvSpPr>
        <p:spPr>
          <a:xfrm>
            <a:off x="7022592" y="2615184"/>
            <a:ext cx="4754880" cy="274320"/>
          </a:xfrm>
          <a:prstGeom prst="rect">
            <a:avLst/>
          </a:prstGeom>
          <a:noFill/>
          <a:ln/>
        </p:spPr>
        <p:txBody>
          <a:bodyPr wrap="square" rtlCol="0" anchor="ctr"/>
          <a:lstStyle/>
          <a:p>
            <a:pPr marL="0" indent="0">
              <a:buNone/>
            </a:pPr>
            <a:r>
              <a:rPr lang="en-US" sz="1100" b="1" dirty="0">
                <a:solidFill>
                  <a:srgbClr val="1A2744"/>
                </a:solidFill>
                <a:latin typeface="Calibri" pitchFamily="34" charset="0"/>
                <a:ea typeface="Calibri" pitchFamily="34" charset="-122"/>
                <a:cs typeface="Calibri" pitchFamily="34" charset="-120"/>
              </a:rPr>
              <a:t>✗  No lending relief</a:t>
            </a:r>
            <a:endParaRPr lang="en-US" sz="1100" dirty="0"/>
          </a:p>
        </p:txBody>
      </p:sp>
      <p:sp>
        <p:nvSpPr>
          <p:cNvPr id="23" name="Text 21"/>
          <p:cNvSpPr/>
          <p:nvPr/>
        </p:nvSpPr>
        <p:spPr>
          <a:xfrm>
            <a:off x="7022592" y="2889504"/>
            <a:ext cx="4754880" cy="658368"/>
          </a:xfrm>
          <a:prstGeom prst="rect">
            <a:avLst/>
          </a:prstGeom>
          <a:noFill/>
          <a:ln/>
        </p:spPr>
        <p:txBody>
          <a:bodyPr wrap="square" rtlCol="0" anchor="ctr"/>
          <a:lstStyle/>
          <a:p>
            <a:pPr marL="0" indent="0">
              <a:buNone/>
            </a:pPr>
            <a:r>
              <a:rPr lang="en-US" sz="1050" dirty="0">
                <a:solidFill>
                  <a:srgbClr val="5A5A5A"/>
                </a:solidFill>
                <a:latin typeface="Calibri" pitchFamily="34" charset="0"/>
                <a:ea typeface="Calibri" pitchFamily="34" charset="-122"/>
                <a:cs typeface="Calibri" pitchFamily="34" charset="-120"/>
              </a:rPr>
              <a:t>CCULR adoption produced no statistically significant improvement in loan growth, loan rates, or portfolio composition relative to full-RBC compliant peers</a:t>
            </a:r>
            <a:endParaRPr lang="en-US" sz="1050" dirty="0"/>
          </a:p>
        </p:txBody>
      </p:sp>
      <p:sp>
        <p:nvSpPr>
          <p:cNvPr id="24" name="Shape 22"/>
          <p:cNvSpPr/>
          <p:nvPr/>
        </p:nvSpPr>
        <p:spPr>
          <a:xfrm>
            <a:off x="6903720" y="3749040"/>
            <a:ext cx="4983480" cy="1078992"/>
          </a:xfrm>
          <a:prstGeom prst="rect">
            <a:avLst/>
          </a:prstGeom>
          <a:solidFill>
            <a:srgbClr val="FFFFFF"/>
          </a:solidFill>
          <a:ln w="12700">
            <a:solidFill>
              <a:srgbClr val="C8C0B0"/>
            </a:solidFill>
            <a:prstDash val="solid"/>
          </a:ln>
          <a:effectLst>
            <a:outerShdw blurRad="76200" dist="25400" dir="8100000" algn="bl" rotWithShape="0">
              <a:srgbClr val="000000">
                <a:alpha val="12000"/>
              </a:srgbClr>
            </a:outerShdw>
          </a:effectLst>
        </p:spPr>
        <p:txBody>
          <a:bodyPr/>
          <a:lstStyle/>
          <a:p>
            <a:endParaRPr lang="en-US"/>
          </a:p>
        </p:txBody>
      </p:sp>
      <p:sp>
        <p:nvSpPr>
          <p:cNvPr id="25" name="Shape 23"/>
          <p:cNvSpPr/>
          <p:nvPr/>
        </p:nvSpPr>
        <p:spPr>
          <a:xfrm>
            <a:off x="6903720" y="3749040"/>
            <a:ext cx="64008" cy="1078992"/>
          </a:xfrm>
          <a:prstGeom prst="rect">
            <a:avLst/>
          </a:prstGeom>
          <a:solidFill>
            <a:srgbClr val="9B2226"/>
          </a:solidFill>
          <a:ln w="12700">
            <a:solidFill>
              <a:srgbClr val="9B2226"/>
            </a:solidFill>
            <a:prstDash val="solid"/>
          </a:ln>
        </p:spPr>
        <p:txBody>
          <a:bodyPr/>
          <a:lstStyle/>
          <a:p>
            <a:endParaRPr lang="en-US"/>
          </a:p>
        </p:txBody>
      </p:sp>
      <p:sp>
        <p:nvSpPr>
          <p:cNvPr id="26" name="Text 24"/>
          <p:cNvSpPr/>
          <p:nvPr/>
        </p:nvSpPr>
        <p:spPr>
          <a:xfrm>
            <a:off x="7022592" y="3822192"/>
            <a:ext cx="4754880" cy="274320"/>
          </a:xfrm>
          <a:prstGeom prst="rect">
            <a:avLst/>
          </a:prstGeom>
          <a:noFill/>
          <a:ln/>
        </p:spPr>
        <p:txBody>
          <a:bodyPr wrap="square" rtlCol="0" anchor="ctr"/>
          <a:lstStyle/>
          <a:p>
            <a:pPr marL="0" indent="0">
              <a:buNone/>
            </a:pPr>
            <a:r>
              <a:rPr lang="en-US" sz="1100" b="1" dirty="0">
                <a:solidFill>
                  <a:srgbClr val="1A2744"/>
                </a:solidFill>
                <a:latin typeface="Calibri" pitchFamily="34" charset="0"/>
                <a:ea typeface="Calibri" pitchFamily="34" charset="-122"/>
                <a:cs typeface="Calibri" pitchFamily="34" charset="-120"/>
              </a:rPr>
              <a:t>✗  Distressed self-selection</a:t>
            </a:r>
            <a:endParaRPr lang="en-US" sz="1100" dirty="0"/>
          </a:p>
        </p:txBody>
      </p:sp>
      <p:sp>
        <p:nvSpPr>
          <p:cNvPr id="27" name="Text 25"/>
          <p:cNvSpPr/>
          <p:nvPr/>
        </p:nvSpPr>
        <p:spPr>
          <a:xfrm>
            <a:off x="7022592" y="4096512"/>
            <a:ext cx="4754880" cy="658368"/>
          </a:xfrm>
          <a:prstGeom prst="rect">
            <a:avLst/>
          </a:prstGeom>
          <a:noFill/>
          <a:ln/>
        </p:spPr>
        <p:txBody>
          <a:bodyPr wrap="square" rtlCol="0" anchor="ctr"/>
          <a:lstStyle/>
          <a:p>
            <a:pPr marL="0" indent="0">
              <a:buNone/>
            </a:pPr>
            <a:r>
              <a:rPr lang="en-US" sz="1050" dirty="0">
                <a:solidFill>
                  <a:srgbClr val="5A5A5A"/>
                </a:solidFill>
                <a:latin typeface="Calibri" pitchFamily="34" charset="0"/>
                <a:ea typeface="Calibri" pitchFamily="34" charset="-122"/>
                <a:cs typeface="Calibri" pitchFamily="34" charset="-120"/>
              </a:rPr>
              <a:t>Institutions that adopted CCULR were disproportionately those already experiencing declining profitability and thin capital buffers — the CCULR did not improve their trajectory</a:t>
            </a:r>
            <a:endParaRPr lang="en-US" sz="1050" dirty="0"/>
          </a:p>
        </p:txBody>
      </p:sp>
      <p:sp>
        <p:nvSpPr>
          <p:cNvPr id="28" name="Shape 26"/>
          <p:cNvSpPr/>
          <p:nvPr/>
        </p:nvSpPr>
        <p:spPr>
          <a:xfrm>
            <a:off x="6903720" y="4956048"/>
            <a:ext cx="4983480" cy="1078992"/>
          </a:xfrm>
          <a:prstGeom prst="rect">
            <a:avLst/>
          </a:prstGeom>
          <a:solidFill>
            <a:srgbClr val="FFFFFF"/>
          </a:solidFill>
          <a:ln w="12700">
            <a:solidFill>
              <a:srgbClr val="C8C0B0"/>
            </a:solidFill>
            <a:prstDash val="solid"/>
          </a:ln>
          <a:effectLst>
            <a:outerShdw blurRad="76200" dist="25400" dir="8100000" algn="bl" rotWithShape="0">
              <a:srgbClr val="000000">
                <a:alpha val="12000"/>
              </a:srgbClr>
            </a:outerShdw>
          </a:effectLst>
        </p:spPr>
        <p:txBody>
          <a:bodyPr/>
          <a:lstStyle/>
          <a:p>
            <a:endParaRPr lang="en-US"/>
          </a:p>
        </p:txBody>
      </p:sp>
      <p:sp>
        <p:nvSpPr>
          <p:cNvPr id="29" name="Shape 27"/>
          <p:cNvSpPr/>
          <p:nvPr/>
        </p:nvSpPr>
        <p:spPr>
          <a:xfrm>
            <a:off x="6903720" y="4956048"/>
            <a:ext cx="64008" cy="1078992"/>
          </a:xfrm>
          <a:prstGeom prst="rect">
            <a:avLst/>
          </a:prstGeom>
          <a:solidFill>
            <a:srgbClr val="9B2226"/>
          </a:solidFill>
          <a:ln w="12700">
            <a:solidFill>
              <a:srgbClr val="9B2226"/>
            </a:solidFill>
            <a:prstDash val="solid"/>
          </a:ln>
        </p:spPr>
        <p:txBody>
          <a:bodyPr/>
          <a:lstStyle/>
          <a:p>
            <a:endParaRPr lang="en-US"/>
          </a:p>
        </p:txBody>
      </p:sp>
      <p:sp>
        <p:nvSpPr>
          <p:cNvPr id="30" name="Text 28"/>
          <p:cNvSpPr/>
          <p:nvPr/>
        </p:nvSpPr>
        <p:spPr>
          <a:xfrm>
            <a:off x="7022592" y="5029200"/>
            <a:ext cx="4754880" cy="274320"/>
          </a:xfrm>
          <a:prstGeom prst="rect">
            <a:avLst/>
          </a:prstGeom>
          <a:noFill/>
          <a:ln/>
        </p:spPr>
        <p:txBody>
          <a:bodyPr wrap="square" rtlCol="0" anchor="ctr"/>
          <a:lstStyle/>
          <a:p>
            <a:pPr marL="0" indent="0">
              <a:buNone/>
            </a:pPr>
            <a:r>
              <a:rPr lang="en-US" sz="1100" b="1" dirty="0">
                <a:solidFill>
                  <a:srgbClr val="1A2744"/>
                </a:solidFill>
                <a:latin typeface="Calibri" pitchFamily="34" charset="0"/>
                <a:ea typeface="Calibri" pitchFamily="34" charset="-122"/>
                <a:cs typeface="Calibri" pitchFamily="34" charset="-120"/>
              </a:rPr>
              <a:t>✗  Smaller institutions hardest hit</a:t>
            </a:r>
            <a:endParaRPr lang="en-US" sz="1100" dirty="0"/>
          </a:p>
        </p:txBody>
      </p:sp>
      <p:sp>
        <p:nvSpPr>
          <p:cNvPr id="31" name="Text 29"/>
          <p:cNvSpPr/>
          <p:nvPr/>
        </p:nvSpPr>
        <p:spPr>
          <a:xfrm>
            <a:off x="7022592" y="5303520"/>
            <a:ext cx="4754880" cy="658368"/>
          </a:xfrm>
          <a:prstGeom prst="rect">
            <a:avLst/>
          </a:prstGeom>
          <a:noFill/>
          <a:ln/>
        </p:spPr>
        <p:txBody>
          <a:bodyPr wrap="square" rtlCol="0" anchor="ctr"/>
          <a:lstStyle/>
          <a:p>
            <a:pPr marL="0" indent="0">
              <a:buNone/>
            </a:pPr>
            <a:r>
              <a:rPr lang="en-US" sz="1050" dirty="0">
                <a:solidFill>
                  <a:srgbClr val="5A5A5A"/>
                </a:solidFill>
                <a:latin typeface="Calibri" pitchFamily="34" charset="0"/>
                <a:ea typeface="Calibri" pitchFamily="34" charset="-122"/>
                <a:cs typeface="Calibri" pitchFamily="34" charset="-120"/>
              </a:rPr>
              <a:t>Complex CUs with $400M–$1B in assets showed ROA declines and lending contractions comparable to the largest institutions, without the scale to absorb the costs</a:t>
            </a:r>
            <a:endParaRPr lang="en-US" sz="1050" dirty="0"/>
          </a:p>
        </p:txBody>
      </p:sp>
      <p:sp>
        <p:nvSpPr>
          <p:cNvPr id="32" name="Text 30"/>
          <p:cNvSpPr/>
          <p:nvPr/>
        </p:nvSpPr>
        <p:spPr>
          <a:xfrm>
            <a:off x="1691640" y="6172200"/>
            <a:ext cx="4572000" cy="201168"/>
          </a:xfrm>
          <a:prstGeom prst="rect">
            <a:avLst/>
          </a:prstGeom>
          <a:noFill/>
          <a:ln/>
        </p:spPr>
        <p:txBody>
          <a:bodyPr wrap="square" rtlCol="0" anchor="ctr"/>
          <a:lstStyle/>
          <a:p>
            <a:pPr marL="0" indent="0">
              <a:buNone/>
            </a:pPr>
            <a:r>
              <a:rPr lang="en-US" sz="900" b="1" kern="0" spc="150" dirty="0">
                <a:solidFill>
                  <a:srgbClr val="C89728"/>
                </a:solidFill>
                <a:latin typeface="Calibri" pitchFamily="34" charset="0"/>
                <a:ea typeface="Calibri" pitchFamily="34" charset="-122"/>
                <a:cs typeface="Calibri" pitchFamily="34" charset="-120"/>
              </a:rPr>
              <a:t>FIGURE REFERENCE</a:t>
            </a:r>
            <a:endParaRPr lang="en-US" sz="900" dirty="0"/>
          </a:p>
        </p:txBody>
      </p:sp>
      <p:sp>
        <p:nvSpPr>
          <p:cNvPr id="33" name="Shape 31"/>
          <p:cNvSpPr/>
          <p:nvPr/>
        </p:nvSpPr>
        <p:spPr>
          <a:xfrm>
            <a:off x="1691640" y="6355080"/>
            <a:ext cx="10195560" cy="320040"/>
          </a:xfrm>
          <a:prstGeom prst="rect">
            <a:avLst/>
          </a:prstGeom>
          <a:solidFill>
            <a:srgbClr val="EDE8DF"/>
          </a:solidFill>
          <a:ln w="12700">
            <a:solidFill>
              <a:srgbClr val="C8C0B0"/>
            </a:solidFill>
            <a:prstDash val="dash"/>
          </a:ln>
        </p:spPr>
        <p:txBody>
          <a:bodyPr/>
          <a:lstStyle/>
          <a:p>
            <a:endParaRPr lang="en-US"/>
          </a:p>
        </p:txBody>
      </p:sp>
      <p:sp>
        <p:nvSpPr>
          <p:cNvPr id="34" name="Text 32"/>
          <p:cNvSpPr/>
          <p:nvPr/>
        </p:nvSpPr>
        <p:spPr>
          <a:xfrm>
            <a:off x="1691640" y="6382512"/>
            <a:ext cx="10195560" cy="228600"/>
          </a:xfrm>
          <a:prstGeom prst="rect">
            <a:avLst/>
          </a:prstGeom>
          <a:noFill/>
          <a:ln/>
        </p:spPr>
        <p:txBody>
          <a:bodyPr wrap="square" rtlCol="0" anchor="ctr"/>
          <a:lstStyle/>
          <a:p>
            <a:pPr marL="0" indent="0" algn="ctr">
              <a:buNone/>
            </a:pPr>
            <a:r>
              <a:rPr lang="en-US" sz="950" i="1" dirty="0">
                <a:solidFill>
                  <a:srgbClr val="C89728"/>
                </a:solidFill>
                <a:latin typeface="Calibri" pitchFamily="34" charset="0"/>
                <a:ea typeface="Calibri" pitchFamily="34" charset="-122"/>
                <a:cs typeface="Calibri" pitchFamily="34" charset="-120"/>
              </a:rPr>
              <a:t>output/figures/fig_es_roa.png  ·  Figure7_CCULR_EventStudy.png</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1EB"/>
        </a:solidFill>
        <a:effectLst/>
      </p:bgPr>
    </p:bg>
    <p:spTree>
      <p:nvGrpSpPr>
        <p:cNvPr id="1" name=""/>
        <p:cNvGrpSpPr/>
        <p:nvPr/>
      </p:nvGrpSpPr>
      <p:grpSpPr>
        <a:xfrm>
          <a:off x="0" y="0"/>
          <a:ext cx="0" cy="0"/>
          <a:chOff x="0" y="0"/>
          <a:chExt cx="0" cy="0"/>
        </a:xfrm>
      </p:grpSpPr>
      <p:sp>
        <p:nvSpPr>
          <p:cNvPr id="2" name="Shape 0"/>
          <p:cNvSpPr/>
          <p:nvPr/>
        </p:nvSpPr>
        <p:spPr>
          <a:xfrm>
            <a:off x="0" y="0"/>
            <a:ext cx="1463040" cy="6858000"/>
          </a:xfrm>
          <a:prstGeom prst="rect">
            <a:avLst/>
          </a:prstGeom>
          <a:solidFill>
            <a:srgbClr val="1A2744"/>
          </a:solidFill>
          <a:ln w="12700">
            <a:solidFill>
              <a:srgbClr val="1A2744"/>
            </a:solidFill>
            <a:prstDash val="solid"/>
          </a:ln>
        </p:spPr>
        <p:txBody>
          <a:bodyPr/>
          <a:lstStyle/>
          <a:p>
            <a:endParaRPr lang="en-US"/>
          </a:p>
        </p:txBody>
      </p:sp>
      <p:sp>
        <p:nvSpPr>
          <p:cNvPr id="3" name="Shape 1"/>
          <p:cNvSpPr/>
          <p:nvPr/>
        </p:nvSpPr>
        <p:spPr>
          <a:xfrm>
            <a:off x="0" y="0"/>
            <a:ext cx="12161520" cy="64008"/>
          </a:xfrm>
          <a:prstGeom prst="rect">
            <a:avLst/>
          </a:prstGeom>
          <a:solidFill>
            <a:srgbClr val="C89728"/>
          </a:solidFill>
          <a:ln w="12700">
            <a:solidFill>
              <a:srgbClr val="C89728"/>
            </a:solidFill>
            <a:prstDash val="solid"/>
          </a:ln>
        </p:spPr>
        <p:txBody>
          <a:bodyPr/>
          <a:lstStyle/>
          <a:p>
            <a:endParaRPr lang="en-US"/>
          </a:p>
        </p:txBody>
      </p:sp>
      <p:sp>
        <p:nvSpPr>
          <p:cNvPr id="4" name="Text 2"/>
          <p:cNvSpPr/>
          <p:nvPr/>
        </p:nvSpPr>
        <p:spPr>
          <a:xfrm>
            <a:off x="1645920" y="164592"/>
            <a:ext cx="10058400" cy="502920"/>
          </a:xfrm>
          <a:prstGeom prst="rect">
            <a:avLst/>
          </a:prstGeom>
          <a:noFill/>
          <a:ln/>
        </p:spPr>
        <p:txBody>
          <a:bodyPr wrap="square" rtlCol="0" anchor="ctr"/>
          <a:lstStyle/>
          <a:p>
            <a:pPr marL="0" indent="0">
              <a:buNone/>
            </a:pPr>
            <a:r>
              <a:rPr lang="en-US" sz="2200" b="1" dirty="0">
                <a:solidFill>
                  <a:srgbClr val="1A2744"/>
                </a:solidFill>
                <a:latin typeface="Calibri" pitchFamily="34" charset="0"/>
                <a:ea typeface="Calibri" pitchFamily="34" charset="-122"/>
                <a:cs typeface="Calibri" pitchFamily="34" charset="-120"/>
              </a:rPr>
              <a:t>Six Questions. Six Answers.</a:t>
            </a:r>
            <a:endParaRPr lang="en-US" sz="2200" dirty="0"/>
          </a:p>
        </p:txBody>
      </p:sp>
      <p:sp>
        <p:nvSpPr>
          <p:cNvPr id="5" name="Shape 3"/>
          <p:cNvSpPr/>
          <p:nvPr/>
        </p:nvSpPr>
        <p:spPr>
          <a:xfrm>
            <a:off x="1645920" y="658368"/>
            <a:ext cx="10058400" cy="27432"/>
          </a:xfrm>
          <a:prstGeom prst="rect">
            <a:avLst/>
          </a:prstGeom>
          <a:solidFill>
            <a:srgbClr val="C89728"/>
          </a:solidFill>
          <a:ln w="12700">
            <a:solidFill>
              <a:srgbClr val="C89728"/>
            </a:solidFill>
            <a:prstDash val="solid"/>
          </a:ln>
        </p:spPr>
        <p:txBody>
          <a:bodyPr/>
          <a:lstStyle/>
          <a:p>
            <a:endParaRPr lang="en-US"/>
          </a:p>
        </p:txBody>
      </p:sp>
      <p:sp>
        <p:nvSpPr>
          <p:cNvPr id="6" name="Shape 4"/>
          <p:cNvSpPr/>
          <p:nvPr/>
        </p:nvSpPr>
        <p:spPr>
          <a:xfrm>
            <a:off x="1691640" y="987552"/>
            <a:ext cx="1920240" cy="237744"/>
          </a:xfrm>
          <a:prstGeom prst="rect">
            <a:avLst/>
          </a:prstGeom>
          <a:solidFill>
            <a:srgbClr val="243362"/>
          </a:solidFill>
          <a:ln w="12700">
            <a:solidFill>
              <a:srgbClr val="243362"/>
            </a:solidFill>
            <a:prstDash val="solid"/>
          </a:ln>
        </p:spPr>
        <p:txBody>
          <a:bodyPr/>
          <a:lstStyle/>
          <a:p>
            <a:endParaRPr lang="en-US"/>
          </a:p>
        </p:txBody>
      </p:sp>
      <p:sp>
        <p:nvSpPr>
          <p:cNvPr id="7" name="Text 5"/>
          <p:cNvSpPr/>
          <p:nvPr/>
        </p:nvSpPr>
        <p:spPr>
          <a:xfrm>
            <a:off x="1691640" y="987552"/>
            <a:ext cx="1920240" cy="237744"/>
          </a:xfrm>
          <a:prstGeom prst="rect">
            <a:avLst/>
          </a:prstGeom>
          <a:noFill/>
          <a:ln/>
        </p:spPr>
        <p:txBody>
          <a:bodyPr wrap="square"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SUMMARY</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691640" y="1261872"/>
          <a:ext cx="10195560" cy="4206240"/>
        </p:xfrm>
        <a:graphic>
          <a:graphicData uri="http://schemas.openxmlformats.org/drawingml/2006/table">
            <a:tbl>
              <a:tblPr/>
              <a:tblGrid>
                <a:gridCol w="59436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gridCol w="3931920">
                  <a:extLst>
                    <a:ext uri="{9D8B030D-6E8A-4147-A177-3AD203B41FA5}">
                      <a16:colId xmlns:a16="http://schemas.microsoft.com/office/drawing/2014/main" val="20003"/>
                    </a:ext>
                  </a:extLst>
                </a:gridCol>
              </a:tblGrid>
              <a:tr h="749808">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RQ</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27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Question</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27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Core Finding</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27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Key Numbers</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749808">
                <a:tc>
                  <a:txBody>
                    <a:bodyPr/>
                    <a:lstStyle/>
                    <a:p>
                      <a:pPr marL="0" indent="0" algn="ctr">
                        <a:buNone/>
                      </a:pPr>
                      <a:r>
                        <a:rPr lang="en-US" sz="1100" b="1" dirty="0">
                          <a:solidFill>
                            <a:srgbClr val="1A2744"/>
                          </a:solidFill>
                          <a:latin typeface="Calibri" pitchFamily="34" charset="0"/>
                          <a:ea typeface="Calibri" pitchFamily="34" charset="-122"/>
                          <a:cs typeface="Calibri" pitchFamily="34" charset="-120"/>
                        </a:rPr>
                        <a:t>RQ 1</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How much capital buffer before the rule?</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Critically thin — very little room to absorb the new requirement</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72bp average buffer  ·  696 complex CUs</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9808">
                <a:tc>
                  <a:txBody>
                    <a:bodyPr/>
                    <a:lstStyle/>
                    <a:p>
                      <a:pPr marL="0" indent="0" algn="ctr">
                        <a:buNone/>
                      </a:pPr>
                      <a:r>
                        <a:rPr lang="en-US" sz="1100" b="1" dirty="0">
                          <a:solidFill>
                            <a:srgbClr val="1A2744"/>
                          </a:solidFill>
                          <a:latin typeface="Calibri" pitchFamily="34" charset="0"/>
                          <a:ea typeface="Calibri" pitchFamily="34" charset="-122"/>
                          <a:cs typeface="Calibri" pitchFamily="34" charset="-120"/>
                        </a:rPr>
                        <a:t>RQ 2</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Did complex CUs hold more capital?</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Mixed — average capital rose but well-cap share fell</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NW ratio +46bp  ·  Well-cap probability −3.7pp</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49808">
                <a:tc>
                  <a:txBody>
                    <a:bodyPr/>
                    <a:lstStyle/>
                    <a:p>
                      <a:pPr marL="0" indent="0" algn="ctr">
                        <a:buNone/>
                      </a:pPr>
                      <a:r>
                        <a:rPr lang="en-US" sz="1100" b="1" dirty="0">
                          <a:solidFill>
                            <a:srgbClr val="1A2744"/>
                          </a:solidFill>
                          <a:latin typeface="Calibri" pitchFamily="34" charset="0"/>
                          <a:ea typeface="Calibri" pitchFamily="34" charset="-122"/>
                          <a:cs typeface="Calibri" pitchFamily="34" charset="-120"/>
                        </a:rPr>
                        <a:t>RQ 3</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Did loan rate spreads change?</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Yes — complete pass-through confirmed across every loan type</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Mortgage +73bp  ·  New auto +56bp  ·  Used auto +76bp  ·  Commercial +66bp</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49808">
                <a:tc>
                  <a:txBody>
                    <a:bodyPr/>
                    <a:lstStyle/>
                    <a:p>
                      <a:pPr marL="0" indent="0" algn="ctr">
                        <a:buNone/>
                      </a:pPr>
                      <a:r>
                        <a:rPr lang="en-US" sz="1100" b="1" dirty="0">
                          <a:solidFill>
                            <a:srgbClr val="1A2744"/>
                          </a:solidFill>
                          <a:latin typeface="Calibri" pitchFamily="34" charset="0"/>
                          <a:ea typeface="Calibri" pitchFamily="34" charset="-122"/>
                          <a:cs typeface="Calibri" pitchFamily="34" charset="-120"/>
                        </a:rPr>
                        <a:t>RQ 4</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Did asset and loan growth change?</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Yes — both fell sharply with no recovery; auto exit is permanent</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Loan growth −0.44pp/qtr  ·  No recovery through 10+ quarters</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49808">
                <a:tc>
                  <a:txBody>
                    <a:bodyPr/>
                    <a:lstStyle/>
                    <a:p>
                      <a:pPr marL="0" indent="0" algn="ctr">
                        <a:buNone/>
                      </a:pPr>
                      <a:r>
                        <a:rPr lang="en-US" sz="1100" b="1" dirty="0">
                          <a:solidFill>
                            <a:srgbClr val="1A2744"/>
                          </a:solidFill>
                          <a:latin typeface="Calibri" pitchFamily="34" charset="0"/>
                          <a:ea typeface="Calibri" pitchFamily="34" charset="-122"/>
                          <a:cs typeface="Calibri" pitchFamily="34" charset="-120"/>
                        </a:rPr>
                        <a:t>RQ 5</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What are the financial stability implications?</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Quantifiable but modest protection — the rule shields ~24 institutions; most capital was already building before the rule</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+3.4pp failure risk without rule  ·  ~24 institutions  ·  $14B assets each</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49808">
                <a:tc>
                  <a:txBody>
                    <a:bodyPr/>
                    <a:lstStyle/>
                    <a:p>
                      <a:pPr marL="0" indent="0" algn="ctr">
                        <a:buNone/>
                      </a:pPr>
                      <a:r>
                        <a:rPr lang="en-US" sz="1100" b="1" dirty="0">
                          <a:solidFill>
                            <a:srgbClr val="1A2744"/>
                          </a:solidFill>
                          <a:latin typeface="Calibri" pitchFamily="34" charset="0"/>
                          <a:ea typeface="Calibri" pitchFamily="34" charset="-122"/>
                          <a:cs typeface="Calibri" pitchFamily="34" charset="-120"/>
                        </a:rPr>
                        <a:t>RQ 6</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Did the CCULR relief provision work?</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No — CCULR provided no measurable relief; adopters were already distressed; $400M–$1B institutions were hardest hit</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No significant improvement in lending or profitability for CCULR adopters</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9" name="Shape 6"/>
          <p:cNvSpPr/>
          <p:nvPr/>
        </p:nvSpPr>
        <p:spPr>
          <a:xfrm>
            <a:off x="1691640" y="5596128"/>
            <a:ext cx="10195560" cy="749808"/>
          </a:xfrm>
          <a:prstGeom prst="rect">
            <a:avLst/>
          </a:prstGeom>
          <a:solidFill>
            <a:srgbClr val="1A2744"/>
          </a:solidFill>
          <a:ln w="12700">
            <a:solidFill>
              <a:srgbClr val="1A2744"/>
            </a:solidFill>
            <a:prstDash val="solid"/>
          </a:ln>
        </p:spPr>
        <p:txBody>
          <a:bodyPr/>
          <a:lstStyle/>
          <a:p>
            <a:endParaRPr lang="en-US"/>
          </a:p>
        </p:txBody>
      </p:sp>
      <p:sp>
        <p:nvSpPr>
          <p:cNvPr id="10" name="Shape 7"/>
          <p:cNvSpPr/>
          <p:nvPr/>
        </p:nvSpPr>
        <p:spPr>
          <a:xfrm>
            <a:off x="1691640" y="5596128"/>
            <a:ext cx="82296" cy="749808"/>
          </a:xfrm>
          <a:prstGeom prst="rect">
            <a:avLst/>
          </a:prstGeom>
          <a:solidFill>
            <a:srgbClr val="C89728"/>
          </a:solidFill>
          <a:ln w="12700">
            <a:solidFill>
              <a:srgbClr val="C89728"/>
            </a:solidFill>
            <a:prstDash val="solid"/>
          </a:ln>
        </p:spPr>
        <p:txBody>
          <a:bodyPr/>
          <a:lstStyle/>
          <a:p>
            <a:endParaRPr lang="en-US"/>
          </a:p>
        </p:txBody>
      </p:sp>
      <p:sp>
        <p:nvSpPr>
          <p:cNvPr id="8" name="Text 8"/>
          <p:cNvSpPr/>
          <p:nvPr/>
        </p:nvSpPr>
        <p:spPr>
          <a:xfrm>
            <a:off x="1828800" y="5596128"/>
            <a:ext cx="9966960" cy="74980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Across all five research questions, the findings are consistent: complex credit unions responded to the rule’s capital incentive primarily through higher loan rates, reduced lending volume, portfolio reallocation, and lower profitability — rather than through material improvements in financial stability outcomes at the system level.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2302</Words>
  <Application>Microsoft Macintosh PowerPoint</Application>
  <PresentationFormat>Widescreen</PresentationFormat>
  <Paragraphs>236</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Saurabh Datta</cp:lastModifiedBy>
  <cp:revision>1</cp:revision>
  <dcterms:created xsi:type="dcterms:W3CDTF">2026-04-16T14:07:35Z</dcterms:created>
  <dcterms:modified xsi:type="dcterms:W3CDTF">2026-04-16T14:15:05Z</dcterms:modified>
</cp:coreProperties>
</file>