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9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588E7-2892-294E-93EF-393B7DB5006B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60745-D3B0-A041-BE28-491A30CD7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6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C892-7A78-769A-1F98-FE5B57DD8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E2725-A600-3590-4ED4-53046E090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4B920-98C9-72C4-409E-E8A07A7A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893E6-7770-D7FD-B23C-79739FF4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0A338-C102-9E5A-BE54-E353EBD7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1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892C-CE48-ABB4-B064-D3B327F9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DBA6-B4D6-D595-9F6D-4A4C18EE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9B01B-512F-7EF8-AB19-86DB0775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F68C-088C-2060-4280-8C365485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7E6D1-B6E0-0B23-5F9F-10680FB0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4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FEF5-E144-D1A3-78C6-E27501A2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13E8D-12D2-5FB2-EFE8-533B05224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AE372-B57C-4CF5-141C-32EEF0B3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99F6C-4C88-4361-6ECA-566CC351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93AE-2600-4E3C-3D9E-23353219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8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77BC-3125-C33F-C4C1-A3FB942B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7B945-6083-108C-2A7B-B2ECD4617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21A38-B6A6-57DC-3E86-47CAA9CFF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C5061-4A8C-97D2-9163-FEF77783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1DF82-C537-60E7-8B36-2AC5D60F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A737F-5A6E-F858-A225-3D146476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7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8867-6386-991D-AA2E-C5CD5B0A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4C655-781B-C13E-4C86-7C6E99BD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90B6F-2FC5-6BD3-1C44-9996BCA7D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7FAF8-2393-6E34-1FAD-E1B3F4ABC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ED4FA-A7A8-8267-830E-8851B8B34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7E60D-4C88-2955-84A1-5F3641F3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93D922-B0D4-98FD-9924-175CF081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75F52-39E1-D82E-F39C-C1412B6C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2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E8F8-62CA-363D-196C-A0246F8F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8D95D-F465-37A0-324F-34AA7718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33D36-8BD7-9987-99E6-CADEE168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0647D-755E-3F78-8946-EF8868AA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3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FD725-28C1-1E87-0688-C8AC416F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CA3CA-A88F-2B1D-1DE1-7F769065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0D011-C2CB-7568-6B60-A2027877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0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0FC0-A68A-27C4-3B39-5856BE17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F155E-2B80-3AF8-62B4-D234D6ABC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51D80-9564-BC43-880E-32E71DEF4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D514-E0DF-BA95-BDC4-593B1D49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4920-60E4-05C9-6E95-E4B84800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EEA81-2CE8-8A0F-CB28-153D13AB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8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8D65-1B7F-BE8A-C0A2-23C1767A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CE41C-D93B-A2C5-3DFC-051F750E3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E3CC6-2B3D-D7F7-246A-03E271C7A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757A9-3AAE-1740-33C8-5F739DF4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1FB59-B0F3-F3F8-C6B4-DB130F5B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E11A2-F1BD-1F52-B40B-BD1AB410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6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F2E3-7DD4-ED21-4A85-C99C8042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EE9E0-C7B2-74A5-368E-FF8D308FB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E32FB-48CC-7779-1454-E12C679F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EC1EA-9198-C4EA-3C4C-88771E40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DD9D-B5AB-3379-C231-48097D37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7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0CE6C-67DB-7112-F104-749111744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19489-056F-4C4E-0FD0-B5F2E692C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64D5-6EA4-C388-795F-80B0B1D8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48A9A-A710-5AF5-9D68-7A2ECC32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E364A-120E-7FC8-4F5D-6CD2558A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88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A74C5-7C62-100D-5171-F75B6CD3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B8423-8B0B-4FAD-5F15-1A0EF8CCA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1ACE0-7004-0417-4624-79C74BAC1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1EB43-544F-4946-A3E5-89A1723FCC4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1834C-4607-23A2-E071-FC4FA03B4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ED9E3-570B-D5BA-CFAC-A23EE8ACA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DEACB-E5C5-B644-B908-2FEB1FF77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7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 — Did Capital Levels Rise?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rule cause complex credit unions to hold more capital?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ratio increase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Well-capitalized probability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(p &lt; 0.01)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364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EXPLAINED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rose — institutions did respond to the rule’s incentive to build reserves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definition of “well-capitalized” changed simultaneously, raising the bar further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capital on average, but fewer institutions clearing the new bar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91640" y="4572000"/>
            <a:ext cx="502920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4572000"/>
            <a:ext cx="64008" cy="65836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0" y="461772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Every student studied harder and raised their score — but the passing grade was raised even more. Average scores went up, yet more students are technically failing. Both facts are true simultaneously.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5321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“WELL-CAPITALIZED” MEAN?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5504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regulatory classification: a complex CU must hold at least 10% net worth relative to risk-weighted assets. Institutions below this threshold face additional regulatory scrutiny.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331720"/>
            <a:ext cx="36576" cy="438912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 (Figure3_EventStudy_Capital.png)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3246120" cy="352044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4069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Figure3_EventStudy_Capital.png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6108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flat across all panels 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4128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PANEL SHOWS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41280" y="2514600"/>
            <a:ext cx="27432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2412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61320" y="2532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Ratio  ↑  RISES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241280" y="27889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sharply at Q0, stays elevated through Q+8 — capital accumulation is real and sustained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241280" y="3355848"/>
            <a:ext cx="274320" cy="274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2412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61320" y="3374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Near-threshold CUs  ↓  STRUGGLES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0" y="3630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 closest to 10% pre-rule saw their buffer shrink post-Q0 — compliance costs consumed retained earnings faster than capital could build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241280" y="4197096"/>
            <a:ext cx="274320" cy="274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241280" y="4197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61320" y="42153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Well-Capitalized %  ↓  FALLS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241280" y="447141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at Q0 and stays down through Q+8 — the new bar rose faster than most institutions could clear 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241280" y="5038344"/>
            <a:ext cx="274320" cy="274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241280" y="5038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561320" y="5056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Growth  ↓  FALLS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241280" y="5312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at Q0 with no recovery — lending never bounces back within the observation window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03720" y="5897880"/>
            <a:ext cx="512064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03720" y="5897880"/>
            <a:ext cx="64008" cy="7132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22592" y="592531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Q+2: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keeps rising through Q+8 with no sign of reversal — the rule is permanently reshaping balance sheets. But well-capitalized status and loan growth show no recovery in the same window, confirming the rule’s costs are just as permanent as its capital benefit.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Macintosh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Datta</dc:creator>
  <cp:lastModifiedBy>Saurabh Datta</cp:lastModifiedBy>
  <cp:revision>1</cp:revision>
  <dcterms:created xsi:type="dcterms:W3CDTF">2026-04-16T19:22:49Z</dcterms:created>
  <dcterms:modified xsi:type="dcterms:W3CDTF">2026-04-16T19:23:06Z</dcterms:modified>
</cp:coreProperties>
</file>