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705993-3EE6-1E46-B6B1-0B58B31ED896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CC5CFB-CD6C-284E-AE81-51ECFC9E8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039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248FF-3D87-15B0-0AAE-D285F94A5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32C4EF-F399-5A95-A4B0-7D5074EF3C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2E1A8-10D8-DB52-7307-3A098CDE4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4AEF7-6ECE-3F06-51F8-DF8C9978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7E7A3-28DA-8A51-B534-29FF83E6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149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F2C7-53EF-20B8-FF8A-C09C712D8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0610B-7F8C-F42D-9045-E7CF3E0B4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9FD8D-160B-0818-CC06-918961B33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9599C-305B-BE5F-B9C3-62CF438B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D5B28-9599-DCEB-7920-383D19173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653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1E6AF-FCCA-E4A8-9223-26E92D467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19BB4-9C48-2DD7-2BBC-4C77AECF26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D1739-6F70-F34E-9C51-15EED8FA8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C617E7-CD67-21EF-9D48-1FA3F111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E0FEE-BD91-9FFA-53A5-4B18C2F0F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031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361CA-07D0-F1F8-A753-1D4066602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E54F0-D266-37A7-47A8-E80BF708A3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56EFF-3E9E-64D7-5DAF-9324541897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540F0-2C33-AF46-31BA-F92DFF8CB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F8B7DC-9503-89A5-606C-53D84FDF7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228652-20CC-CBCE-AEE9-9490586F4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0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63540-6CB6-0141-D273-339774D0E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67527-88E5-7396-4756-8EC5D39BD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9BA7B-152A-3602-6541-D46E5B7A8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37BE12-4161-3C35-A977-1B86676C51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AF096E-24E7-059E-17C7-A52207505C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0EC22C-4631-97FE-802E-215BBD245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374BFA-3A60-413E-4E33-EED9D2269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C6D024-32BF-7A4C-0F25-E5A5F7F8D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78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A2BA8-5833-2D64-69B1-5E1A81E57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281DA0-9749-55F0-D5BB-9639B6D31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29990-2C07-70A4-BCBC-CE68A83F1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D3A5AD-413E-3C03-896F-0A929D9E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411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AA28C-44FF-672D-D1C6-EE2272BEB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AF5FCC-1A73-9478-0FFC-AD1EAC876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E11-A1B3-0F81-A9B2-6BC3564B4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972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6900B-93D6-96EE-EBC8-30052256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809EE-0170-4D13-4A52-BB00D7620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EBE902-951C-DC35-1272-0A810A2126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F0B549-EC14-0575-9631-F02F655BE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D7B19-00EA-9ED7-CCB5-8F500B466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3A77E-96D8-C366-EA79-1D22F78AF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985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ED7B-2648-8846-044F-DA97F5304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B03BFA-C7C7-1466-A839-18C86642C8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2A9B41-55BD-31D6-052F-9AB7BCD019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86805-5E6D-94E7-E433-E2E62150D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15D62A-3598-28FF-9C52-3D977E3BB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8553-E627-0D30-9460-B53B4500B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407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741A3-4B3C-A4C8-A77E-E2B027FF9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E7B8D3-B9FB-BC8B-5221-46FAC10445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F0D0F8-5EE1-AE74-AD42-87D755F2F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1B84BC-3468-6C68-4DBD-F062F9A68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54974-32CD-2AFD-D067-5B2573C7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857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584FF0-2467-1B55-43AD-1DC624ECA6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BDF8EB-C768-10CF-7D6C-B23F53462C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E8FE37-91A8-6F5F-712B-C19C015AA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4EB67-263A-0A5A-21CC-D1A2D575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F8D59-9526-3183-9F06-C296CA81E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94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6761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52E2C6-B5A2-A20C-A7F6-B5C9AF83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C81DD-4CCA-0CAF-950C-2BE429B7C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4CCC5-0F12-78EF-A43C-176F84F74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BA66D-2195-DC42-2C9A-83123B933E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FDCD3-3658-5F6A-40DF-8193BDDC34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185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A25A8-7BC9-C247-1E15-7944A7B5FB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08AD8F-488A-8A7C-300C-DE6A40EEE3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6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Studied — and How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91640" y="10515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91640" y="1261872"/>
            <a:ext cx="502920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 complex credit unions — avg assets ≥ $500M, classified using 2021 data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~4,488 non-complex credit unions as the comparison group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150,000+ CU-quarters of NCUA Call Report data, 2000–2025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outcomes: capital, loan rates, volume, portfolio mix, profitability, loan quality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691640" y="24231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RULE’S TIMELINE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91640" y="2660904"/>
            <a:ext cx="164592" cy="164592"/>
          </a:xfrm>
          <a:prstGeom prst="ellipse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764792" y="2825496"/>
            <a:ext cx="18288" cy="27432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20240" y="2624328"/>
            <a:ext cx="960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2014–2015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907792" y="2624328"/>
            <a:ext cx="3767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first proposed by NCUA; revised after industry comment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691640" y="3044952"/>
            <a:ext cx="164592" cy="164592"/>
          </a:xfrm>
          <a:prstGeom prst="ellipse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764792" y="3209544"/>
            <a:ext cx="18288" cy="27432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920240" y="3008376"/>
            <a:ext cx="960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2015–2021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907792" y="3008376"/>
            <a:ext cx="3767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delayed multiple times due to industry pushback and congressional scrutiny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91640" y="3429000"/>
            <a:ext cx="164592" cy="164592"/>
          </a:xfrm>
          <a:prstGeom prst="ellipse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920240" y="3392424"/>
            <a:ext cx="960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07792" y="3392424"/>
            <a:ext cx="3767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takes effect — institutions had 7+ years of advance notice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691640" y="365760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METHOD: DIFFERENCE-IN-DIFFERENCES (DiD)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691640" y="3858768"/>
            <a:ext cx="1572768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46504" y="38587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CUs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746504" y="42976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vs. after rule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01568" y="3858768"/>
            <a:ext cx="1572768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56432" y="38587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non-complex CUs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56432" y="42976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time window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0" y="4023360"/>
            <a:ext cx="292608" cy="292608"/>
          </a:xfrm>
          <a:prstGeom prst="ellipse">
            <a:avLst/>
          </a:prstGeom>
          <a:solidFill>
            <a:srgbClr val="E8E4DC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0" y="4023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864608" y="4023360"/>
            <a:ext cx="292608" cy="292608"/>
          </a:xfrm>
          <a:prstGeom prst="ellipse">
            <a:avLst/>
          </a:prstGeom>
          <a:solidFill>
            <a:srgbClr val="E8E4DC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64608" y="4023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230368" y="3858768"/>
            <a:ext cx="1444752" cy="7498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276088" y="3858768"/>
            <a:ext cx="13533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Rule’s Effect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76088" y="4261104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3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from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3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691640" y="4709160"/>
            <a:ext cx="5029200" cy="59436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691640" y="4709160"/>
            <a:ext cx="64008" cy="59436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828800" y="4754880"/>
            <a:ext cx="48280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works: Non-complex CUs faced the same economic conditions but were not subject to the RBC rule. Any difference between the two groups, after accounting for pre-existing trends, isolates the rule’s effect.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766560" y="1005840"/>
            <a:ext cx="36576" cy="571500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903720" y="10515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EVENT STUDY CHARTS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31152" y="1261872"/>
            <a:ext cx="4919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r>
              <a:rPr lang="en-US" sz="10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Q0 — flat lines near zero: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both groups moved together. The comparison is valid.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931152" y="1645920"/>
            <a:ext cx="4919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r>
              <a:rPr lang="en-US" sz="10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Q0 — line moves away from zero: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movement is the rule’s estimated effect on complex CUs.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931152" y="2029968"/>
            <a:ext cx="4919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r>
              <a:rPr lang="en-US" sz="10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band: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uncertainty range. If it crosses zero, the effect at that point is not statistically conclusive.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931152" y="2432304"/>
            <a:ext cx="4919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UP = increased   </a:t>
            </a:r>
            <a:r>
              <a:rPr lang="en-US" sz="10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DOWN = decreased   </a:t>
            </a:r>
            <a:r>
              <a:rPr lang="en-US" sz="9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(relative to non-complex CUs, after Q0)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931152" y="2743200"/>
            <a:ext cx="4892040" cy="27432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Image 0" descr="event_study_explai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798064"/>
            <a:ext cx="5120640" cy="38313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256</Words>
  <Application>Microsoft Macintosh PowerPoint</Application>
  <PresentationFormat>Widescreen</PresentationFormat>
  <Paragraphs>32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Saurabh Datta</dc:creator>
  <cp:lastModifiedBy>Saurabh Datta</cp:lastModifiedBy>
  <cp:revision>1</cp:revision>
  <dcterms:created xsi:type="dcterms:W3CDTF">2026-04-20T19:15:26Z</dcterms:created>
  <dcterms:modified xsi:type="dcterms:W3CDTF">2026-04-20T19:18:55Z</dcterms:modified>
</cp:coreProperties>
</file>