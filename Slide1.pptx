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17-E241-A9F2-2C5F4DE86A36}"/>
              </c:ext>
            </c:extLst>
          </c:dPt>
          <c:dPt>
            <c:idx val="1"/>
            <c:invertIfNegative val="0"/>
            <c:bubble3D val="0"/>
            <c:spPr>
              <a:solidFill>
                <a:srgbClr val="9B2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17-E241-A9F2-2C5F4DE86A3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Rule</c:v>
                </c:pt>
                <c:pt idx="1">
                  <c:v>Without Rule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19.399999999999999</c:v>
                </c:pt>
                <c:pt idx="1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17-E241-A9F2-2C5F4DE86A3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17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1EB"/>
    </a:solidFill>
    <a:ln w="6350" cap="flat">
      <a:solidFill>
        <a:srgbClr val="C8C0B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15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3474720" cy="7315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4114800"/>
            <a:ext cx="2468880" cy="2468880"/>
          </a:xfrm>
          <a:prstGeom prst="ellipse">
            <a:avLst/>
          </a:prstGeom>
          <a:solidFill>
            <a:srgbClr val="243362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120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5577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5379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www.ncua.gov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 ·  Office of the Chief Economist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2022 NCUA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Capital Rule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840480" y="3383280"/>
            <a:ext cx="7772400" cy="457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34930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Findings from an Analysis of Complex Credit Unions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5303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Call Report Data, 2000–2025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Studied — and How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91640" y="1051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261872"/>
            <a:ext cx="50292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 complex credit unions — avg assets ≥ $500M, classified using 2021 data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~4,488 non-complex credit unions as the comparison group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 CU-quarters of NCUA Call Report data, 2000–2025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outcomes: capital, loan rates, volume, portfolio mix, profitability, loan quality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RULE’S TIMELINE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2660904"/>
            <a:ext cx="164592" cy="164592"/>
          </a:xfrm>
          <a:prstGeom prst="ellipse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64792" y="2825496"/>
            <a:ext cx="18288" cy="27432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262432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07792" y="2624328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first proposed by NCUA; revised after industry comment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91640" y="3044952"/>
            <a:ext cx="164592" cy="164592"/>
          </a:xfrm>
          <a:prstGeom prst="ellipse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64792" y="3209544"/>
            <a:ext cx="18288" cy="27432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300837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07792" y="300837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delayed multiple times due to industry pushback and congressional scrutiny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91640" y="3429000"/>
            <a:ext cx="164592" cy="164592"/>
          </a:xfrm>
          <a:prstGeom prst="ellipse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339242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07792" y="3392424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takes effect — institutions had 7+ years of advance notice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3657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METHOD: DIFFERENCE-IN-DIFFERENCES (DiD)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91640" y="3858768"/>
            <a:ext cx="1572768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46504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46504" y="4297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rule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3858768"/>
            <a:ext cx="1572768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3858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non-complex CUs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4297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window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4023360"/>
            <a:ext cx="292608" cy="29260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64608" y="4023360"/>
            <a:ext cx="292608" cy="292608"/>
          </a:xfrm>
          <a:prstGeom prst="ellipse">
            <a:avLst/>
          </a:prstGeom>
          <a:solidFill>
            <a:srgbClr val="E8E4DC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30368" y="3858768"/>
            <a:ext cx="1444752" cy="7498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76088" y="3858768"/>
            <a:ext cx="1353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Rule’s Effect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76088" y="4261104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43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433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91640" y="4709160"/>
            <a:ext cx="5029200" cy="59436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691640" y="4709160"/>
            <a:ext cx="64008" cy="59436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0" y="475488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 Non-complex CUs faced the same economic conditions but were not subject to the RBC rule. Any difference between the two groups, after accounting for pre-existing trends, isolates the rule’s effect.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66560" y="1005840"/>
            <a:ext cx="36576" cy="571500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03720" y="10515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EVENT STUDY CHARTS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31152" y="1261872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Q0 — flat lines near zero: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groups moved together. The comparison is valid.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31152" y="1645920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Q0 — line moves away from zero: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movement is the rule’s estimated effect on complex CUs.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31152" y="2029968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band: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uncertainty range. If it crosses zero, the effect at that point is not statistically conclusive.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31152" y="2432304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UP = increased   </a:t>
            </a: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 = decreased   </a:t>
            </a: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(relative to non-complex CUs, after Q0)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31152" y="2743200"/>
            <a:ext cx="4892040" cy="27432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0" descr="event_study_expl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98064"/>
            <a:ext cx="5120640" cy="3831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 — Pre-Rule Capital Buffer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capital buffer did complex credit unions hold before the rule?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average complex credit union entered the rule with a buffer of just 72 basis points above the new 10% threshold — leaving very little room to absorb the new requirement without significant adjustment.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23591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56032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 are the largest, most systemically significant institutions in the credit union system — those with average assets at or above $500 million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rule, the typical complex CU held capital just barely above the existing standard; the new 10% threshold was meaningfully higher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institutions were holding only the bare minimum — the chart shows the tallest spike right at the 10% threshold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left almost no cushion to absorb the new requirement without raising rates, cutting lending, or squeezing profits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91640" y="4224528"/>
            <a:ext cx="5029200" cy="621792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91640" y="4224528"/>
            <a:ext cx="64008" cy="62179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0" y="4270248"/>
            <a:ext cx="4828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rule requiring additional capital is always more costly when institutions start with little room to spare. This thin buffer set the stage for the pressures in RQ2–RQ4.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91640" y="4919472"/>
            <a:ext cx="5029200" cy="5486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91640" y="4919472"/>
            <a:ext cx="64008" cy="54864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4965192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basis point? One basis point (bp) = one-hundredth of a percentage point. A 72bp buffer means holding 10.72% capital against a 10.00% threshold.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1640" y="5440680"/>
            <a:ext cx="239572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83080" y="5513832"/>
            <a:ext cx="2212848" cy="342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72bp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83080" y="5802782"/>
            <a:ext cx="2212848" cy="26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pre-rule buffer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10% threshold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87952" y="5440680"/>
            <a:ext cx="24871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79392" y="5513832"/>
            <a:ext cx="2304288" cy="342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279392" y="5802782"/>
            <a:ext cx="2304288" cy="26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(fixed 2021)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331720"/>
            <a:ext cx="36576" cy="4315968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22592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PRE-RULE NET WORTH RATIO DISTRIBUTION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22592" y="2514600"/>
            <a:ext cx="4956048" cy="370332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22592" y="4069080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output/figures/fig_nw_ratio_distribution_complex_prerbc.png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22592" y="6172200"/>
            <a:ext cx="4956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a credit union. The tall cluster just at 10% shows how many institutions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almost exactly the minimum required capital — with very little room to spare.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 — Did Capital Levels Rise?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rule cause complex credit unions to hold more capital?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Mixed. Average capital levels rose — but fewer institutions are now meeting the well-capitalized standard. The bar rose faster than capital could accumulate.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2331720"/>
            <a:ext cx="347472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+46bp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ratio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331720"/>
            <a:ext cx="33375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240487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−3.7pp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66360" y="2834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 probability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(p &lt; 0.01)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EXPLAINED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rose — institutions responded to the rule’s incentive to build reserves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“well-capitalized” bar rose simultaneously, faster than capital could accumulate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capital on average, but fewer institutions clearing the new bar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91640" y="4572000"/>
            <a:ext cx="5029200" cy="59436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4572000"/>
            <a:ext cx="64008" cy="59436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461772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Every student studied harder — but the passing grade rose even more. Scores went up, yet more students are failing. Both facts are true simultaneously.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52578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“WELL-CAPITALIZED” MEAN?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5440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CU must hold at least 10% net worth against risk-weighted assets. Falling below this triggers additional regulatory scrutiny.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331720"/>
            <a:ext cx="36576" cy="438912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(Figure3_EventStudy_Capital.png)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3246120" cy="35204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4069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Figure3_EventStudy_Capital.png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61081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flat across all panels 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4128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PANEL SHOWS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241280" y="2514600"/>
            <a:ext cx="27432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2412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61320" y="2532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Ratio — RISES THEN FALLS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4128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builds for 2 quarters then retreats — the rule produced a temporary adjustment, not a lasting gain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241280" y="3355848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2412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61320" y="3374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Near-threshold CUs — WORSE OFF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0" y="3630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 closest to 10% ended below where they started — compliance costs outpaced their ability to build capital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241280" y="4197096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241280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61320" y="42153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Well-Capitalized % ↓ FALLS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241280" y="447141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fewer institutions clear the new bar — the standard rose faster than capital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241280" y="5038344"/>
            <a:ext cx="274320" cy="274320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241280" y="5038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561320" y="5056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 — NO RECOVERY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241280" y="53126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contracts and never bounces back — the cost of compliance was permanent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03720" y="5897880"/>
            <a:ext cx="5120640" cy="7132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03720" y="5897880"/>
            <a:ext cx="64008" cy="7132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22592" y="592531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Q+2: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fades, lending stays depressed, and the well-capitalized rate never recovers. The rule’s costs proved permanent; its capital benefit did not.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 — Did Loan Rates and Lending Change?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loan rate spreads and lending volume change significantly after the RBC rule?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 — rates rose across every loan type and lending contracted. Both effects are large, persistent, and show no sign of reversing.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2331720"/>
            <a:ext cx="1965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+73bp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76472" y="2331720"/>
            <a:ext cx="1965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22192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+56bp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822192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61304" y="2331720"/>
            <a:ext cx="1965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07024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+76bp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907024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auto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46136" y="2331720"/>
            <a:ext cx="1965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91856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+66bp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91856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30968" y="2331720"/>
            <a:ext cx="1965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76688" y="2331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C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−0.44pp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0076688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quarter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3273552"/>
            <a:ext cx="10195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effects statistically significant at p &lt; 0.001 — persistent through 10+ quarters with no sign of convergence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3584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1640" y="376732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unions raised rates to cover higher capital costs — the entire regulatory cost was passed to member-borrowers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73bp increase on a $300,000 30-year mortgage adds roughly $150 per month in payments (assuming a 7% base rate)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contracted at 0.44pp per quarter and never recovered — tighter credit is the direct cost to members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reversed within the observation window — these are permanent shifts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691640" y="5285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PANEL SHOWS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91640" y="5468112"/>
            <a:ext cx="219456" cy="219456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91640" y="54681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47672" y="546811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spread ↑ +73bp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47672" y="56692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at Q0, stays elevated — no reversal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70248" y="5468112"/>
            <a:ext cx="219456" cy="219456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70248" y="54681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26280" y="546811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 spread ↑ +56bp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26280" y="56692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rise — auto borrowers bear full cost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91640" y="6016752"/>
            <a:ext cx="219456" cy="219456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91640" y="6016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47672" y="60167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spread ↑ +66bp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47672" y="6217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rates rose in line with consumer rates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70248" y="6016752"/>
            <a:ext cx="219456" cy="219456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70248" y="60167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26280" y="60167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 ↓ −0.44pp/qtr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26280" y="6217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at Q0, no bounce-back in the window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0" y="3520440"/>
            <a:ext cx="36576" cy="333756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03720" y="3520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EVENT STUDY  (Figure_RQ3_Combined.png)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03720" y="3703320"/>
            <a:ext cx="5120640" cy="315468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0372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Figure_RQ3_Combined.png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95160" y="3730752"/>
            <a:ext cx="237744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95160" y="373075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69480" y="37490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Spread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528048" y="3730752"/>
            <a:ext cx="237744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528048" y="373075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802368" y="37490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 Spread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95160" y="5276088"/>
            <a:ext cx="237744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95160" y="527608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69480" y="529437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Spread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528048" y="5276088"/>
            <a:ext cx="237744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528048" y="527608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802368" y="529437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Growth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03720" y="69037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Combine_RQ3_Figures.R → output/paper/figures/Figure_RQ3_Combined.png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4 — Portfolio Shift and Crisis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complex CUs change their loan mix — and how does this compare to 2008?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Yes. Complex CUs shifted from auto loans toward mortgages — consistent with risk-weight arbitrage. This pattern did not occur during the 2008 crisis, making it distinctly regulatory in origin.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2331720"/>
            <a:ext cx="24231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−4.0pp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loan share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(vs. controls)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242316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0" y="240487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+2.4pp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loan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increased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RBC rule, mortgages carry a lower risk-weight than auto loans — shifting to mortgages reduces required capital. This is a rational institutional response to the rule’s incentive structure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shift did not occur during the 2008 crisis — when CUs faced the same macro stress but no capital rule. That comparison isolates the RBC rule as the cause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is permanent — auto loan share never recovers within the observation window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91640" y="4892040"/>
            <a:ext cx="5029200" cy="1755648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91640" y="5596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Figure5_Portfolio_Trends.png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4773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COMPOSITION TRENDS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36576" cy="4315968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THE 2008 FINANCIAL CRISIS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542032"/>
          <a:ext cx="4983480" cy="1874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 Crisis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RBC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accumulation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loan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903720" y="2542032"/>
            <a:ext cx="498348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95160" y="2578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53728" y="25786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Crisis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533888" y="2578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Rule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903720" y="4498848"/>
            <a:ext cx="4983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behavior resembles a crisis response — but the auto loan exit and persistent profitability decline are distinctly regulatory. Only the RBC rule produces them.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903720" y="5102352"/>
            <a:ext cx="4983480" cy="1536192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03720" y="49834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COMPARISON: 2008 vs. RBC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03720" y="574243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Figure6_Crisis_vs_RBC_Capital.png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4b — Credit Quality and the Capacity Channel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RBC rule affect loan delinquency rates?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4b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 — but unevenly. Delinquency rose most where profitability fell hardest. Institutions under the greatest financial pressure reduced their capacity for loan screening and monitoring, and credit quality deteriorated as a result.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2331720"/>
            <a:ext cx="31546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+8bp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delinquency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increase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2004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40487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high-ROA-decline CUs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CAPACITY CHANNEL EXPLAINED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squeezed profitability — institutions with the sharpest ROA declines had the least resources for loan screening, underwriting, and monitoring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 with the largest profitability declines showed twice the delinquency increase of those with smaller ROA impacts — a direct dose-response relationship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demand-side story. The same macro environment affected all CUs. The delinquency concentration in high-stress institutions isolates the regulatory mechanism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implication: the RBC rule did not just shift portfolios — it degraded credit quality for the most exposed institutions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91640" y="5166360"/>
            <a:ext cx="5029200" cy="59436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5166360"/>
            <a:ext cx="64008" cy="59436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521208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implication: Capital rules that squeeze profitability too aggressively may generate credit quality risks that offset their prudential benefits.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36576" cy="4315968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DELINQUENCY EVENT STUDY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2514600"/>
            <a:ext cx="4983480" cy="26060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03720" y="37033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Figure3c_EventStudy_Delinquency.png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52303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5413248"/>
            <a:ext cx="117043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5440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Rule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0296" y="5715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capital req.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74152" y="55778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02168" y="5413248"/>
            <a:ext cx="117043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38744" y="5440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Decline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38744" y="5715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squeezed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372600" y="55778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00616" y="5413248"/>
            <a:ext cx="117043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37192" y="5440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Capacity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537192" y="5715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screening &amp; monitoring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671048" y="557784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799064" y="5413248"/>
            <a:ext cx="1170432" cy="658368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835640" y="5440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Rises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35640" y="5715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degrades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Finding — Profitability Declined Persistently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 fell across all complex CUs — with the largest institutions hit hardest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FINDING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fell persistently across all complex CUs and has not recovered. The largest institutions were hit hardest — and lower profitability directly undermines the capital-building that the rule was designed to achieve.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2331720"/>
            <a:ext cx="31546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2404872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−26bp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decline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complex CUs (p &lt; 0.01)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315468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404872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−47bp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decline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 above $10B assets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3649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566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 decline is persistent — no sign of adaptation or recovery through the full observation window. This is not a transitional cost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scales with size: institutions above $10B experienced a decline nearly double the average, suggesting larger CUs faced proportionally greater compliance pressure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profitability directly undermines the rule’s own goal — a CU that cannot retain earnings must raise rates, reduce lending, or draw down its capital buffer. All three patterns appear in the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91640" y="4892040"/>
            <a:ext cx="5029200" cy="749808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4892040"/>
            <a:ext cx="64008" cy="7498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4937760"/>
            <a:ext cx="4828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to RQ5: Profitability is the primary engine of organic capital accumulation. A rule that persistently depresses ROA slows the very capital-building it is designed to require — creating a self-defeating dynamic for the most exposed institutions.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57424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DECLINE BY INSTITUTION SIZE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91640" y="5961888"/>
            <a:ext cx="150876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59618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−18bp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62910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$500M–$1B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5961888"/>
            <a:ext cx="150876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59618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−26bp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37560" y="62910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$1B–$10B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83480" y="5961888"/>
            <a:ext cx="1508760" cy="621792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59618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−47bp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83480" y="62910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$10B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91640" y="6601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institutions absorbed proportionally more of the rule’s cost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2331720"/>
            <a:ext cx="36576" cy="457200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STUDY — RETURN ON ASSETS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2514600"/>
            <a:ext cx="5120640" cy="4407408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03720" y="45902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Figure3d_EventStudy_ROA.png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6967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falls below zero after Q0 and continues declining — no recovery within the observation window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5 — Financial Stability Implications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show about the rule’s financial stability implications for complex credit unions?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rule provides real but modest protection. Without it, approximately 22 more institutions would fall below the 7% capital floor under a 2008-level crisis — a difference of 3.1 percentage points.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— % OF COMPLEX CUs FALLING BELOW 7% CAPITAL FLOOR AT 2008 CRISIS SEVERITY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2542032"/>
            <a:ext cx="5440680" cy="18745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2578608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 IN PLACE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81635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389120" y="29992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complex CUs fall below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7% capital floor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65760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approximately 135 institutions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42048" y="309067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726680" y="2542032"/>
            <a:ext cx="5212080" cy="1874520"/>
          </a:xfrm>
          <a:prstGeom prst="rect">
            <a:avLst/>
          </a:prstGeom>
          <a:solidFill>
            <a:srgbClr val="6B1A1A"/>
          </a:solidFill>
          <a:ln w="12700">
            <a:solidFill>
              <a:srgbClr val="9B222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578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RULE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18120" y="2816352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0424160" y="29992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complex CUs fall below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7% capital floor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3657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+3.1pp higher — approximately 22 additional institutions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91640" y="4553712"/>
            <a:ext cx="11247120" cy="749808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1640" y="4553712"/>
            <a:ext cx="64008" cy="7498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4599432"/>
            <a:ext cx="1104595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mean? Under a stress scenario as severe as 2008, the rule prevents roughly 22 institutions from falling below the regulatory capital floor. Each of these institutions holds roughly $14 billion in assets on average. The rule’s protection is real — but modest, because complex CUs were already building capital organically before the rule took effect.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91640" y="54132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5596128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built regardless: during the 2008 crisis, complex CUs accumulated capital faster than non-complex CUs even without a formal capital rule — suggesting organic incentives were already operating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scales with severity: the rule’s value grows meaningfully in more severe stress scenarios — its marginal benefit increases as tail risk increases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risk: the shift from auto loans toward commercial real estate may have increased complex CU sensitivity to property market stress, partially offsetting the rule’s prudential benefit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555480" y="54132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2008 SEVERITY</a:t>
            </a:r>
            <a:endParaRPr lang="en-US" sz="9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9464040" y="5596128"/>
          <a:ext cx="2560320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9464040" y="6876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below 7% floor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6 — Did the CCULR Relief Provision Work?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Community Credit Union Leverage Ratio provide meaningful relief to smaller complex institutions?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82296" cy="96012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No. The CCULR — designed as a simpler compliance pathway — provided no statistically significant relief. Institutions most likely to adopt it were already under financial stress before adoption.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9164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CCULR?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2514600"/>
            <a:ext cx="5029200" cy="10058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91640" y="2514600"/>
            <a:ext cx="64008" cy="1005840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2560320"/>
            <a:ext cx="4828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Credit Union Leverage Ratio (CCULR) was introduced as an alternative to the full RBC framework. Complex CUs that met certain criteria could use a simpler, single-ratio test rather than the full risk-based capital calculation. The intent was to reduce compliance burden — particularly for smaller complex institutions in the $500M–$1B asset range.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36393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$400M–$1B INSTITUTION PROBLEM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3840480"/>
            <a:ext cx="50292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just above the $500M complex threshold — particularly those in the $400M–$1B range — experienced the largest relative burden from the rule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institutions lack the scale of the largest complex CUs to absorb compliance costs, but are still subject to the full capital requirements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group, the CCULR was supposed to offer relief — but the data show it did not deliver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CCULR adopters in this size range showed lending outcomes as bad or worse than non-adopters of similar size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2331720"/>
            <a:ext cx="36576" cy="3977640"/>
          </a:xfrm>
          <a:prstGeom prst="rect">
            <a:avLst/>
          </a:prstGeom>
          <a:solidFill>
            <a:srgbClr val="C8C0B0"/>
          </a:solidFill>
          <a:ln w="12700">
            <a:solidFill>
              <a:srgbClr val="C8C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2331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EMPIRICAL FINDINGS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542032"/>
            <a:ext cx="4983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2542032"/>
            <a:ext cx="64008" cy="1078992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22592" y="26151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lending relief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2592" y="28895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CCULR adoption produced no statistically significant improvement in loan growth, loan rates, or portfolio composition relative to full-RBC compliant peers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3749040"/>
            <a:ext cx="4983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03720" y="3749040"/>
            <a:ext cx="64008" cy="1078992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22592" y="3822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Distressed self-selection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22592" y="409651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that adopted CCULR were disproportionately those already experiencing declining profitability and thin capital buffers — the CCULR did not improve their trajectory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03720" y="4956048"/>
            <a:ext cx="4983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0B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03720" y="4956048"/>
            <a:ext cx="64008" cy="1078992"/>
          </a:xfrm>
          <a:prstGeom prst="rect">
            <a:avLst/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22592" y="5029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Smaller institutions hardest hit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22592" y="530352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 with $400M–$1B in assets showed ROA declines and lending contractions comparable to the largest institutions, without the scale to absorb the costs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91640" y="61722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REFERENCE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91640" y="6355080"/>
            <a:ext cx="10195560" cy="320040"/>
          </a:xfrm>
          <a:prstGeom prst="rect">
            <a:avLst/>
          </a:prstGeom>
          <a:solidFill>
            <a:srgbClr val="EDE8DF"/>
          </a:solidFill>
          <a:ln w="12700">
            <a:solidFill>
              <a:srgbClr val="C8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91640" y="6382512"/>
            <a:ext cx="10195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9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output/figures/fig_es_roa.png  ·  Figure7_CCULR_EventStudy.png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0" y="1645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Questions. Six Answers.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658368"/>
            <a:ext cx="10058400" cy="27432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solidFill>
            <a:srgbClr val="243362"/>
          </a:solidFill>
          <a:ln w="12700">
            <a:solidFill>
              <a:srgbClr val="2433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9875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261872"/>
          <a:ext cx="10195560" cy="5120640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capital buffer did complex CUs hold before the rule?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Critically thin — most institutions held only the bare minimum, leaving almost no cushion to absorb the new 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72bp average buffer above 10% threshold  ·  696 complex 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complex CUs hold more capital after the rule?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Mixed. Capital rose briefly then retreated; near-threshold CUs ended worse off. The rule raised the bar faster than capital could accumulate — and neither lending nor well-capitalized status recovered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NW ratio +46bp (fades after Q+2)  ·  Well-cap probability −3.7pp  ·  Loan growth: no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loan rates and lending change?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rates rose across every loan type and lending contracted. Both effects are large, persistent, and show no sign of reversing. The entire regulatory cost was passed to member-borrowers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 +73bp  ·  New auto +56bp  ·  Used auto +76bp  ·  Commercial +66bp  ·  Loan growth −0.44pp/qtr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portfolio composition change?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auto loans exited permanently as CUs shifted to lower-risk-weight mortgages. This pattern did not occur during the 2008 crisis, isolating the RBC rule as the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share −4.0pp  ·  RE share +2.4pp  ·  Shift is permanent, no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credit quality deteriorate?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delinquency rose most where profitability fell hardest. Institutions under the greatest financial pressure reduced their capacity for loan screening and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Delinquency +8bp average  ·  2× effect for high-ROA-decline CUs  ·  Capacity channel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the financial stability implications?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but modest protection. Without the rule, ~22 more institutions would fall below the 7% capital floor under a 2008-level crisis. The rule’s protection is genuine but limited — complex CUs were already building capital organically before the rule took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rule: 19.4% fail  ·  Without rule: 22.5% fail  ·  Difference: 3.1pp  ·  ~22 additional institutions  ·  ~$14B assets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CCULR relief provision work?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CCULR provided no measurable relief on lending or profitability. Adopters were already financially distressed before adoption; the CCULR did not reverse their trajectory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$400M–$1B institutions hardest hit  ·  No significant improvement in lending or ROA for CCULR adopters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691640" y="6492240"/>
            <a:ext cx="101955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91640" y="6492240"/>
            <a:ext cx="82296" cy="566928"/>
          </a:xfrm>
          <a:prstGeom prst="rect">
            <a:avLst/>
          </a:prstGeom>
          <a:solidFill>
            <a:srgbClr val="C89728"/>
          </a:solidFill>
          <a:ln w="12700">
            <a:solidFill>
              <a:srgbClr val="C89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649224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are consistent across all six questions: complex credit unions responded to the rule primarily through higher loan rates, reduced lending, portfolio reallocation, and lower profitability — with only modest and largely organic improvements in financial stability outcomes at the system level.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</Words>
  <Application>Microsoft Macintosh PowerPoint</Application>
  <PresentationFormat>Widescreen</PresentationFormat>
  <Paragraphs>322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Saurabh Datta</cp:lastModifiedBy>
  <cp:revision>1</cp:revision>
  <dcterms:created xsi:type="dcterms:W3CDTF">2026-04-21T14:53:10Z</dcterms:created>
  <dcterms:modified xsi:type="dcterms:W3CDTF">2026-04-21T14:54:22Z</dcterms:modified>
</cp:coreProperties>
</file>