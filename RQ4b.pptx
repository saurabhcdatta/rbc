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37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705993-3EE6-1E46-B6B1-0B58B31ED896}" type="datetimeFigureOut">
              <a:rPr lang="en-US" smtClean="0"/>
              <a:t>4/20/26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CC5CFB-CD6C-284E-AE81-51ECFC9E89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0398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248FF-3D87-15B0-0AAE-D285F94A5E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32C4EF-F399-5A95-A4B0-7D5074EF3C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52E1A8-10D8-DB52-7307-3A098CDE4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F6281-20A1-954C-874E-ABA0BD29572E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B4AEF7-6ECE-3F06-51F8-DF8C9978D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87E7A3-28DA-8A51-B534-29FF83E62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ED891-7111-624C-A304-9FFD671A3A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1494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DF2C7-53EF-20B8-FF8A-C09C712D8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40610B-7F8C-F42D-9045-E7CF3E0B49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69FD8D-160B-0818-CC06-918961B334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F6281-20A1-954C-874E-ABA0BD29572E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E9599C-305B-BE5F-B9C3-62CF438B5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6D5B28-9599-DCEB-7920-383D19173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ED891-7111-624C-A304-9FFD671A3A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653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1E6AF-FCCA-E4A8-9223-26E92D467F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D19BB4-9C48-2DD7-2BBC-4C77AECF26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7D1739-6F70-F34E-9C51-15EED8FA8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F6281-20A1-954C-874E-ABA0BD29572E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C617E7-CD67-21EF-9D48-1FA3F1112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7E0FEE-BD91-9FFA-53A5-4B18C2F0F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ED891-7111-624C-A304-9FFD671A3A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0318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361CA-07D0-F1F8-A753-1D4066602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3E54F0-D266-37A7-47A8-E80BF708A3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56EFF-3E9E-64D7-5DAF-9324541897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3540F0-2C33-AF46-31BA-F92DFF8CB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F6281-20A1-954C-874E-ABA0BD29572E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F8B7DC-9503-89A5-606C-53D84FDF7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228652-20CC-CBCE-AEE9-9490586F4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ED891-7111-624C-A304-9FFD671A3A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01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63540-6CB6-0141-D273-339774D0E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567527-88E5-7396-4756-8EC5D39BDA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59BA7B-152A-3602-6541-D46E5B7A87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37BE12-4161-3C35-A977-1B86676C51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AF096E-24E7-059E-17C7-A52207505C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0EC22C-4631-97FE-802E-215BBD2457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F6281-20A1-954C-874E-ABA0BD29572E}" type="datetimeFigureOut">
              <a:rPr lang="en-US" smtClean="0"/>
              <a:t>4/20/26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374BFA-3A60-413E-4E33-EED9D2269B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8C6D024-32BF-7A4C-0F25-E5A5F7F8D5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ED891-7111-624C-A304-9FFD671A3A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9787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A2BA8-5833-2D64-69B1-5E1A81E57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281DA0-9749-55F0-D5BB-9639B6D31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F6281-20A1-954C-874E-ABA0BD29572E}" type="datetimeFigureOut">
              <a:rPr lang="en-US" smtClean="0"/>
              <a:t>4/20/26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229990-2C07-70A4-BCBC-CE68A83F1F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D3A5AD-413E-3C03-896F-0A929D9E9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ED891-7111-624C-A304-9FFD671A3A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4114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3AA28C-44FF-672D-D1C6-EE2272BEB2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F6281-20A1-954C-874E-ABA0BD29572E}" type="datetimeFigureOut">
              <a:rPr lang="en-US" smtClean="0"/>
              <a:t>4/20/26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AF5FCC-1A73-9478-0FFC-AD1EAC876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E11-A1B3-0F81-A9B2-6BC3564B4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ED891-7111-624C-A304-9FFD671A3A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9729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6900B-93D6-96EE-EBC8-30052256F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0809EE-0170-4D13-4A52-BB00D76207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EBE902-951C-DC35-1272-0A810A2126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F0B549-EC14-0575-9631-F02F655BEF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F6281-20A1-954C-874E-ABA0BD29572E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9D7B19-00EA-9ED7-CCB5-8F500B466C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D3A77E-96D8-C366-EA79-1D22F78AF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ED891-7111-624C-A304-9FFD671A3A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69852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9ED7B-2648-8846-044F-DA97F5304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B03BFA-C7C7-1466-A839-18C86642C8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2A9B41-55BD-31D6-052F-9AB7BCD019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A86805-5E6D-94E7-E433-E2E62150D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F6281-20A1-954C-874E-ABA0BD29572E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15D62A-3598-28FF-9C52-3D977E3BB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AD8553-E627-0D30-9460-B53B4500B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ED891-7111-624C-A304-9FFD671A3A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4074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C741A3-4B3C-A4C8-A77E-E2B027FF9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E7B8D3-B9FB-BC8B-5221-46FAC10445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F0D0F8-5EE1-AE74-AD42-87D755F2F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F6281-20A1-954C-874E-ABA0BD29572E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1B84BC-3468-6C68-4DBD-F062F9A68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A54974-32CD-2AFD-D067-5B2573C71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ED891-7111-624C-A304-9FFD671A3A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857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3584FF0-2467-1B55-43AD-1DC624ECA6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BDF8EB-C768-10CF-7D6C-B23F53462C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E8FE37-91A8-6F5F-712B-C19C015AA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F6281-20A1-954C-874E-ABA0BD29572E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14EB67-263A-0A5A-21CC-D1A2D5751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3F8D59-9526-3183-9F06-C296CA81E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ED891-7111-624C-A304-9FFD671A3A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5947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67619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52E2C6-B5A2-A20C-A7F6-B5C9AF83B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4C81DD-4CCA-0CAF-950C-2BE429B7C4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44CCC5-0F12-78EF-A43C-176F84F744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BF6281-20A1-954C-874E-ABA0BD29572E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ABA66D-2195-DC42-2C9A-83123B933E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0FDCD3-3658-5F6A-40DF-8193BDDC34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2ED891-7111-624C-A304-9FFD671A3A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1855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A25A8-7BC9-C247-1E15-7944A7B5FB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08AD8F-488A-8A7C-300C-DE6A40EEE3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067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68580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61520" cy="64008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645920" y="164592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Studied — and How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645920" y="658368"/>
            <a:ext cx="10058400" cy="27432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691640" y="105156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691640" y="1261872"/>
            <a:ext cx="5029200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696 complex credit unions — avg assets ≥ $500M, classified using 2021 data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~4,488 non-complex credit unions as the comparison group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150,000+ CU-quarters of NCUA Call Report data, 2000–2025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outcomes: capital, loan rates, volume, portfolio mix, profitability, loan quality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691640" y="242316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RULE’S TIMELINE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691640" y="2660904"/>
            <a:ext cx="164592" cy="164592"/>
          </a:xfrm>
          <a:prstGeom prst="ellipse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764792" y="2825496"/>
            <a:ext cx="18288" cy="274320"/>
          </a:xfrm>
          <a:prstGeom prst="rect">
            <a:avLst/>
          </a:prstGeom>
          <a:solidFill>
            <a:srgbClr val="C8C0B0"/>
          </a:solidFill>
          <a:ln w="1270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920240" y="2624328"/>
            <a:ext cx="960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2014–2015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907792" y="2624328"/>
            <a:ext cx="37673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first proposed by NCUA; revised after industry comment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691640" y="3044952"/>
            <a:ext cx="164592" cy="164592"/>
          </a:xfrm>
          <a:prstGeom prst="ellipse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764792" y="3209544"/>
            <a:ext cx="18288" cy="274320"/>
          </a:xfrm>
          <a:prstGeom prst="rect">
            <a:avLst/>
          </a:prstGeom>
          <a:solidFill>
            <a:srgbClr val="C8C0B0"/>
          </a:solidFill>
          <a:ln w="1270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920240" y="3008376"/>
            <a:ext cx="960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2015–2021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907792" y="3008376"/>
            <a:ext cx="37673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delayed multiple times due to industry pushback and congressional scrutiny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691640" y="3429000"/>
            <a:ext cx="164592" cy="164592"/>
          </a:xfrm>
          <a:prstGeom prst="ellipse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920240" y="3392424"/>
            <a:ext cx="960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907792" y="3392424"/>
            <a:ext cx="37673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takes effect — institutions had 7+ years of advance notice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691640" y="365760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METHOD: DIFFERENCE-IN-DIFFERENCES (DiD)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691640" y="3858768"/>
            <a:ext cx="1572768" cy="74980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746504" y="3858768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C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in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E8C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CUs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746504" y="429768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vs. after rule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01568" y="3858768"/>
            <a:ext cx="1572768" cy="74980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456432" y="3858768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C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in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E8C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non-complex CUs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56432" y="429768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time window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200400" y="4023360"/>
            <a:ext cx="292608" cy="292608"/>
          </a:xfrm>
          <a:prstGeom prst="ellipse">
            <a:avLst/>
          </a:prstGeom>
          <a:solidFill>
            <a:srgbClr val="E8E4DC"/>
          </a:solidFill>
          <a:ln w="1270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200400" y="402336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864608" y="4023360"/>
            <a:ext cx="292608" cy="292608"/>
          </a:xfrm>
          <a:prstGeom prst="ellipse">
            <a:avLst/>
          </a:prstGeom>
          <a:solidFill>
            <a:srgbClr val="E8E4DC"/>
          </a:solidFill>
          <a:ln w="1270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864608" y="402336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230368" y="3858768"/>
            <a:ext cx="1444752" cy="749808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276088" y="3858768"/>
            <a:ext cx="13533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Rule’s Effect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276088" y="4261104"/>
            <a:ext cx="13533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3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from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2433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economy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1691640" y="4709160"/>
            <a:ext cx="5029200" cy="594360"/>
          </a:xfrm>
          <a:prstGeom prst="rect">
            <a:avLst/>
          </a:prstGeom>
          <a:solidFill>
            <a:srgbClr val="EDE8DF"/>
          </a:solidFill>
          <a:ln w="1270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1691640" y="4709160"/>
            <a:ext cx="64008" cy="594360"/>
          </a:xfrm>
          <a:prstGeom prst="rect">
            <a:avLst/>
          </a:prstGeom>
          <a:solidFill>
            <a:srgbClr val="C89728"/>
          </a:solidFill>
          <a:ln w="12700">
            <a:solidFill>
              <a:srgbClr val="C897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1828800" y="4754880"/>
            <a:ext cx="482803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works: Non-complex CUs faced the same economic conditions but were not subject to the RBC rule. Any difference between the two groups, after accounting for pre-existing trends, isolates the rule’s effect.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766560" y="1005840"/>
            <a:ext cx="36576" cy="5715000"/>
          </a:xfrm>
          <a:prstGeom prst="rect">
            <a:avLst/>
          </a:prstGeom>
          <a:solidFill>
            <a:srgbClr val="C8C0B0"/>
          </a:solidFill>
          <a:ln w="1270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903720" y="105156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THE EVENT STUDY CHARTS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931152" y="1261872"/>
            <a:ext cx="4919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</a:t>
            </a:r>
            <a:r>
              <a:rPr lang="en-US" sz="10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Q0 — flat lines near zero:</a:t>
            </a: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both groups moved together. The comparison is valid.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931152" y="1645920"/>
            <a:ext cx="4919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</a:t>
            </a:r>
            <a:r>
              <a:rPr lang="en-US" sz="10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Q0 — line moves away from zero:</a:t>
            </a: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movement is the rule’s estimated effect on complex CUs.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931152" y="2029968"/>
            <a:ext cx="4919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89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</a:t>
            </a:r>
            <a:r>
              <a:rPr lang="en-US" sz="10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Shaded band:</a:t>
            </a: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uncertainty range. If it crosses zero, the effect at that point is not statistically conclusive.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931152" y="2432304"/>
            <a:ext cx="4919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UP = increased   </a:t>
            </a:r>
            <a:r>
              <a:rPr lang="en-US" sz="1050" b="1" dirty="0">
                <a:solidFill>
                  <a:srgbClr val="9B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DOWN = decreased   </a:t>
            </a:r>
            <a:r>
              <a:rPr lang="en-US" sz="95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(relative to non-complex CUs, after Q0)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931152" y="2743200"/>
            <a:ext cx="4892040" cy="27432"/>
          </a:xfrm>
          <a:prstGeom prst="rect">
            <a:avLst/>
          </a:prstGeom>
          <a:solidFill>
            <a:srgbClr val="C8C0B0"/>
          </a:solidFill>
          <a:ln w="1270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4" name="Image 0" descr="event_study_explai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2798064"/>
            <a:ext cx="5120640" cy="383133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256</Words>
  <Application>Microsoft Macintosh PowerPoint</Application>
  <PresentationFormat>Widescreen</PresentationFormat>
  <Paragraphs>32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Saurabh Datta</dc:creator>
  <cp:lastModifiedBy>Saurabh Datta</cp:lastModifiedBy>
  <cp:revision>1</cp:revision>
  <dcterms:created xsi:type="dcterms:W3CDTF">2026-04-20T19:15:26Z</dcterms:created>
  <dcterms:modified xsi:type="dcterms:W3CDTF">2026-04-20T19:15:42Z</dcterms:modified>
</cp:coreProperties>
</file>