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1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Failure Rate (%)</c:v>
                </c:pt>
              </c:strCache>
            </c:strRef>
          </c:tx>
          <c:spPr>
            <a:solidFill>
              <a:srgbClr val="1A6B3A"/>
            </a:solidFill>
            <a:effectLst/>
          </c:spPr>
          <c:invertIfNegative val="0"/>
          <c:dPt>
            <c:idx val="0"/>
            <c:invertIfNegative val="0"/>
            <c:bubble3D val="0"/>
            <c:extLst>
              <c:ext xmlns:c16="http://schemas.microsoft.com/office/drawing/2014/chart" uri="{C3380CC4-5D6E-409C-BE32-E72D297353CC}">
                <c16:uniqueId val="{00000001-12FE-B743-9D7F-C8F39405B72A}"/>
              </c:ext>
            </c:extLst>
          </c:dPt>
          <c:dPt>
            <c:idx val="1"/>
            <c:invertIfNegative val="0"/>
            <c:bubble3D val="0"/>
            <c:spPr>
              <a:solidFill>
                <a:srgbClr val="9B2226"/>
              </a:solidFill>
              <a:effectLst/>
            </c:spPr>
            <c:extLst>
              <c:ext xmlns:c16="http://schemas.microsoft.com/office/drawing/2014/chart" uri="{C3380CC4-5D6E-409C-BE32-E72D297353CC}">
                <c16:uniqueId val="{00000003-12FE-B743-9D7F-C8F39405B72A}"/>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With Rule
in Place</c:v>
                </c:pt>
                <c:pt idx="1">
                  <c:v>Without
the Rule</c:v>
                </c:pt>
              </c:strCache>
            </c:strRef>
          </c:cat>
          <c:val>
            <c:numRef>
              <c:f>Sheet1!$B$2:$B$3</c:f>
              <c:numCache>
                <c:formatCode>General</c:formatCode>
                <c:ptCount val="2"/>
                <c:pt idx="0">
                  <c:v>19.399999999999999</c:v>
                </c:pt>
                <c:pt idx="1">
                  <c:v>22.5</c:v>
                </c:pt>
              </c:numCache>
            </c:numRef>
          </c:val>
          <c:extLst>
            <c:ext xmlns:c16="http://schemas.microsoft.com/office/drawing/2014/chart" uri="{C3380CC4-5D6E-409C-BE32-E72D297353CC}">
              <c16:uniqueId val="{00000004-12FE-B743-9D7F-C8F39405B72A}"/>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24"/>
          <c:min val="17"/>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1EB"/>
    </a:solidFill>
    <a:ln w="6350" cap="flat">
      <a:solidFill>
        <a:srgbClr val="C8C0B0"/>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74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347472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6309360"/>
            <a:ext cx="3474720" cy="73152"/>
          </a:xfrm>
          <a:prstGeom prst="rect">
            <a:avLst/>
          </a:prstGeom>
          <a:solidFill>
            <a:srgbClr val="C89728"/>
          </a:solidFill>
          <a:ln w="12700">
            <a:solidFill>
              <a:srgbClr val="C89728"/>
            </a:solidFill>
            <a:prstDash val="solid"/>
          </a:ln>
        </p:spPr>
        <p:txBody>
          <a:bodyPr/>
          <a:lstStyle/>
          <a:p>
            <a:endParaRPr lang="en-US"/>
          </a:p>
        </p:txBody>
      </p:sp>
      <p:sp>
        <p:nvSpPr>
          <p:cNvPr id="4" name="Shape 2"/>
          <p:cNvSpPr/>
          <p:nvPr/>
        </p:nvSpPr>
        <p:spPr>
          <a:xfrm>
            <a:off x="502920" y="4114800"/>
            <a:ext cx="2468880" cy="2468880"/>
          </a:xfrm>
          <a:prstGeom prst="ellipse">
            <a:avLst/>
          </a:prstGeom>
          <a:solidFill>
            <a:srgbClr val="243362"/>
          </a:solidFill>
          <a:ln w="12700">
            <a:solidFill>
              <a:srgbClr val="C89728"/>
            </a:solidFill>
            <a:prstDash val="solid"/>
          </a:ln>
        </p:spPr>
        <p:txBody>
          <a:bodyPr/>
          <a:lstStyle/>
          <a:p>
            <a:endParaRPr lang="en-US"/>
          </a:p>
        </p:txBody>
      </p:sp>
      <p:sp>
        <p:nvSpPr>
          <p:cNvPr id="5" name="Text 3"/>
          <p:cNvSpPr/>
          <p:nvPr/>
        </p:nvSpPr>
        <p:spPr>
          <a:xfrm>
            <a:off x="502920" y="5120640"/>
            <a:ext cx="246888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NCUA</a:t>
            </a:r>
            <a:endParaRPr lang="en-US" sz="2200" dirty="0"/>
          </a:p>
        </p:txBody>
      </p:sp>
      <p:sp>
        <p:nvSpPr>
          <p:cNvPr id="6" name="Text 4"/>
          <p:cNvSpPr/>
          <p:nvPr/>
        </p:nvSpPr>
        <p:spPr>
          <a:xfrm>
            <a:off x="502920" y="5577840"/>
            <a:ext cx="2468880" cy="274320"/>
          </a:xfrm>
          <a:prstGeom prst="rect">
            <a:avLst/>
          </a:prstGeom>
          <a:noFill/>
          <a:ln/>
        </p:spPr>
        <p:txBody>
          <a:bodyPr wrap="square" rtlCol="0" anchor="ctr"/>
          <a:lstStyle/>
          <a:p>
            <a:pPr marL="0" indent="0" algn="ctr">
              <a:buNone/>
            </a:pPr>
            <a:r>
              <a:rPr lang="en-US" sz="1100" dirty="0">
                <a:solidFill>
                  <a:srgbClr val="E8C36A"/>
                </a:solidFill>
                <a:latin typeface="Calibri" pitchFamily="34" charset="0"/>
                <a:ea typeface="Calibri" pitchFamily="34" charset="-122"/>
                <a:cs typeface="Calibri" pitchFamily="34" charset="-120"/>
              </a:rPr>
              <a:t>1934</a:t>
            </a:r>
            <a:endParaRPr lang="en-US" sz="1100" dirty="0"/>
          </a:p>
        </p:txBody>
      </p:sp>
      <p:sp>
        <p:nvSpPr>
          <p:cNvPr id="7" name="Text 5"/>
          <p:cNvSpPr/>
          <p:nvPr/>
        </p:nvSpPr>
        <p:spPr>
          <a:xfrm>
            <a:off x="274320" y="6537960"/>
            <a:ext cx="2926080" cy="228600"/>
          </a:xfrm>
          <a:prstGeom prst="rect">
            <a:avLst/>
          </a:prstGeom>
          <a:noFill/>
          <a:ln/>
        </p:spPr>
        <p:txBody>
          <a:bodyPr wrap="square" rtlCol="0" anchor="ctr"/>
          <a:lstStyle/>
          <a:p>
            <a:pPr marL="0" indent="0" algn="ctr">
              <a:buNone/>
            </a:pPr>
            <a:r>
              <a:rPr lang="en-US" sz="1000" dirty="0">
                <a:solidFill>
                  <a:srgbClr val="8FA4C8"/>
                </a:solidFill>
                <a:latin typeface="Calibri" pitchFamily="34" charset="0"/>
                <a:ea typeface="Calibri" pitchFamily="34" charset="-122"/>
                <a:cs typeface="Calibri" pitchFamily="34" charset="-120"/>
              </a:rPr>
              <a:t>www.ncua.gov</a:t>
            </a:r>
            <a:endParaRPr lang="en-US" sz="1000" dirty="0"/>
          </a:p>
        </p:txBody>
      </p:sp>
      <p:sp>
        <p:nvSpPr>
          <p:cNvPr id="8" name="Text 6"/>
          <p:cNvSpPr/>
          <p:nvPr/>
        </p:nvSpPr>
        <p:spPr>
          <a:xfrm>
            <a:off x="3840480" y="1005840"/>
            <a:ext cx="8046720" cy="320040"/>
          </a:xfrm>
          <a:prstGeom prst="rect">
            <a:avLst/>
          </a:prstGeom>
          <a:noFill/>
          <a:ln/>
        </p:spPr>
        <p:txBody>
          <a:bodyPr wrap="square" rtlCol="0" anchor="ctr"/>
          <a:lstStyle/>
          <a:p>
            <a:pPr marL="0" indent="0">
              <a:buNone/>
            </a:pPr>
            <a:r>
              <a:rPr lang="en-US" sz="1100" b="1" kern="0" spc="150" dirty="0">
                <a:solidFill>
                  <a:srgbClr val="C89728"/>
                </a:solidFill>
                <a:latin typeface="Calibri" pitchFamily="34" charset="0"/>
                <a:ea typeface="Calibri" pitchFamily="34" charset="-122"/>
                <a:cs typeface="Calibri" pitchFamily="34" charset="-120"/>
              </a:rPr>
              <a:t>NCUA  ·  Office of the Chief Economist</a:t>
            </a:r>
            <a:endParaRPr lang="en-US" sz="1100" dirty="0"/>
          </a:p>
        </p:txBody>
      </p:sp>
      <p:sp>
        <p:nvSpPr>
          <p:cNvPr id="9" name="Text 7"/>
          <p:cNvSpPr/>
          <p:nvPr/>
        </p:nvSpPr>
        <p:spPr>
          <a:xfrm>
            <a:off x="3840480" y="1417320"/>
            <a:ext cx="8046720" cy="1920240"/>
          </a:xfrm>
          <a:prstGeom prst="rect">
            <a:avLst/>
          </a:prstGeom>
          <a:noFill/>
          <a:ln/>
        </p:spPr>
        <p:txBody>
          <a:bodyPr wrap="square" rtlCol="0" anchor="t"/>
          <a:lstStyle/>
          <a:p>
            <a:pPr marL="0" indent="0">
              <a:buNone/>
            </a:pPr>
            <a:r>
              <a:rPr lang="en-US" sz="3600" b="1" dirty="0">
                <a:solidFill>
                  <a:srgbClr val="1A2744"/>
                </a:solidFill>
                <a:latin typeface="Calibri" pitchFamily="34" charset="0"/>
                <a:ea typeface="Calibri" pitchFamily="34" charset="-122"/>
                <a:cs typeface="Calibri" pitchFamily="34" charset="-120"/>
              </a:rPr>
              <a:t>The 2022 NCUA</a:t>
            </a:r>
            <a:endParaRPr lang="en-US" sz="3600" dirty="0"/>
          </a:p>
          <a:p>
            <a:pPr marL="0" indent="0">
              <a:buNone/>
            </a:pPr>
            <a:r>
              <a:rPr lang="en-US" sz="3600" b="1" dirty="0">
                <a:solidFill>
                  <a:srgbClr val="1A2744"/>
                </a:solidFill>
                <a:latin typeface="Calibri" pitchFamily="34" charset="0"/>
                <a:ea typeface="Calibri" pitchFamily="34" charset="-122"/>
                <a:cs typeface="Calibri" pitchFamily="34" charset="-120"/>
              </a:rPr>
              <a:t>Risk-Based Capital Rule</a:t>
            </a:r>
            <a:endParaRPr lang="en-US" sz="3600" dirty="0"/>
          </a:p>
        </p:txBody>
      </p:sp>
      <p:sp>
        <p:nvSpPr>
          <p:cNvPr id="10" name="Shape 8"/>
          <p:cNvSpPr/>
          <p:nvPr/>
        </p:nvSpPr>
        <p:spPr>
          <a:xfrm>
            <a:off x="3840480" y="3383280"/>
            <a:ext cx="7772400" cy="457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3840480" y="3493008"/>
            <a:ext cx="8046720" cy="594360"/>
          </a:xfrm>
          <a:prstGeom prst="rect">
            <a:avLst/>
          </a:prstGeom>
          <a:noFill/>
          <a:ln/>
        </p:spPr>
        <p:txBody>
          <a:bodyPr wrap="square" rtlCol="0" anchor="ctr"/>
          <a:lstStyle/>
          <a:p>
            <a:pPr marL="0" indent="0">
              <a:buNone/>
            </a:pPr>
            <a:r>
              <a:rPr lang="en-US" sz="1800" i="1" dirty="0">
                <a:solidFill>
                  <a:srgbClr val="5A6A8A"/>
                </a:solidFill>
                <a:latin typeface="Calibri" pitchFamily="34" charset="0"/>
                <a:ea typeface="Calibri" pitchFamily="34" charset="-122"/>
                <a:cs typeface="Calibri" pitchFamily="34" charset="-120"/>
              </a:rPr>
              <a:t>Empirical Findings from an Analysis of Complex Credit Unions</a:t>
            </a:r>
            <a:endParaRPr lang="en-US" sz="1800" dirty="0"/>
          </a:p>
        </p:txBody>
      </p:sp>
      <p:sp>
        <p:nvSpPr>
          <p:cNvPr id="12" name="Text 10"/>
          <p:cNvSpPr/>
          <p:nvPr/>
        </p:nvSpPr>
        <p:spPr>
          <a:xfrm>
            <a:off x="3840480" y="5303520"/>
            <a:ext cx="8046720" cy="365760"/>
          </a:xfrm>
          <a:prstGeom prst="rect">
            <a:avLst/>
          </a:prstGeom>
          <a:noFill/>
          <a:ln/>
        </p:spPr>
        <p:txBody>
          <a:bodyPr wrap="square" rtlCol="0" anchor="ctr"/>
          <a:lstStyle/>
          <a:p>
            <a:pPr marL="0" indent="0">
              <a:buNone/>
            </a:pPr>
            <a:r>
              <a:rPr lang="en-US" sz="1200" dirty="0">
                <a:solidFill>
                  <a:srgbClr val="5A5A5A"/>
                </a:solidFill>
                <a:latin typeface="Calibri" pitchFamily="34" charset="0"/>
                <a:ea typeface="Calibri" pitchFamily="34" charset="-122"/>
                <a:cs typeface="Calibri" pitchFamily="34" charset="-120"/>
              </a:rPr>
              <a:t>NCUA Call Report Data, 2000–2025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What We Studied — and How</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91640" y="105156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DATA</a:t>
            </a:r>
            <a:endParaRPr lang="en-US" sz="900" dirty="0"/>
          </a:p>
        </p:txBody>
      </p:sp>
      <p:sp>
        <p:nvSpPr>
          <p:cNvPr id="7" name="Text 5"/>
          <p:cNvSpPr/>
          <p:nvPr/>
        </p:nvSpPr>
        <p:spPr>
          <a:xfrm>
            <a:off x="1691640" y="1261872"/>
            <a:ext cx="5029200" cy="118872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696 complex credit unions — avg assets ≥ $500M, classified using 2021 data</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~4,488 non-complex credit unions as the comparison group</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150,000+ CU-quarters of NCUA Call Report data, 2000–2025</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12 outcomes: capital, loan rates, volume, portfolio mix, profitability, loan quality</a:t>
            </a:r>
            <a:endParaRPr lang="en-US" sz="1150" dirty="0"/>
          </a:p>
        </p:txBody>
      </p:sp>
      <p:sp>
        <p:nvSpPr>
          <p:cNvPr id="8" name="Text 6"/>
          <p:cNvSpPr/>
          <p:nvPr/>
        </p:nvSpPr>
        <p:spPr>
          <a:xfrm>
            <a:off x="1691640" y="251460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METHOD: DIFFERENCE-IN-DIFFERENCES (DiD)</a:t>
            </a:r>
            <a:endParaRPr lang="en-US" sz="900" dirty="0"/>
          </a:p>
        </p:txBody>
      </p:sp>
      <p:sp>
        <p:nvSpPr>
          <p:cNvPr id="9" name="Shape 7"/>
          <p:cNvSpPr/>
          <p:nvPr/>
        </p:nvSpPr>
        <p:spPr>
          <a:xfrm>
            <a:off x="1691640" y="2724912"/>
            <a:ext cx="1572768" cy="804672"/>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Text 8"/>
          <p:cNvSpPr/>
          <p:nvPr/>
        </p:nvSpPr>
        <p:spPr>
          <a:xfrm>
            <a:off x="1746504" y="2724912"/>
            <a:ext cx="1463040" cy="502920"/>
          </a:xfrm>
          <a:prstGeom prst="rect">
            <a:avLst/>
          </a:prstGeom>
          <a:noFill/>
          <a:ln/>
        </p:spPr>
        <p:txBody>
          <a:bodyPr wrap="square" rtlCol="0" anchor="ctr"/>
          <a:lstStyle/>
          <a:p>
            <a:pPr marL="0" indent="0" algn="ctr">
              <a:buNone/>
            </a:pPr>
            <a:r>
              <a:rPr lang="en-US" sz="1000" b="1" dirty="0">
                <a:solidFill>
                  <a:srgbClr val="E8C36A"/>
                </a:solidFill>
                <a:latin typeface="Calibri" pitchFamily="34" charset="0"/>
                <a:ea typeface="Calibri" pitchFamily="34" charset="-122"/>
                <a:cs typeface="Calibri" pitchFamily="34" charset="-120"/>
              </a:rPr>
              <a:t>Change in</a:t>
            </a:r>
            <a:endParaRPr lang="en-US" sz="1000" dirty="0"/>
          </a:p>
          <a:p>
            <a:pPr marL="0" indent="0" algn="ctr">
              <a:buNone/>
            </a:pPr>
            <a:r>
              <a:rPr lang="en-US" sz="1000" b="1" dirty="0">
                <a:solidFill>
                  <a:srgbClr val="E8C36A"/>
                </a:solidFill>
                <a:latin typeface="Calibri" pitchFamily="34" charset="0"/>
                <a:ea typeface="Calibri" pitchFamily="34" charset="-122"/>
                <a:cs typeface="Calibri" pitchFamily="34" charset="-120"/>
              </a:rPr>
              <a:t>complex CUs</a:t>
            </a:r>
            <a:endParaRPr lang="en-US" sz="1000" dirty="0"/>
          </a:p>
        </p:txBody>
      </p:sp>
      <p:sp>
        <p:nvSpPr>
          <p:cNvPr id="11" name="Text 9"/>
          <p:cNvSpPr/>
          <p:nvPr/>
        </p:nvSpPr>
        <p:spPr>
          <a:xfrm>
            <a:off x="1746504" y="3200400"/>
            <a:ext cx="1463040" cy="329184"/>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Before vs. after rule</a:t>
            </a:r>
            <a:endParaRPr lang="en-US" sz="900" dirty="0"/>
          </a:p>
        </p:txBody>
      </p:sp>
      <p:sp>
        <p:nvSpPr>
          <p:cNvPr id="12" name="Shape 10"/>
          <p:cNvSpPr/>
          <p:nvPr/>
        </p:nvSpPr>
        <p:spPr>
          <a:xfrm>
            <a:off x="3401568" y="2724912"/>
            <a:ext cx="1572768" cy="804672"/>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3456432" y="2724912"/>
            <a:ext cx="1463040" cy="502920"/>
          </a:xfrm>
          <a:prstGeom prst="rect">
            <a:avLst/>
          </a:prstGeom>
          <a:noFill/>
          <a:ln/>
        </p:spPr>
        <p:txBody>
          <a:bodyPr wrap="square" rtlCol="0" anchor="ctr"/>
          <a:lstStyle/>
          <a:p>
            <a:pPr marL="0" indent="0" algn="ctr">
              <a:buNone/>
            </a:pPr>
            <a:r>
              <a:rPr lang="en-US" sz="1000" b="1" dirty="0">
                <a:solidFill>
                  <a:srgbClr val="E8C36A"/>
                </a:solidFill>
                <a:latin typeface="Calibri" pitchFamily="34" charset="0"/>
                <a:ea typeface="Calibri" pitchFamily="34" charset="-122"/>
                <a:cs typeface="Calibri" pitchFamily="34" charset="-120"/>
              </a:rPr>
              <a:t>Change in</a:t>
            </a:r>
            <a:endParaRPr lang="en-US" sz="1000" dirty="0"/>
          </a:p>
          <a:p>
            <a:pPr marL="0" indent="0" algn="ctr">
              <a:buNone/>
            </a:pPr>
            <a:r>
              <a:rPr lang="en-US" sz="1000" b="1" dirty="0">
                <a:solidFill>
                  <a:srgbClr val="E8C36A"/>
                </a:solidFill>
                <a:latin typeface="Calibri" pitchFamily="34" charset="0"/>
                <a:ea typeface="Calibri" pitchFamily="34" charset="-122"/>
                <a:cs typeface="Calibri" pitchFamily="34" charset="-120"/>
              </a:rPr>
              <a:t>non-complex CUs</a:t>
            </a:r>
            <a:endParaRPr lang="en-US" sz="1000" dirty="0"/>
          </a:p>
        </p:txBody>
      </p:sp>
      <p:sp>
        <p:nvSpPr>
          <p:cNvPr id="14" name="Text 12"/>
          <p:cNvSpPr/>
          <p:nvPr/>
        </p:nvSpPr>
        <p:spPr>
          <a:xfrm>
            <a:off x="3456432" y="3200400"/>
            <a:ext cx="1463040" cy="329184"/>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Same time window</a:t>
            </a:r>
            <a:endParaRPr lang="en-US" sz="900" dirty="0"/>
          </a:p>
        </p:txBody>
      </p:sp>
      <p:sp>
        <p:nvSpPr>
          <p:cNvPr id="15" name="Shape 13"/>
          <p:cNvSpPr/>
          <p:nvPr/>
        </p:nvSpPr>
        <p:spPr>
          <a:xfrm>
            <a:off x="3200400" y="2907792"/>
            <a:ext cx="292608" cy="292608"/>
          </a:xfrm>
          <a:prstGeom prst="ellipse">
            <a:avLst/>
          </a:prstGeom>
          <a:solidFill>
            <a:srgbClr val="E8E4DC"/>
          </a:solidFill>
          <a:ln w="12700">
            <a:solidFill>
              <a:srgbClr val="C8C0B0"/>
            </a:solidFill>
            <a:prstDash val="solid"/>
          </a:ln>
        </p:spPr>
        <p:txBody>
          <a:bodyPr/>
          <a:lstStyle/>
          <a:p>
            <a:endParaRPr lang="en-US"/>
          </a:p>
        </p:txBody>
      </p:sp>
      <p:sp>
        <p:nvSpPr>
          <p:cNvPr id="16" name="Text 14"/>
          <p:cNvSpPr/>
          <p:nvPr/>
        </p:nvSpPr>
        <p:spPr>
          <a:xfrm>
            <a:off x="3200400" y="2907792"/>
            <a:ext cx="292608" cy="292608"/>
          </a:xfrm>
          <a:prstGeom prst="rect">
            <a:avLst/>
          </a:prstGeom>
          <a:noFill/>
          <a:ln/>
        </p:spPr>
        <p:txBody>
          <a:bodyPr wrap="square" rtlCol="0" anchor="ctr"/>
          <a:lstStyle/>
          <a:p>
            <a:pPr marL="0" indent="0" algn="ctr">
              <a:buNone/>
            </a:pPr>
            <a:r>
              <a:rPr lang="en-US" sz="1400" b="1" dirty="0">
                <a:solidFill>
                  <a:srgbClr val="1A2744"/>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4864608" y="2907792"/>
            <a:ext cx="292608" cy="292608"/>
          </a:xfrm>
          <a:prstGeom prst="ellipse">
            <a:avLst/>
          </a:prstGeom>
          <a:solidFill>
            <a:srgbClr val="E8E4DC"/>
          </a:solidFill>
          <a:ln w="12700">
            <a:solidFill>
              <a:srgbClr val="C8C0B0"/>
            </a:solidFill>
            <a:prstDash val="solid"/>
          </a:ln>
        </p:spPr>
        <p:txBody>
          <a:bodyPr/>
          <a:lstStyle/>
          <a:p>
            <a:endParaRPr lang="en-US"/>
          </a:p>
        </p:txBody>
      </p:sp>
      <p:sp>
        <p:nvSpPr>
          <p:cNvPr id="18" name="Text 16"/>
          <p:cNvSpPr/>
          <p:nvPr/>
        </p:nvSpPr>
        <p:spPr>
          <a:xfrm>
            <a:off x="4864608" y="2907792"/>
            <a:ext cx="292608" cy="292608"/>
          </a:xfrm>
          <a:prstGeom prst="rect">
            <a:avLst/>
          </a:prstGeom>
          <a:noFill/>
          <a:ln/>
        </p:spPr>
        <p:txBody>
          <a:bodyPr wrap="square" rtlCol="0" anchor="ctr"/>
          <a:lstStyle/>
          <a:p>
            <a:pPr marL="0" indent="0" algn="ctr">
              <a:buNone/>
            </a:pPr>
            <a:r>
              <a:rPr lang="en-US" sz="1400" b="1" dirty="0">
                <a:solidFill>
                  <a:srgbClr val="1A2744"/>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5230368" y="2724912"/>
            <a:ext cx="1444752" cy="804672"/>
          </a:xfrm>
          <a:prstGeom prst="rect">
            <a:avLst/>
          </a:prstGeom>
          <a:solidFill>
            <a:srgbClr val="C89728"/>
          </a:solidFill>
          <a:ln w="12700">
            <a:solidFill>
              <a:srgbClr val="C89728"/>
            </a:solidFill>
            <a:prstDash val="solid"/>
          </a:ln>
          <a:effectLst>
            <a:outerShdw blurRad="76200" dist="25400" dir="8100000" algn="bl" rotWithShape="0">
              <a:srgbClr val="000000">
                <a:alpha val="12000"/>
              </a:srgbClr>
            </a:outerShdw>
          </a:effectLst>
        </p:spPr>
        <p:txBody>
          <a:bodyPr/>
          <a:lstStyle/>
          <a:p>
            <a:endParaRPr lang="en-US"/>
          </a:p>
        </p:txBody>
      </p:sp>
      <p:sp>
        <p:nvSpPr>
          <p:cNvPr id="20" name="Text 18"/>
          <p:cNvSpPr/>
          <p:nvPr/>
        </p:nvSpPr>
        <p:spPr>
          <a:xfrm>
            <a:off x="5276088" y="2724912"/>
            <a:ext cx="1353312" cy="457200"/>
          </a:xfrm>
          <a:prstGeom prst="rect">
            <a:avLst/>
          </a:prstGeom>
          <a:noFill/>
          <a:ln/>
        </p:spPr>
        <p:txBody>
          <a:bodyPr wrap="square" rtlCol="0" anchor="ctr"/>
          <a:lstStyle/>
          <a:p>
            <a:pPr marL="0" indent="0" algn="ctr">
              <a:buNone/>
            </a:pPr>
            <a:r>
              <a:rPr lang="en-US" sz="1000" b="1" dirty="0">
                <a:solidFill>
                  <a:srgbClr val="1A2744"/>
                </a:solidFill>
                <a:latin typeface="Calibri" pitchFamily="34" charset="0"/>
                <a:ea typeface="Calibri" pitchFamily="34" charset="-122"/>
                <a:cs typeface="Calibri" pitchFamily="34" charset="-120"/>
              </a:rPr>
              <a:t>The Rule’s Effect</a:t>
            </a:r>
            <a:endParaRPr lang="en-US" sz="1000" dirty="0"/>
          </a:p>
        </p:txBody>
      </p:sp>
      <p:sp>
        <p:nvSpPr>
          <p:cNvPr id="21" name="Text 19"/>
          <p:cNvSpPr/>
          <p:nvPr/>
        </p:nvSpPr>
        <p:spPr>
          <a:xfrm>
            <a:off x="5276088" y="3154680"/>
            <a:ext cx="1353312" cy="365760"/>
          </a:xfrm>
          <a:prstGeom prst="rect">
            <a:avLst/>
          </a:prstGeom>
          <a:noFill/>
          <a:ln/>
        </p:spPr>
        <p:txBody>
          <a:bodyPr wrap="square" rtlCol="0" anchor="ctr"/>
          <a:lstStyle/>
          <a:p>
            <a:pPr marL="0" indent="0" algn="ctr">
              <a:buNone/>
            </a:pPr>
            <a:r>
              <a:rPr lang="en-US" sz="850" dirty="0">
                <a:solidFill>
                  <a:srgbClr val="243362"/>
                </a:solidFill>
                <a:latin typeface="Calibri" pitchFamily="34" charset="0"/>
                <a:ea typeface="Calibri" pitchFamily="34" charset="-122"/>
                <a:cs typeface="Calibri" pitchFamily="34" charset="-120"/>
              </a:rPr>
              <a:t>Isolated from</a:t>
            </a:r>
            <a:endParaRPr lang="en-US" sz="850" dirty="0"/>
          </a:p>
          <a:p>
            <a:pPr marL="0" indent="0" algn="ctr">
              <a:buNone/>
            </a:pPr>
            <a:r>
              <a:rPr lang="en-US" sz="850" dirty="0">
                <a:solidFill>
                  <a:srgbClr val="243362"/>
                </a:solidFill>
                <a:latin typeface="Calibri" pitchFamily="34" charset="0"/>
                <a:ea typeface="Calibri" pitchFamily="34" charset="-122"/>
                <a:cs typeface="Calibri" pitchFamily="34" charset="-120"/>
              </a:rPr>
              <a:t>the economy</a:t>
            </a:r>
            <a:endParaRPr lang="en-US" sz="850" dirty="0"/>
          </a:p>
        </p:txBody>
      </p:sp>
      <p:sp>
        <p:nvSpPr>
          <p:cNvPr id="22" name="Shape 20"/>
          <p:cNvSpPr/>
          <p:nvPr/>
        </p:nvSpPr>
        <p:spPr>
          <a:xfrm>
            <a:off x="1691640" y="3639312"/>
            <a:ext cx="5029200" cy="658368"/>
          </a:xfrm>
          <a:prstGeom prst="rect">
            <a:avLst/>
          </a:prstGeom>
          <a:solidFill>
            <a:srgbClr val="EDE8DF"/>
          </a:solidFill>
          <a:ln w="12700">
            <a:solidFill>
              <a:srgbClr val="C8C0B0"/>
            </a:solidFill>
            <a:prstDash val="solid"/>
          </a:ln>
        </p:spPr>
        <p:txBody>
          <a:bodyPr/>
          <a:lstStyle/>
          <a:p>
            <a:endParaRPr lang="en-US"/>
          </a:p>
        </p:txBody>
      </p:sp>
      <p:sp>
        <p:nvSpPr>
          <p:cNvPr id="23" name="Shape 21"/>
          <p:cNvSpPr/>
          <p:nvPr/>
        </p:nvSpPr>
        <p:spPr>
          <a:xfrm>
            <a:off x="1691640" y="3639312"/>
            <a:ext cx="64008" cy="658368"/>
          </a:xfrm>
          <a:prstGeom prst="rect">
            <a:avLst/>
          </a:prstGeom>
          <a:solidFill>
            <a:srgbClr val="C89728"/>
          </a:solidFill>
          <a:ln w="12700">
            <a:solidFill>
              <a:srgbClr val="C89728"/>
            </a:solidFill>
            <a:prstDash val="solid"/>
          </a:ln>
        </p:spPr>
        <p:txBody>
          <a:bodyPr/>
          <a:lstStyle/>
          <a:p>
            <a:endParaRPr lang="en-US"/>
          </a:p>
        </p:txBody>
      </p:sp>
      <p:sp>
        <p:nvSpPr>
          <p:cNvPr id="24" name="Text 22"/>
          <p:cNvSpPr/>
          <p:nvPr/>
        </p:nvSpPr>
        <p:spPr>
          <a:xfrm>
            <a:off x="1828800" y="3685032"/>
            <a:ext cx="482803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Why this works: Non-complex CUs faced the same economic conditions but were not subject to the RBC rule. Any difference between the two groups, after accounting for pre-existing trends, isolates the rule’s effect.</a:t>
            </a:r>
            <a:endParaRPr lang="en-US" sz="1050" dirty="0"/>
          </a:p>
        </p:txBody>
      </p:sp>
      <p:sp>
        <p:nvSpPr>
          <p:cNvPr id="25" name="Shape 23"/>
          <p:cNvSpPr/>
          <p:nvPr/>
        </p:nvSpPr>
        <p:spPr>
          <a:xfrm>
            <a:off x="6766560" y="1005840"/>
            <a:ext cx="36576" cy="5715000"/>
          </a:xfrm>
          <a:prstGeom prst="rect">
            <a:avLst/>
          </a:prstGeom>
          <a:solidFill>
            <a:srgbClr val="C8C0B0"/>
          </a:solidFill>
          <a:ln w="12700">
            <a:solidFill>
              <a:srgbClr val="C8C0B0"/>
            </a:solidFill>
            <a:prstDash val="solid"/>
          </a:ln>
        </p:spPr>
        <p:txBody>
          <a:bodyPr/>
          <a:lstStyle/>
          <a:p>
            <a:endParaRPr lang="en-US"/>
          </a:p>
        </p:txBody>
      </p:sp>
      <p:sp>
        <p:nvSpPr>
          <p:cNvPr id="26" name="Text 24"/>
          <p:cNvSpPr/>
          <p:nvPr/>
        </p:nvSpPr>
        <p:spPr>
          <a:xfrm>
            <a:off x="6903720" y="105156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HOW TO READ THE EVENT STUDY CHARTS</a:t>
            </a:r>
            <a:endParaRPr lang="en-US" sz="900" dirty="0"/>
          </a:p>
        </p:txBody>
      </p:sp>
      <p:sp>
        <p:nvSpPr>
          <p:cNvPr id="27" name="Text 25"/>
          <p:cNvSpPr/>
          <p:nvPr/>
        </p:nvSpPr>
        <p:spPr>
          <a:xfrm>
            <a:off x="6931152" y="1261872"/>
            <a:ext cx="4919472" cy="347472"/>
          </a:xfrm>
          <a:prstGeom prst="rect">
            <a:avLst/>
          </a:prstGeom>
          <a:noFill/>
          <a:ln/>
        </p:spPr>
        <p:txBody>
          <a:bodyPr wrap="square" rtlCol="0" anchor="ctr"/>
          <a:lstStyle/>
          <a:p>
            <a:pPr marL="0" indent="0">
              <a:buNone/>
            </a:pPr>
            <a:r>
              <a:rPr lang="en-US" sz="1100" b="1" dirty="0">
                <a:solidFill>
                  <a:srgbClr val="C89728"/>
                </a:solidFill>
                <a:latin typeface="Calibri" pitchFamily="34" charset="0"/>
                <a:ea typeface="Calibri" pitchFamily="34" charset="-122"/>
                <a:cs typeface="Calibri" pitchFamily="34" charset="-120"/>
              </a:rPr>
              <a:t>▶  </a:t>
            </a:r>
            <a:r>
              <a:rPr lang="en-US" sz="1050" b="1" dirty="0">
                <a:solidFill>
                  <a:srgbClr val="1A2744"/>
                </a:solidFill>
                <a:latin typeface="Calibri" pitchFamily="34" charset="0"/>
                <a:ea typeface="Calibri" pitchFamily="34" charset="-122"/>
                <a:cs typeface="Calibri" pitchFamily="34" charset="-120"/>
              </a:rPr>
              <a:t>Before Q0 — flat lines near zero:</a:t>
            </a:r>
            <a:r>
              <a:rPr lang="en-US" sz="1050" dirty="0">
                <a:solidFill>
                  <a:srgbClr val="444444"/>
                </a:solidFill>
                <a:latin typeface="Calibri" pitchFamily="34" charset="0"/>
                <a:ea typeface="Calibri" pitchFamily="34" charset="-122"/>
                <a:cs typeface="Calibri" pitchFamily="34" charset="-120"/>
              </a:rPr>
              <a:t> both groups moved together. The comparison is valid.</a:t>
            </a:r>
            <a:endParaRPr lang="en-US" sz="1100" dirty="0"/>
          </a:p>
        </p:txBody>
      </p:sp>
      <p:sp>
        <p:nvSpPr>
          <p:cNvPr id="28" name="Text 26"/>
          <p:cNvSpPr/>
          <p:nvPr/>
        </p:nvSpPr>
        <p:spPr>
          <a:xfrm>
            <a:off x="6931152" y="1645920"/>
            <a:ext cx="4919472" cy="347472"/>
          </a:xfrm>
          <a:prstGeom prst="rect">
            <a:avLst/>
          </a:prstGeom>
          <a:noFill/>
          <a:ln/>
        </p:spPr>
        <p:txBody>
          <a:bodyPr wrap="square" rtlCol="0" anchor="ctr"/>
          <a:lstStyle/>
          <a:p>
            <a:pPr marL="0" indent="0">
              <a:buNone/>
            </a:pPr>
            <a:r>
              <a:rPr lang="en-US" sz="1100" b="1" dirty="0">
                <a:solidFill>
                  <a:srgbClr val="C89728"/>
                </a:solidFill>
                <a:latin typeface="Calibri" pitchFamily="34" charset="0"/>
                <a:ea typeface="Calibri" pitchFamily="34" charset="-122"/>
                <a:cs typeface="Calibri" pitchFamily="34" charset="-120"/>
              </a:rPr>
              <a:t>▶  </a:t>
            </a:r>
            <a:r>
              <a:rPr lang="en-US" sz="1050" b="1" dirty="0">
                <a:solidFill>
                  <a:srgbClr val="1A2744"/>
                </a:solidFill>
                <a:latin typeface="Calibri" pitchFamily="34" charset="0"/>
                <a:ea typeface="Calibri" pitchFamily="34" charset="-122"/>
                <a:cs typeface="Calibri" pitchFamily="34" charset="-120"/>
              </a:rPr>
              <a:t>After Q0 — line moves away from zero:</a:t>
            </a:r>
            <a:r>
              <a:rPr lang="en-US" sz="1050" dirty="0">
                <a:solidFill>
                  <a:srgbClr val="444444"/>
                </a:solidFill>
                <a:latin typeface="Calibri" pitchFamily="34" charset="0"/>
                <a:ea typeface="Calibri" pitchFamily="34" charset="-122"/>
                <a:cs typeface="Calibri" pitchFamily="34" charset="-120"/>
              </a:rPr>
              <a:t> that movement is the rule’s estimated effect on complex CUs.</a:t>
            </a:r>
            <a:endParaRPr lang="en-US" sz="1100" dirty="0"/>
          </a:p>
        </p:txBody>
      </p:sp>
      <p:sp>
        <p:nvSpPr>
          <p:cNvPr id="29" name="Text 27"/>
          <p:cNvSpPr/>
          <p:nvPr/>
        </p:nvSpPr>
        <p:spPr>
          <a:xfrm>
            <a:off x="6931152" y="2029968"/>
            <a:ext cx="4919472" cy="347472"/>
          </a:xfrm>
          <a:prstGeom prst="rect">
            <a:avLst/>
          </a:prstGeom>
          <a:noFill/>
          <a:ln/>
        </p:spPr>
        <p:txBody>
          <a:bodyPr wrap="square" rtlCol="0" anchor="ctr"/>
          <a:lstStyle/>
          <a:p>
            <a:pPr marL="0" indent="0">
              <a:buNone/>
            </a:pPr>
            <a:r>
              <a:rPr lang="en-US" sz="1100" b="1" dirty="0">
                <a:solidFill>
                  <a:srgbClr val="C89728"/>
                </a:solidFill>
                <a:latin typeface="Calibri" pitchFamily="34" charset="0"/>
                <a:ea typeface="Calibri" pitchFamily="34" charset="-122"/>
                <a:cs typeface="Calibri" pitchFamily="34" charset="-120"/>
              </a:rPr>
              <a:t>▶  </a:t>
            </a:r>
            <a:r>
              <a:rPr lang="en-US" sz="1050" b="1" dirty="0">
                <a:solidFill>
                  <a:srgbClr val="1A2744"/>
                </a:solidFill>
                <a:latin typeface="Calibri" pitchFamily="34" charset="0"/>
                <a:ea typeface="Calibri" pitchFamily="34" charset="-122"/>
                <a:cs typeface="Calibri" pitchFamily="34" charset="-120"/>
              </a:rPr>
              <a:t>Shaded band:</a:t>
            </a:r>
            <a:r>
              <a:rPr lang="en-US" sz="1050" dirty="0">
                <a:solidFill>
                  <a:srgbClr val="444444"/>
                </a:solidFill>
                <a:latin typeface="Calibri" pitchFamily="34" charset="0"/>
                <a:ea typeface="Calibri" pitchFamily="34" charset="-122"/>
                <a:cs typeface="Calibri" pitchFamily="34" charset="-120"/>
              </a:rPr>
              <a:t> uncertainty range. If it crosses zero, the effect at that point is not statistically conclusive.</a:t>
            </a:r>
            <a:endParaRPr lang="en-US" sz="1100" dirty="0"/>
          </a:p>
        </p:txBody>
      </p:sp>
      <p:sp>
        <p:nvSpPr>
          <p:cNvPr id="30" name="Text 28"/>
          <p:cNvSpPr/>
          <p:nvPr/>
        </p:nvSpPr>
        <p:spPr>
          <a:xfrm>
            <a:off x="6931152" y="2432304"/>
            <a:ext cx="4919472" cy="256032"/>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 UP = increased   </a:t>
            </a:r>
            <a:r>
              <a:rPr lang="en-US" sz="1050" b="1" dirty="0">
                <a:solidFill>
                  <a:srgbClr val="9B2226"/>
                </a:solidFill>
                <a:latin typeface="Calibri" pitchFamily="34" charset="0"/>
                <a:ea typeface="Calibri" pitchFamily="34" charset="-122"/>
                <a:cs typeface="Calibri" pitchFamily="34" charset="-120"/>
              </a:rPr>
              <a:t>↓ DOWN = decreased   </a:t>
            </a:r>
            <a:r>
              <a:rPr lang="en-US" sz="950" i="1" dirty="0">
                <a:solidFill>
                  <a:srgbClr val="5A5A5A"/>
                </a:solidFill>
                <a:latin typeface="Calibri" pitchFamily="34" charset="0"/>
                <a:ea typeface="Calibri" pitchFamily="34" charset="-122"/>
                <a:cs typeface="Calibri" pitchFamily="34" charset="-120"/>
              </a:rPr>
              <a:t>(relative to non-complex CUs, after Q0)</a:t>
            </a:r>
            <a:endParaRPr lang="en-US" sz="1050" dirty="0"/>
          </a:p>
        </p:txBody>
      </p:sp>
      <p:sp>
        <p:nvSpPr>
          <p:cNvPr id="31" name="Shape 29"/>
          <p:cNvSpPr/>
          <p:nvPr/>
        </p:nvSpPr>
        <p:spPr>
          <a:xfrm>
            <a:off x="6931152" y="2743200"/>
            <a:ext cx="4892040" cy="27432"/>
          </a:xfrm>
          <a:prstGeom prst="rect">
            <a:avLst/>
          </a:prstGeom>
          <a:solidFill>
            <a:srgbClr val="C8C0B0"/>
          </a:solidFill>
          <a:ln w="12700">
            <a:solidFill>
              <a:srgbClr val="C8C0B0"/>
            </a:solidFill>
            <a:prstDash val="solid"/>
          </a:ln>
        </p:spPr>
        <p:txBody>
          <a:bodyPr/>
          <a:lstStyle/>
          <a:p>
            <a:endParaRPr lang="en-US"/>
          </a:p>
        </p:txBody>
      </p:sp>
      <p:pic>
        <p:nvPicPr>
          <p:cNvPr id="32" name="Image 0" descr="event_study_explainer.png"/>
          <p:cNvPicPr>
            <a:picLocks noChangeAspect="1"/>
          </p:cNvPicPr>
          <p:nvPr/>
        </p:nvPicPr>
        <p:blipFill>
          <a:blip r:embed="rId3"/>
          <a:stretch>
            <a:fillRect/>
          </a:stretch>
        </p:blipFill>
        <p:spPr>
          <a:xfrm>
            <a:off x="6903720" y="2798064"/>
            <a:ext cx="5120640" cy="38313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1 — Pre-Rule Capital Buffer</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How much capital buffer did complex credit unions hold before the rule?</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1</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The average complex credit union entered the rule with a buffer of just 72 basis points above the new 10% threshold — leaving very little room to absorb the new requirement without significant adjustment.</a:t>
            </a:r>
            <a:endParaRPr lang="en-US" sz="1250" dirty="0"/>
          </a:p>
        </p:txBody>
      </p:sp>
      <p:sp>
        <p:nvSpPr>
          <p:cNvPr id="12" name="Text 10"/>
          <p:cNvSpPr/>
          <p:nvPr/>
        </p:nvSpPr>
        <p:spPr>
          <a:xfrm>
            <a:off x="1691640" y="235915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THE DATA SHOW</a:t>
            </a:r>
            <a:endParaRPr lang="en-US" sz="900" dirty="0"/>
          </a:p>
        </p:txBody>
      </p:sp>
      <p:sp>
        <p:nvSpPr>
          <p:cNvPr id="13" name="Text 11"/>
          <p:cNvSpPr/>
          <p:nvPr/>
        </p:nvSpPr>
        <p:spPr>
          <a:xfrm>
            <a:off x="1691640" y="2560320"/>
            <a:ext cx="5029200" cy="160020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Complex CUs are the largest, most systemically significant institutions in the credit union system — those with average assets at or above $500 million</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Before the rule, the typical complex CU held capital just barely above the existing standard; the new 10% threshold was meaningfully higher</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Most institutions were holding only the bare minimum — the chart shows the tallest spike right at the 10% threshold</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This left almost no cushion to absorb the new requirement without raising rates, cutting lending, or squeezing profits</a:t>
            </a:r>
            <a:endParaRPr lang="en-US" sz="1150" dirty="0"/>
          </a:p>
        </p:txBody>
      </p:sp>
      <p:sp>
        <p:nvSpPr>
          <p:cNvPr id="14" name="Shape 12"/>
          <p:cNvSpPr/>
          <p:nvPr/>
        </p:nvSpPr>
        <p:spPr>
          <a:xfrm>
            <a:off x="1691640" y="4224528"/>
            <a:ext cx="5029200" cy="621792"/>
          </a:xfrm>
          <a:prstGeom prst="rect">
            <a:avLst/>
          </a:prstGeom>
          <a:solidFill>
            <a:srgbClr val="EDE8DF"/>
          </a:solidFill>
          <a:ln w="12700">
            <a:solidFill>
              <a:srgbClr val="C8C0B0"/>
            </a:solidFill>
            <a:prstDash val="solid"/>
          </a:ln>
        </p:spPr>
        <p:txBody>
          <a:bodyPr/>
          <a:lstStyle/>
          <a:p>
            <a:endParaRPr lang="en-US"/>
          </a:p>
        </p:txBody>
      </p:sp>
      <p:sp>
        <p:nvSpPr>
          <p:cNvPr id="15" name="Shape 13"/>
          <p:cNvSpPr/>
          <p:nvPr/>
        </p:nvSpPr>
        <p:spPr>
          <a:xfrm>
            <a:off x="1691640" y="4224528"/>
            <a:ext cx="64008" cy="621792"/>
          </a:xfrm>
          <a:prstGeom prst="rect">
            <a:avLst/>
          </a:prstGeom>
          <a:solidFill>
            <a:srgbClr val="C89728"/>
          </a:solidFill>
          <a:ln w="12700">
            <a:solidFill>
              <a:srgbClr val="C89728"/>
            </a:solidFill>
            <a:prstDash val="solid"/>
          </a:ln>
        </p:spPr>
        <p:txBody>
          <a:bodyPr/>
          <a:lstStyle/>
          <a:p>
            <a:endParaRPr lang="en-US"/>
          </a:p>
        </p:txBody>
      </p:sp>
      <p:sp>
        <p:nvSpPr>
          <p:cNvPr id="16" name="Text 14"/>
          <p:cNvSpPr/>
          <p:nvPr/>
        </p:nvSpPr>
        <p:spPr>
          <a:xfrm>
            <a:off x="1828800" y="4270248"/>
            <a:ext cx="4828032" cy="530352"/>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Why it matters: A rule requiring additional capital is always more costly when institutions start with little room to spare. This thin buffer set the stage for the pressures in RQ2–RQ4.</a:t>
            </a:r>
            <a:endParaRPr lang="en-US" sz="1050" dirty="0"/>
          </a:p>
        </p:txBody>
      </p:sp>
      <p:sp>
        <p:nvSpPr>
          <p:cNvPr id="17" name="Shape 15"/>
          <p:cNvSpPr/>
          <p:nvPr/>
        </p:nvSpPr>
        <p:spPr>
          <a:xfrm>
            <a:off x="1691640" y="4919472"/>
            <a:ext cx="5029200" cy="548640"/>
          </a:xfrm>
          <a:prstGeom prst="rect">
            <a:avLst/>
          </a:prstGeom>
          <a:solidFill>
            <a:srgbClr val="EDE8DF"/>
          </a:solidFill>
          <a:ln w="12700">
            <a:solidFill>
              <a:srgbClr val="C8C0B0"/>
            </a:solidFill>
            <a:prstDash val="solid"/>
          </a:ln>
        </p:spPr>
        <p:txBody>
          <a:bodyPr/>
          <a:lstStyle/>
          <a:p>
            <a:endParaRPr lang="en-US"/>
          </a:p>
        </p:txBody>
      </p:sp>
      <p:sp>
        <p:nvSpPr>
          <p:cNvPr id="18" name="Shape 16"/>
          <p:cNvSpPr/>
          <p:nvPr/>
        </p:nvSpPr>
        <p:spPr>
          <a:xfrm>
            <a:off x="1691640" y="4919472"/>
            <a:ext cx="64008" cy="548640"/>
          </a:xfrm>
          <a:prstGeom prst="rect">
            <a:avLst/>
          </a:prstGeom>
          <a:solidFill>
            <a:srgbClr val="C89728"/>
          </a:solidFill>
          <a:ln w="12700">
            <a:solidFill>
              <a:srgbClr val="C89728"/>
            </a:solidFill>
            <a:prstDash val="solid"/>
          </a:ln>
        </p:spPr>
        <p:txBody>
          <a:bodyPr/>
          <a:lstStyle/>
          <a:p>
            <a:endParaRPr lang="en-US"/>
          </a:p>
        </p:txBody>
      </p:sp>
      <p:sp>
        <p:nvSpPr>
          <p:cNvPr id="19" name="Text 17"/>
          <p:cNvSpPr/>
          <p:nvPr/>
        </p:nvSpPr>
        <p:spPr>
          <a:xfrm>
            <a:off x="1828800" y="4965192"/>
            <a:ext cx="4828032" cy="4572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What is a basis point? One basis point (bp) = one-hundredth of a percentage point. A 72bp buffer means holding 10.72% capital against a 10.00% threshold.</a:t>
            </a:r>
            <a:endParaRPr lang="en-US" sz="1050" dirty="0"/>
          </a:p>
        </p:txBody>
      </p:sp>
      <p:sp>
        <p:nvSpPr>
          <p:cNvPr id="20" name="Shape 18"/>
          <p:cNvSpPr/>
          <p:nvPr/>
        </p:nvSpPr>
        <p:spPr>
          <a:xfrm>
            <a:off x="1691640" y="5440680"/>
            <a:ext cx="2395728" cy="658368"/>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21" name="Text 19"/>
          <p:cNvSpPr/>
          <p:nvPr/>
        </p:nvSpPr>
        <p:spPr>
          <a:xfrm>
            <a:off x="1783080" y="5513832"/>
            <a:ext cx="2212848" cy="342351"/>
          </a:xfrm>
          <a:prstGeom prst="rect">
            <a:avLst/>
          </a:prstGeom>
          <a:noFill/>
          <a:ln/>
        </p:spPr>
        <p:txBody>
          <a:bodyPr wrap="square" rtlCol="0" anchor="ctr"/>
          <a:lstStyle/>
          <a:p>
            <a:pPr marL="0" indent="0" algn="ctr">
              <a:buNone/>
            </a:pPr>
            <a:r>
              <a:rPr lang="en-US" sz="2400" b="1" dirty="0">
                <a:solidFill>
                  <a:srgbClr val="E8C36A"/>
                </a:solidFill>
                <a:latin typeface="Calibri" pitchFamily="34" charset="0"/>
                <a:ea typeface="Calibri" pitchFamily="34" charset="-122"/>
                <a:cs typeface="Calibri" pitchFamily="34" charset="-120"/>
              </a:rPr>
              <a:t>72bp</a:t>
            </a:r>
            <a:endParaRPr lang="en-US" sz="2400" dirty="0"/>
          </a:p>
        </p:txBody>
      </p:sp>
      <p:sp>
        <p:nvSpPr>
          <p:cNvPr id="22" name="Text 20"/>
          <p:cNvSpPr/>
          <p:nvPr/>
        </p:nvSpPr>
        <p:spPr>
          <a:xfrm>
            <a:off x="1783080" y="5802782"/>
            <a:ext cx="2212848" cy="263347"/>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Avg pre-rule buffer</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above 10% threshold</a:t>
            </a:r>
            <a:endParaRPr lang="en-US" sz="1000" dirty="0"/>
          </a:p>
        </p:txBody>
      </p:sp>
      <p:sp>
        <p:nvSpPr>
          <p:cNvPr id="23" name="Shape 21"/>
          <p:cNvSpPr/>
          <p:nvPr/>
        </p:nvSpPr>
        <p:spPr>
          <a:xfrm>
            <a:off x="4187952" y="5440680"/>
            <a:ext cx="2487168" cy="658368"/>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24" name="Text 22"/>
          <p:cNvSpPr/>
          <p:nvPr/>
        </p:nvSpPr>
        <p:spPr>
          <a:xfrm>
            <a:off x="4279392" y="5513832"/>
            <a:ext cx="2304288" cy="342351"/>
          </a:xfrm>
          <a:prstGeom prst="rect">
            <a:avLst/>
          </a:prstGeom>
          <a:noFill/>
          <a:ln/>
        </p:spPr>
        <p:txBody>
          <a:bodyPr wrap="square" rtlCol="0" anchor="ctr"/>
          <a:lstStyle/>
          <a:p>
            <a:pPr marL="0" indent="0" algn="ctr">
              <a:buNone/>
            </a:pPr>
            <a:r>
              <a:rPr lang="en-US" sz="2400" b="1" dirty="0">
                <a:solidFill>
                  <a:srgbClr val="E8C36A"/>
                </a:solidFill>
                <a:latin typeface="Calibri" pitchFamily="34" charset="0"/>
                <a:ea typeface="Calibri" pitchFamily="34" charset="-122"/>
                <a:cs typeface="Calibri" pitchFamily="34" charset="-120"/>
              </a:rPr>
              <a:t>696</a:t>
            </a:r>
            <a:endParaRPr lang="en-US" sz="2400" dirty="0"/>
          </a:p>
        </p:txBody>
      </p:sp>
      <p:sp>
        <p:nvSpPr>
          <p:cNvPr id="25" name="Text 23"/>
          <p:cNvSpPr/>
          <p:nvPr/>
        </p:nvSpPr>
        <p:spPr>
          <a:xfrm>
            <a:off x="4279392" y="5802782"/>
            <a:ext cx="2304288" cy="263347"/>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Complex CUs in</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sample (fixed 2021)</a:t>
            </a:r>
            <a:endParaRPr lang="en-US" sz="1000" dirty="0"/>
          </a:p>
        </p:txBody>
      </p:sp>
      <p:sp>
        <p:nvSpPr>
          <p:cNvPr id="26" name="Shape 24"/>
          <p:cNvSpPr/>
          <p:nvPr/>
        </p:nvSpPr>
        <p:spPr>
          <a:xfrm>
            <a:off x="6903720" y="2331720"/>
            <a:ext cx="36576" cy="4315968"/>
          </a:xfrm>
          <a:prstGeom prst="rect">
            <a:avLst/>
          </a:prstGeom>
          <a:solidFill>
            <a:srgbClr val="C8C0B0"/>
          </a:solidFill>
          <a:ln w="12700">
            <a:solidFill>
              <a:srgbClr val="C8C0B0"/>
            </a:solidFill>
            <a:prstDash val="solid"/>
          </a:ln>
        </p:spPr>
        <p:txBody>
          <a:bodyPr/>
          <a:lstStyle/>
          <a:p>
            <a:endParaRPr lang="en-US"/>
          </a:p>
        </p:txBody>
      </p:sp>
      <p:sp>
        <p:nvSpPr>
          <p:cNvPr id="27" name="Text 25"/>
          <p:cNvSpPr/>
          <p:nvPr/>
        </p:nvSpPr>
        <p:spPr>
          <a:xfrm>
            <a:off x="7022592"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FIGURE — PRE-RULE NET WORTH RATIO DISTRIBUTION</a:t>
            </a:r>
            <a:endParaRPr lang="en-US" sz="900" dirty="0"/>
          </a:p>
        </p:txBody>
      </p:sp>
      <p:sp>
        <p:nvSpPr>
          <p:cNvPr id="28" name="Shape 26"/>
          <p:cNvSpPr/>
          <p:nvPr/>
        </p:nvSpPr>
        <p:spPr>
          <a:xfrm>
            <a:off x="7022592" y="2514600"/>
            <a:ext cx="4956048" cy="3703320"/>
          </a:xfrm>
          <a:prstGeom prst="rect">
            <a:avLst/>
          </a:prstGeom>
          <a:solidFill>
            <a:srgbClr val="EDE8DF"/>
          </a:solidFill>
          <a:ln w="12700">
            <a:solidFill>
              <a:srgbClr val="C8C0B0"/>
            </a:solidFill>
            <a:prstDash val="dash"/>
          </a:ln>
        </p:spPr>
        <p:txBody>
          <a:bodyPr/>
          <a:lstStyle/>
          <a:p>
            <a:endParaRPr lang="en-US"/>
          </a:p>
        </p:txBody>
      </p:sp>
      <p:sp>
        <p:nvSpPr>
          <p:cNvPr id="29" name="Text 27"/>
          <p:cNvSpPr/>
          <p:nvPr/>
        </p:nvSpPr>
        <p:spPr>
          <a:xfrm>
            <a:off x="7022592" y="4069080"/>
            <a:ext cx="4956048" cy="320040"/>
          </a:xfrm>
          <a:prstGeom prst="rect">
            <a:avLst/>
          </a:prstGeom>
          <a:noFill/>
          <a:ln/>
        </p:spPr>
        <p:txBody>
          <a:bodyPr wrap="square" rtlCol="0" anchor="ctr"/>
          <a:lstStyle/>
          <a:p>
            <a:pPr marL="0" indent="0" algn="ctr">
              <a:buNone/>
            </a:pPr>
            <a:r>
              <a:rPr lang="en-US" sz="1000" i="1" dirty="0">
                <a:solidFill>
                  <a:srgbClr val="C89728"/>
                </a:solidFill>
                <a:latin typeface="Calibri" pitchFamily="34" charset="0"/>
                <a:ea typeface="Calibri" pitchFamily="34" charset="-122"/>
                <a:cs typeface="Calibri" pitchFamily="34" charset="-120"/>
              </a:rPr>
              <a:t>output/figures/fig_nw_ratio_distribution_complex_prerbc.png</a:t>
            </a:r>
            <a:endParaRPr lang="en-US" sz="1000" dirty="0"/>
          </a:p>
        </p:txBody>
      </p:sp>
      <p:sp>
        <p:nvSpPr>
          <p:cNvPr id="30" name="Text 28"/>
          <p:cNvSpPr/>
          <p:nvPr/>
        </p:nvSpPr>
        <p:spPr>
          <a:xfrm>
            <a:off x="7022592" y="6172200"/>
            <a:ext cx="4956048" cy="475488"/>
          </a:xfrm>
          <a:prstGeom prst="rect">
            <a:avLst/>
          </a:prstGeom>
          <a:noFill/>
          <a:ln/>
        </p:spPr>
        <p:txBody>
          <a:bodyPr wrap="square" rtlCol="0" anchor="ctr"/>
          <a:lstStyle/>
          <a:p>
            <a:pPr marL="0" indent="0" algn="ctr">
              <a:buNone/>
            </a:pPr>
            <a:r>
              <a:rPr lang="en-US" sz="1050" i="1" dirty="0">
                <a:solidFill>
                  <a:srgbClr val="5A5A5A"/>
                </a:solidFill>
                <a:latin typeface="Calibri" pitchFamily="34" charset="0"/>
                <a:ea typeface="Calibri" pitchFamily="34" charset="-122"/>
                <a:cs typeface="Calibri" pitchFamily="34" charset="-120"/>
              </a:rPr>
              <a:t>Each bar is a credit union. The tall cluster just at 10% shows how many institutions</a:t>
            </a:r>
            <a:endParaRPr lang="en-US" sz="1050" dirty="0"/>
          </a:p>
          <a:p>
            <a:pPr marL="0" indent="0" algn="ctr">
              <a:buNone/>
            </a:pPr>
            <a:r>
              <a:rPr lang="en-US" sz="1050" i="1" dirty="0">
                <a:solidFill>
                  <a:srgbClr val="5A5A5A"/>
                </a:solidFill>
                <a:latin typeface="Calibri" pitchFamily="34" charset="0"/>
                <a:ea typeface="Calibri" pitchFamily="34" charset="-122"/>
                <a:cs typeface="Calibri" pitchFamily="34" charset="-120"/>
              </a:rPr>
              <a:t>had almost exactly the minimum required capital — with very little room to spare.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2 — Did Capital Levels Rise?</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the rule cause complex credit unions to hold more capital?</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2</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Mixed. Average capital levels rose — but fewer institutions are now meeting the well-capitalized standard. The bar rose faster than capital could accumulate.</a:t>
            </a:r>
            <a:endParaRPr lang="en-US" sz="1250" dirty="0"/>
          </a:p>
        </p:txBody>
      </p:sp>
      <p:sp>
        <p:nvSpPr>
          <p:cNvPr id="12" name="Shape 10"/>
          <p:cNvSpPr/>
          <p:nvPr/>
        </p:nvSpPr>
        <p:spPr>
          <a:xfrm>
            <a:off x="1691640" y="2331720"/>
            <a:ext cx="347472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3291840" cy="475488"/>
          </a:xfrm>
          <a:prstGeom prst="rect">
            <a:avLst/>
          </a:prstGeom>
          <a:noFill/>
          <a:ln/>
        </p:spPr>
        <p:txBody>
          <a:bodyPr wrap="square" rtlCol="0" anchor="ctr"/>
          <a:lstStyle/>
          <a:p>
            <a:pPr marL="0" indent="0" algn="ctr">
              <a:buNone/>
            </a:pPr>
            <a:r>
              <a:rPr lang="en-US" sz="2400" b="1" dirty="0">
                <a:solidFill>
                  <a:srgbClr val="95D5B2"/>
                </a:solidFill>
                <a:latin typeface="Calibri" pitchFamily="34" charset="0"/>
                <a:ea typeface="Calibri" pitchFamily="34" charset="-122"/>
                <a:cs typeface="Calibri" pitchFamily="34" charset="-120"/>
              </a:rPr>
              <a:t>+46bp</a:t>
            </a:r>
            <a:endParaRPr lang="en-US" sz="2400" dirty="0"/>
          </a:p>
        </p:txBody>
      </p:sp>
      <p:sp>
        <p:nvSpPr>
          <p:cNvPr id="14" name="Text 12"/>
          <p:cNvSpPr/>
          <p:nvPr/>
        </p:nvSpPr>
        <p:spPr>
          <a:xfrm>
            <a:off x="1783080" y="2834640"/>
            <a:ext cx="329184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Net worth ratio increase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(p &lt; 0.01)</a:t>
            </a:r>
            <a:endParaRPr lang="en-US" sz="1000" dirty="0"/>
          </a:p>
        </p:txBody>
      </p:sp>
      <p:sp>
        <p:nvSpPr>
          <p:cNvPr id="15" name="Shape 13"/>
          <p:cNvSpPr/>
          <p:nvPr/>
        </p:nvSpPr>
        <p:spPr>
          <a:xfrm>
            <a:off x="5074920" y="2331720"/>
            <a:ext cx="333756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5166360" y="2404872"/>
            <a:ext cx="3154680" cy="475488"/>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−3.7pp</a:t>
            </a:r>
            <a:endParaRPr lang="en-US" sz="2400" dirty="0"/>
          </a:p>
        </p:txBody>
      </p:sp>
      <p:sp>
        <p:nvSpPr>
          <p:cNvPr id="17" name="Text 15"/>
          <p:cNvSpPr/>
          <p:nvPr/>
        </p:nvSpPr>
        <p:spPr>
          <a:xfrm>
            <a:off x="5166360" y="2834640"/>
            <a:ext cx="315468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Well-capitalized probability</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change (p &lt; 0.01)</a:t>
            </a:r>
            <a:endParaRPr lang="en-US" sz="1000" dirty="0"/>
          </a:p>
        </p:txBody>
      </p:sp>
      <p:sp>
        <p:nvSpPr>
          <p:cNvPr id="18" name="Text 16"/>
          <p:cNvSpPr/>
          <p:nvPr/>
        </p:nvSpPr>
        <p:spPr>
          <a:xfrm>
            <a:off x="1691640" y="336499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PARADOX EXPLAINED</a:t>
            </a:r>
            <a:endParaRPr lang="en-US" sz="900" dirty="0"/>
          </a:p>
        </p:txBody>
      </p:sp>
      <p:sp>
        <p:nvSpPr>
          <p:cNvPr id="19" name="Text 17"/>
          <p:cNvSpPr/>
          <p:nvPr/>
        </p:nvSpPr>
        <p:spPr>
          <a:xfrm>
            <a:off x="1691640" y="3566160"/>
            <a:ext cx="5029200" cy="91440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Capital rose — institutions responded to the rule’s incentive to build reserves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But the “well-capitalized” bar rose simultaneously, faster than capital could accumulate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Result: more capital on average, but fewer institutions clearing the new bar</a:t>
            </a:r>
            <a:endParaRPr lang="en-US" sz="1150" dirty="0"/>
          </a:p>
        </p:txBody>
      </p:sp>
      <p:sp>
        <p:nvSpPr>
          <p:cNvPr id="20" name="Shape 18"/>
          <p:cNvSpPr/>
          <p:nvPr/>
        </p:nvSpPr>
        <p:spPr>
          <a:xfrm>
            <a:off x="1691640" y="4572000"/>
            <a:ext cx="5029200" cy="594360"/>
          </a:xfrm>
          <a:prstGeom prst="rect">
            <a:avLst/>
          </a:prstGeom>
          <a:solidFill>
            <a:srgbClr val="EDE8DF"/>
          </a:solidFill>
          <a:ln w="12700">
            <a:solidFill>
              <a:srgbClr val="C8C0B0"/>
            </a:solidFill>
            <a:prstDash val="solid"/>
          </a:ln>
        </p:spPr>
        <p:txBody>
          <a:bodyPr/>
          <a:lstStyle/>
          <a:p>
            <a:endParaRPr lang="en-US"/>
          </a:p>
        </p:txBody>
      </p:sp>
      <p:sp>
        <p:nvSpPr>
          <p:cNvPr id="21" name="Shape 19"/>
          <p:cNvSpPr/>
          <p:nvPr/>
        </p:nvSpPr>
        <p:spPr>
          <a:xfrm>
            <a:off x="1691640" y="4572000"/>
            <a:ext cx="64008" cy="594360"/>
          </a:xfrm>
          <a:prstGeom prst="rect">
            <a:avLst/>
          </a:prstGeom>
          <a:solidFill>
            <a:srgbClr val="C89728"/>
          </a:solidFill>
          <a:ln w="12700">
            <a:solidFill>
              <a:srgbClr val="C89728"/>
            </a:solidFill>
            <a:prstDash val="solid"/>
          </a:ln>
        </p:spPr>
        <p:txBody>
          <a:bodyPr/>
          <a:lstStyle/>
          <a:p>
            <a:endParaRPr lang="en-US"/>
          </a:p>
        </p:txBody>
      </p:sp>
      <p:sp>
        <p:nvSpPr>
          <p:cNvPr id="22" name="Text 20"/>
          <p:cNvSpPr/>
          <p:nvPr/>
        </p:nvSpPr>
        <p:spPr>
          <a:xfrm>
            <a:off x="1828800" y="4617720"/>
            <a:ext cx="4828032" cy="50292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Analogy: Every student studied harder — but the passing grade rose even more. Scores went up, yet more students are failing. Both facts are true simultaneously.</a:t>
            </a:r>
            <a:endParaRPr lang="en-US" sz="1050" dirty="0"/>
          </a:p>
        </p:txBody>
      </p:sp>
      <p:sp>
        <p:nvSpPr>
          <p:cNvPr id="23" name="Text 21"/>
          <p:cNvSpPr/>
          <p:nvPr/>
        </p:nvSpPr>
        <p:spPr>
          <a:xfrm>
            <a:off x="1691640" y="525780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DOES “WELL-CAPITALIZED” MEAN?</a:t>
            </a:r>
            <a:endParaRPr lang="en-US" sz="900" dirty="0"/>
          </a:p>
        </p:txBody>
      </p:sp>
      <p:sp>
        <p:nvSpPr>
          <p:cNvPr id="24" name="Text 22"/>
          <p:cNvSpPr/>
          <p:nvPr/>
        </p:nvSpPr>
        <p:spPr>
          <a:xfrm>
            <a:off x="1691640" y="5440680"/>
            <a:ext cx="5029200" cy="411480"/>
          </a:xfrm>
          <a:prstGeom prst="rect">
            <a:avLst/>
          </a:prstGeom>
          <a:noFill/>
          <a:ln/>
        </p:spPr>
        <p:txBody>
          <a:bodyPr wrap="square" rtlCol="0" anchor="ctr"/>
          <a:lstStyle/>
          <a:p>
            <a:pPr marL="0" indent="0">
              <a:buNone/>
            </a:pPr>
            <a:r>
              <a:rPr lang="en-US" sz="1000" dirty="0">
                <a:solidFill>
                  <a:srgbClr val="5A5A5A"/>
                </a:solidFill>
                <a:latin typeface="Calibri" pitchFamily="34" charset="0"/>
                <a:ea typeface="Calibri" pitchFamily="34" charset="-122"/>
                <a:cs typeface="Calibri" pitchFamily="34" charset="-120"/>
              </a:rPr>
              <a:t>A complex CU must hold at least 10% net worth against risk-weighted assets. Falling below this triggers additional regulatory scrutiny.</a:t>
            </a:r>
            <a:endParaRPr lang="en-US" sz="1000" dirty="0"/>
          </a:p>
        </p:txBody>
      </p:sp>
      <p:sp>
        <p:nvSpPr>
          <p:cNvPr id="25" name="Shape 23"/>
          <p:cNvSpPr/>
          <p:nvPr/>
        </p:nvSpPr>
        <p:spPr>
          <a:xfrm>
            <a:off x="6766560" y="2331720"/>
            <a:ext cx="36576" cy="4389120"/>
          </a:xfrm>
          <a:prstGeom prst="rect">
            <a:avLst/>
          </a:prstGeom>
          <a:solidFill>
            <a:srgbClr val="C8C0B0"/>
          </a:solidFill>
          <a:ln w="12700">
            <a:solidFill>
              <a:srgbClr val="C8C0B0"/>
            </a:solidFill>
            <a:prstDash val="solid"/>
          </a:ln>
        </p:spPr>
        <p:txBody>
          <a:bodyPr/>
          <a:lstStyle/>
          <a:p>
            <a:endParaRPr lang="en-US"/>
          </a:p>
        </p:txBody>
      </p:sp>
      <p:sp>
        <p:nvSpPr>
          <p:cNvPr id="26" name="Text 24"/>
          <p:cNvSpPr/>
          <p:nvPr/>
        </p:nvSpPr>
        <p:spPr>
          <a:xfrm>
            <a:off x="690372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FIGURE  (Figure3_EventStudy_Capital.png)</a:t>
            </a:r>
            <a:endParaRPr lang="en-US" sz="900" dirty="0"/>
          </a:p>
        </p:txBody>
      </p:sp>
      <p:sp>
        <p:nvSpPr>
          <p:cNvPr id="27" name="Shape 25"/>
          <p:cNvSpPr/>
          <p:nvPr/>
        </p:nvSpPr>
        <p:spPr>
          <a:xfrm>
            <a:off x="6903720" y="2514600"/>
            <a:ext cx="3246120" cy="3520440"/>
          </a:xfrm>
          <a:prstGeom prst="rect">
            <a:avLst/>
          </a:prstGeom>
          <a:solidFill>
            <a:srgbClr val="EDE8DF"/>
          </a:solidFill>
          <a:ln w="12700">
            <a:solidFill>
              <a:srgbClr val="C8C0B0"/>
            </a:solidFill>
            <a:prstDash val="dash"/>
          </a:ln>
        </p:spPr>
        <p:txBody>
          <a:bodyPr/>
          <a:lstStyle/>
          <a:p>
            <a:endParaRPr lang="en-US"/>
          </a:p>
        </p:txBody>
      </p:sp>
      <p:sp>
        <p:nvSpPr>
          <p:cNvPr id="28" name="Text 26"/>
          <p:cNvSpPr/>
          <p:nvPr/>
        </p:nvSpPr>
        <p:spPr>
          <a:xfrm>
            <a:off x="6903720" y="4069080"/>
            <a:ext cx="3246120" cy="320040"/>
          </a:xfrm>
          <a:prstGeom prst="rect">
            <a:avLst/>
          </a:prstGeom>
          <a:noFill/>
          <a:ln/>
        </p:spPr>
        <p:txBody>
          <a:bodyPr wrap="square" rtlCol="0" anchor="ctr"/>
          <a:lstStyle/>
          <a:p>
            <a:pPr marL="0" indent="0" algn="ctr">
              <a:buNone/>
            </a:pPr>
            <a:r>
              <a:rPr lang="en-US" sz="900" i="1" dirty="0">
                <a:solidFill>
                  <a:srgbClr val="C89728"/>
                </a:solidFill>
                <a:latin typeface="Calibri" pitchFamily="34" charset="0"/>
                <a:ea typeface="Calibri" pitchFamily="34" charset="-122"/>
                <a:cs typeface="Calibri" pitchFamily="34" charset="-120"/>
              </a:rPr>
              <a:t>Figure3_EventStudy_Capital.png</a:t>
            </a:r>
            <a:endParaRPr lang="en-US" sz="900" dirty="0"/>
          </a:p>
        </p:txBody>
      </p:sp>
      <p:sp>
        <p:nvSpPr>
          <p:cNvPr id="29" name="Text 27"/>
          <p:cNvSpPr/>
          <p:nvPr/>
        </p:nvSpPr>
        <p:spPr>
          <a:xfrm>
            <a:off x="6903720" y="6108192"/>
            <a:ext cx="3246120" cy="228600"/>
          </a:xfrm>
          <a:prstGeom prst="rect">
            <a:avLst/>
          </a:prstGeom>
          <a:noFill/>
          <a:ln/>
        </p:spPr>
        <p:txBody>
          <a:bodyPr wrap="square" rtlCol="0" anchor="ctr"/>
          <a:lstStyle/>
          <a:p>
            <a:pPr marL="0" indent="0" algn="ctr">
              <a:buNone/>
            </a:pPr>
            <a:r>
              <a:rPr lang="en-US" sz="850" i="1" dirty="0">
                <a:solidFill>
                  <a:srgbClr val="5A5A5A"/>
                </a:solidFill>
                <a:latin typeface="Calibri" pitchFamily="34" charset="0"/>
                <a:ea typeface="Calibri" pitchFamily="34" charset="-122"/>
                <a:cs typeface="Calibri" pitchFamily="34" charset="-120"/>
              </a:rPr>
              <a:t>Pre-period flat across all panels ✔</a:t>
            </a:r>
            <a:endParaRPr lang="en-US" sz="850" dirty="0"/>
          </a:p>
        </p:txBody>
      </p:sp>
      <p:sp>
        <p:nvSpPr>
          <p:cNvPr id="30" name="Text 28"/>
          <p:cNvSpPr/>
          <p:nvPr/>
        </p:nvSpPr>
        <p:spPr>
          <a:xfrm>
            <a:off x="1024128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EACH PANEL SHOWS</a:t>
            </a:r>
            <a:endParaRPr lang="en-US" sz="900" dirty="0"/>
          </a:p>
        </p:txBody>
      </p:sp>
      <p:sp>
        <p:nvSpPr>
          <p:cNvPr id="31" name="Shape 29"/>
          <p:cNvSpPr/>
          <p:nvPr/>
        </p:nvSpPr>
        <p:spPr>
          <a:xfrm>
            <a:off x="10241280" y="2514600"/>
            <a:ext cx="274320" cy="274320"/>
          </a:xfrm>
          <a:prstGeom prst="rect">
            <a:avLst/>
          </a:prstGeom>
          <a:solidFill>
            <a:srgbClr val="2D6A4F"/>
          </a:solidFill>
          <a:ln w="12700">
            <a:solidFill>
              <a:srgbClr val="2D6A4F"/>
            </a:solidFill>
            <a:prstDash val="solid"/>
          </a:ln>
        </p:spPr>
        <p:txBody>
          <a:bodyPr/>
          <a:lstStyle/>
          <a:p>
            <a:endParaRPr lang="en-US"/>
          </a:p>
        </p:txBody>
      </p:sp>
      <p:sp>
        <p:nvSpPr>
          <p:cNvPr id="32" name="Text 30"/>
          <p:cNvSpPr/>
          <p:nvPr/>
        </p:nvSpPr>
        <p:spPr>
          <a:xfrm>
            <a:off x="10241280" y="2514600"/>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3" name="Text 31"/>
          <p:cNvSpPr/>
          <p:nvPr/>
        </p:nvSpPr>
        <p:spPr>
          <a:xfrm>
            <a:off x="10561320" y="2532888"/>
            <a:ext cx="1463040" cy="256032"/>
          </a:xfrm>
          <a:prstGeom prst="rect">
            <a:avLst/>
          </a:prstGeom>
          <a:noFill/>
          <a:ln/>
        </p:spPr>
        <p:txBody>
          <a:bodyPr wrap="square" rtlCol="0" anchor="ctr"/>
          <a:lstStyle/>
          <a:p>
            <a:pPr marL="0" indent="0">
              <a:buNone/>
            </a:pPr>
            <a:r>
              <a:rPr lang="en-US" sz="950" b="1" dirty="0">
                <a:solidFill>
                  <a:srgbClr val="1A2744"/>
                </a:solidFill>
                <a:latin typeface="Calibri" pitchFamily="34" charset="0"/>
                <a:ea typeface="Calibri" pitchFamily="34" charset="-122"/>
                <a:cs typeface="Calibri" pitchFamily="34" charset="-120"/>
              </a:rPr>
              <a:t>Net Worth Ratio — RISES THEN FALLS</a:t>
            </a:r>
            <a:endParaRPr lang="en-US" sz="950" dirty="0"/>
          </a:p>
        </p:txBody>
      </p:sp>
      <p:sp>
        <p:nvSpPr>
          <p:cNvPr id="34" name="Text 32"/>
          <p:cNvSpPr/>
          <p:nvPr/>
        </p:nvSpPr>
        <p:spPr>
          <a:xfrm>
            <a:off x="10241280" y="2788920"/>
            <a:ext cx="1783080" cy="502920"/>
          </a:xfrm>
          <a:prstGeom prst="rect">
            <a:avLst/>
          </a:prstGeom>
          <a:noFill/>
          <a:ln/>
        </p:spPr>
        <p:txBody>
          <a:bodyPr wrap="square" rtlCol="0" anchor="ctr"/>
          <a:lstStyle/>
          <a:p>
            <a:pPr marL="0" indent="0">
              <a:buNone/>
            </a:pPr>
            <a:r>
              <a:rPr lang="en-US" sz="850" dirty="0">
                <a:solidFill>
                  <a:srgbClr val="5A5A5A"/>
                </a:solidFill>
                <a:latin typeface="Calibri" pitchFamily="34" charset="0"/>
                <a:ea typeface="Calibri" pitchFamily="34" charset="-122"/>
                <a:cs typeface="Calibri" pitchFamily="34" charset="-120"/>
              </a:rPr>
              <a:t>Capital builds for 2 quarters then retreats — the rule produced a temporary adjustment, not a lasting gain</a:t>
            </a:r>
            <a:endParaRPr lang="en-US" sz="850" dirty="0"/>
          </a:p>
        </p:txBody>
      </p:sp>
      <p:sp>
        <p:nvSpPr>
          <p:cNvPr id="35" name="Shape 33"/>
          <p:cNvSpPr/>
          <p:nvPr/>
        </p:nvSpPr>
        <p:spPr>
          <a:xfrm>
            <a:off x="10241280" y="3355848"/>
            <a:ext cx="274320" cy="274320"/>
          </a:xfrm>
          <a:prstGeom prst="rect">
            <a:avLst/>
          </a:prstGeom>
          <a:solidFill>
            <a:srgbClr val="9B2226"/>
          </a:solidFill>
          <a:ln w="12700">
            <a:solidFill>
              <a:srgbClr val="9B2226"/>
            </a:solidFill>
            <a:prstDash val="solid"/>
          </a:ln>
        </p:spPr>
        <p:txBody>
          <a:bodyPr/>
          <a:lstStyle/>
          <a:p>
            <a:endParaRPr lang="en-US"/>
          </a:p>
        </p:txBody>
      </p:sp>
      <p:sp>
        <p:nvSpPr>
          <p:cNvPr id="36" name="Text 34"/>
          <p:cNvSpPr/>
          <p:nvPr/>
        </p:nvSpPr>
        <p:spPr>
          <a:xfrm>
            <a:off x="10241280" y="3355848"/>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37" name="Text 35"/>
          <p:cNvSpPr/>
          <p:nvPr/>
        </p:nvSpPr>
        <p:spPr>
          <a:xfrm>
            <a:off x="10561320" y="3374136"/>
            <a:ext cx="1463040" cy="256032"/>
          </a:xfrm>
          <a:prstGeom prst="rect">
            <a:avLst/>
          </a:prstGeom>
          <a:noFill/>
          <a:ln/>
        </p:spPr>
        <p:txBody>
          <a:bodyPr wrap="square" rtlCol="0" anchor="ctr"/>
          <a:lstStyle/>
          <a:p>
            <a:pPr marL="0" indent="0">
              <a:buNone/>
            </a:pPr>
            <a:r>
              <a:rPr lang="en-US" sz="950" b="1" dirty="0">
                <a:solidFill>
                  <a:srgbClr val="1A2744"/>
                </a:solidFill>
                <a:latin typeface="Calibri" pitchFamily="34" charset="0"/>
                <a:ea typeface="Calibri" pitchFamily="34" charset="-122"/>
                <a:cs typeface="Calibri" pitchFamily="34" charset="-120"/>
              </a:rPr>
              <a:t>Near-threshold CUs — WORSE OFF</a:t>
            </a:r>
            <a:endParaRPr lang="en-US" sz="950" dirty="0"/>
          </a:p>
        </p:txBody>
      </p:sp>
      <p:sp>
        <p:nvSpPr>
          <p:cNvPr id="38" name="Text 36"/>
          <p:cNvSpPr/>
          <p:nvPr/>
        </p:nvSpPr>
        <p:spPr>
          <a:xfrm>
            <a:off x="10241280" y="3630168"/>
            <a:ext cx="1783080" cy="502920"/>
          </a:xfrm>
          <a:prstGeom prst="rect">
            <a:avLst/>
          </a:prstGeom>
          <a:noFill/>
          <a:ln/>
        </p:spPr>
        <p:txBody>
          <a:bodyPr wrap="square" rtlCol="0" anchor="ctr"/>
          <a:lstStyle/>
          <a:p>
            <a:pPr marL="0" indent="0">
              <a:buNone/>
            </a:pPr>
            <a:r>
              <a:rPr lang="en-US" sz="850" dirty="0">
                <a:solidFill>
                  <a:srgbClr val="5A5A5A"/>
                </a:solidFill>
                <a:latin typeface="Calibri" pitchFamily="34" charset="0"/>
                <a:ea typeface="Calibri" pitchFamily="34" charset="-122"/>
                <a:cs typeface="Calibri" pitchFamily="34" charset="-120"/>
              </a:rPr>
              <a:t>CUs closest to 10% ended below where they started — compliance costs outpaced their ability to build capital</a:t>
            </a:r>
            <a:endParaRPr lang="en-US" sz="850" dirty="0"/>
          </a:p>
        </p:txBody>
      </p:sp>
      <p:sp>
        <p:nvSpPr>
          <p:cNvPr id="39" name="Shape 37"/>
          <p:cNvSpPr/>
          <p:nvPr/>
        </p:nvSpPr>
        <p:spPr>
          <a:xfrm>
            <a:off x="10241280" y="4197096"/>
            <a:ext cx="274320" cy="274320"/>
          </a:xfrm>
          <a:prstGeom prst="rect">
            <a:avLst/>
          </a:prstGeom>
          <a:solidFill>
            <a:srgbClr val="9B2226"/>
          </a:solidFill>
          <a:ln w="12700">
            <a:solidFill>
              <a:srgbClr val="9B2226"/>
            </a:solidFill>
            <a:prstDash val="solid"/>
          </a:ln>
        </p:spPr>
        <p:txBody>
          <a:bodyPr/>
          <a:lstStyle/>
          <a:p>
            <a:endParaRPr lang="en-US"/>
          </a:p>
        </p:txBody>
      </p:sp>
      <p:sp>
        <p:nvSpPr>
          <p:cNvPr id="40" name="Text 38"/>
          <p:cNvSpPr/>
          <p:nvPr/>
        </p:nvSpPr>
        <p:spPr>
          <a:xfrm>
            <a:off x="10241280" y="4197096"/>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1" name="Text 39"/>
          <p:cNvSpPr/>
          <p:nvPr/>
        </p:nvSpPr>
        <p:spPr>
          <a:xfrm>
            <a:off x="10561320" y="4215384"/>
            <a:ext cx="1463040" cy="256032"/>
          </a:xfrm>
          <a:prstGeom prst="rect">
            <a:avLst/>
          </a:prstGeom>
          <a:noFill/>
          <a:ln/>
        </p:spPr>
        <p:txBody>
          <a:bodyPr wrap="square" rtlCol="0" anchor="ctr"/>
          <a:lstStyle/>
          <a:p>
            <a:pPr marL="0" indent="0">
              <a:buNone/>
            </a:pPr>
            <a:r>
              <a:rPr lang="en-US" sz="950" b="1" dirty="0">
                <a:solidFill>
                  <a:srgbClr val="1A2744"/>
                </a:solidFill>
                <a:latin typeface="Calibri" pitchFamily="34" charset="0"/>
                <a:ea typeface="Calibri" pitchFamily="34" charset="-122"/>
                <a:cs typeface="Calibri" pitchFamily="34" charset="-120"/>
              </a:rPr>
              <a:t>Well-Capitalized % ↓ FALLS</a:t>
            </a:r>
            <a:endParaRPr lang="en-US" sz="950" dirty="0"/>
          </a:p>
        </p:txBody>
      </p:sp>
      <p:sp>
        <p:nvSpPr>
          <p:cNvPr id="42" name="Text 40"/>
          <p:cNvSpPr/>
          <p:nvPr/>
        </p:nvSpPr>
        <p:spPr>
          <a:xfrm>
            <a:off x="10241280" y="4471416"/>
            <a:ext cx="1783080" cy="502920"/>
          </a:xfrm>
          <a:prstGeom prst="rect">
            <a:avLst/>
          </a:prstGeom>
          <a:noFill/>
          <a:ln/>
        </p:spPr>
        <p:txBody>
          <a:bodyPr wrap="square" rtlCol="0" anchor="ctr"/>
          <a:lstStyle/>
          <a:p>
            <a:pPr marL="0" indent="0">
              <a:buNone/>
            </a:pPr>
            <a:r>
              <a:rPr lang="en-US" sz="850" dirty="0">
                <a:solidFill>
                  <a:srgbClr val="5A5A5A"/>
                </a:solidFill>
                <a:latin typeface="Calibri" pitchFamily="34" charset="0"/>
                <a:ea typeface="Calibri" pitchFamily="34" charset="-122"/>
                <a:cs typeface="Calibri" pitchFamily="34" charset="-120"/>
              </a:rPr>
              <a:t>Persistently fewer institutions clear the new bar — the standard rose faster than capital</a:t>
            </a:r>
            <a:endParaRPr lang="en-US" sz="850" dirty="0"/>
          </a:p>
        </p:txBody>
      </p:sp>
      <p:sp>
        <p:nvSpPr>
          <p:cNvPr id="43" name="Shape 41"/>
          <p:cNvSpPr/>
          <p:nvPr/>
        </p:nvSpPr>
        <p:spPr>
          <a:xfrm>
            <a:off x="10241280" y="5038344"/>
            <a:ext cx="274320" cy="274320"/>
          </a:xfrm>
          <a:prstGeom prst="rect">
            <a:avLst/>
          </a:prstGeom>
          <a:solidFill>
            <a:srgbClr val="9B2226"/>
          </a:solidFill>
          <a:ln w="12700">
            <a:solidFill>
              <a:srgbClr val="9B2226"/>
            </a:solidFill>
            <a:prstDash val="solid"/>
          </a:ln>
        </p:spPr>
        <p:txBody>
          <a:bodyPr/>
          <a:lstStyle/>
          <a:p>
            <a:endParaRPr lang="en-US"/>
          </a:p>
        </p:txBody>
      </p:sp>
      <p:sp>
        <p:nvSpPr>
          <p:cNvPr id="44" name="Text 42"/>
          <p:cNvSpPr/>
          <p:nvPr/>
        </p:nvSpPr>
        <p:spPr>
          <a:xfrm>
            <a:off x="10241280" y="5038344"/>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
            </a:r>
            <a:endParaRPr lang="en-US" sz="1000" dirty="0"/>
          </a:p>
        </p:txBody>
      </p:sp>
      <p:sp>
        <p:nvSpPr>
          <p:cNvPr id="45" name="Text 43"/>
          <p:cNvSpPr/>
          <p:nvPr/>
        </p:nvSpPr>
        <p:spPr>
          <a:xfrm>
            <a:off x="10561320" y="5056632"/>
            <a:ext cx="1463040" cy="256032"/>
          </a:xfrm>
          <a:prstGeom prst="rect">
            <a:avLst/>
          </a:prstGeom>
          <a:noFill/>
          <a:ln/>
        </p:spPr>
        <p:txBody>
          <a:bodyPr wrap="square" rtlCol="0" anchor="ctr"/>
          <a:lstStyle/>
          <a:p>
            <a:pPr marL="0" indent="0">
              <a:buNone/>
            </a:pPr>
            <a:r>
              <a:rPr lang="en-US" sz="950" b="1" dirty="0">
                <a:solidFill>
                  <a:srgbClr val="1A2744"/>
                </a:solidFill>
                <a:latin typeface="Calibri" pitchFamily="34" charset="0"/>
                <a:ea typeface="Calibri" pitchFamily="34" charset="-122"/>
                <a:cs typeface="Calibri" pitchFamily="34" charset="-120"/>
              </a:rPr>
              <a:t>Loan Growth — NO RECOVERY</a:t>
            </a:r>
            <a:endParaRPr lang="en-US" sz="950" dirty="0"/>
          </a:p>
        </p:txBody>
      </p:sp>
      <p:sp>
        <p:nvSpPr>
          <p:cNvPr id="46" name="Text 44"/>
          <p:cNvSpPr/>
          <p:nvPr/>
        </p:nvSpPr>
        <p:spPr>
          <a:xfrm>
            <a:off x="10241280" y="5312664"/>
            <a:ext cx="1783080" cy="502920"/>
          </a:xfrm>
          <a:prstGeom prst="rect">
            <a:avLst/>
          </a:prstGeom>
          <a:noFill/>
          <a:ln/>
        </p:spPr>
        <p:txBody>
          <a:bodyPr wrap="square" rtlCol="0" anchor="ctr"/>
          <a:lstStyle/>
          <a:p>
            <a:pPr marL="0" indent="0">
              <a:buNone/>
            </a:pPr>
            <a:r>
              <a:rPr lang="en-US" sz="850" dirty="0">
                <a:solidFill>
                  <a:srgbClr val="5A5A5A"/>
                </a:solidFill>
                <a:latin typeface="Calibri" pitchFamily="34" charset="0"/>
                <a:ea typeface="Calibri" pitchFamily="34" charset="-122"/>
                <a:cs typeface="Calibri" pitchFamily="34" charset="-120"/>
              </a:rPr>
              <a:t>Lending contracts and never bounces back — the cost of compliance was permanent</a:t>
            </a:r>
            <a:endParaRPr lang="en-US" sz="850" dirty="0"/>
          </a:p>
        </p:txBody>
      </p:sp>
      <p:sp>
        <p:nvSpPr>
          <p:cNvPr id="47" name="Shape 45"/>
          <p:cNvSpPr/>
          <p:nvPr/>
        </p:nvSpPr>
        <p:spPr>
          <a:xfrm>
            <a:off x="6903720" y="5897880"/>
            <a:ext cx="5120640" cy="713232"/>
          </a:xfrm>
          <a:prstGeom prst="rect">
            <a:avLst/>
          </a:prstGeom>
          <a:solidFill>
            <a:srgbClr val="1A2744"/>
          </a:solidFill>
          <a:ln w="12700">
            <a:solidFill>
              <a:srgbClr val="1A2744"/>
            </a:solidFill>
            <a:prstDash val="solid"/>
          </a:ln>
        </p:spPr>
        <p:txBody>
          <a:bodyPr/>
          <a:lstStyle/>
          <a:p>
            <a:endParaRPr lang="en-US"/>
          </a:p>
        </p:txBody>
      </p:sp>
      <p:sp>
        <p:nvSpPr>
          <p:cNvPr id="48" name="Shape 46"/>
          <p:cNvSpPr/>
          <p:nvPr/>
        </p:nvSpPr>
        <p:spPr>
          <a:xfrm>
            <a:off x="6903720" y="5897880"/>
            <a:ext cx="64008" cy="713232"/>
          </a:xfrm>
          <a:prstGeom prst="rect">
            <a:avLst/>
          </a:prstGeom>
          <a:solidFill>
            <a:srgbClr val="C89728"/>
          </a:solidFill>
          <a:ln w="12700">
            <a:solidFill>
              <a:srgbClr val="C89728"/>
            </a:solidFill>
            <a:prstDash val="solid"/>
          </a:ln>
        </p:spPr>
        <p:txBody>
          <a:bodyPr/>
          <a:lstStyle/>
          <a:p>
            <a:endParaRPr lang="en-US"/>
          </a:p>
        </p:txBody>
      </p:sp>
      <p:sp>
        <p:nvSpPr>
          <p:cNvPr id="49" name="Text 47"/>
          <p:cNvSpPr/>
          <p:nvPr/>
        </p:nvSpPr>
        <p:spPr>
          <a:xfrm>
            <a:off x="7022592" y="5925312"/>
            <a:ext cx="4937760" cy="658368"/>
          </a:xfrm>
          <a:prstGeom prst="rect">
            <a:avLst/>
          </a:prstGeom>
          <a:noFill/>
          <a:ln/>
        </p:spPr>
        <p:txBody>
          <a:bodyPr wrap="square" rtlCol="0" anchor="ctr"/>
          <a:lstStyle/>
          <a:p>
            <a:pPr marL="0" indent="0">
              <a:buNone/>
            </a:pPr>
            <a:r>
              <a:rPr lang="en-US" sz="950" b="1" dirty="0">
                <a:solidFill>
                  <a:srgbClr val="E8C36A"/>
                </a:solidFill>
                <a:latin typeface="Calibri" pitchFamily="34" charset="0"/>
                <a:ea typeface="Calibri" pitchFamily="34" charset="-122"/>
                <a:cs typeface="Calibri" pitchFamily="34" charset="-120"/>
              </a:rPr>
              <a:t>After Q+2: </a:t>
            </a:r>
            <a:r>
              <a:rPr lang="en-US" sz="950" dirty="0">
                <a:solidFill>
                  <a:srgbClr val="FFFFFF"/>
                </a:solidFill>
                <a:latin typeface="Calibri" pitchFamily="34" charset="0"/>
                <a:ea typeface="Calibri" pitchFamily="34" charset="-122"/>
                <a:cs typeface="Calibri" pitchFamily="34" charset="-120"/>
              </a:rPr>
              <a:t>Capital fades, lending stays depressed, and the well-capitalized rate never recovers. The rule’s costs proved permanent; its capital benefit did not.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3 — Did Loan Rates and Lending Change?</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loan rate spreads and lending volume change significantly after the RBC rule?</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3</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Yes — rates rose across every loan type and lending contracted. Both effects are large, persistent, and show no sign of reversing.</a:t>
            </a:r>
            <a:endParaRPr lang="en-US" sz="1250" dirty="0"/>
          </a:p>
        </p:txBody>
      </p:sp>
      <p:sp>
        <p:nvSpPr>
          <p:cNvPr id="12" name="Shape 10"/>
          <p:cNvSpPr/>
          <p:nvPr/>
        </p:nvSpPr>
        <p:spPr>
          <a:xfrm>
            <a:off x="1691640" y="2331720"/>
            <a:ext cx="19659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37360" y="2331720"/>
            <a:ext cx="1874520" cy="502920"/>
          </a:xfrm>
          <a:prstGeom prst="rect">
            <a:avLst/>
          </a:prstGeom>
          <a:noFill/>
          <a:ln/>
        </p:spPr>
        <p:txBody>
          <a:bodyPr wrap="square" rtlCol="0" anchor="ctr"/>
          <a:lstStyle/>
          <a:p>
            <a:pPr marL="0" indent="0" algn="ctr">
              <a:buNone/>
            </a:pPr>
            <a:r>
              <a:rPr lang="en-US" sz="1900" b="1" dirty="0">
                <a:solidFill>
                  <a:srgbClr val="F4A5A8"/>
                </a:solidFill>
                <a:latin typeface="Calibri" pitchFamily="34" charset="0"/>
                <a:ea typeface="Calibri" pitchFamily="34" charset="-122"/>
                <a:cs typeface="Calibri" pitchFamily="34" charset="-120"/>
              </a:rPr>
              <a:t>+73bp</a:t>
            </a:r>
            <a:endParaRPr lang="en-US" sz="1900" dirty="0"/>
          </a:p>
        </p:txBody>
      </p:sp>
      <p:sp>
        <p:nvSpPr>
          <p:cNvPr id="14" name="Text 12"/>
          <p:cNvSpPr/>
          <p:nvPr/>
        </p:nvSpPr>
        <p:spPr>
          <a:xfrm>
            <a:off x="1737360" y="2807208"/>
            <a:ext cx="1874520" cy="347472"/>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Mortgage</a:t>
            </a:r>
            <a:endParaRPr lang="en-US" sz="900" dirty="0"/>
          </a:p>
        </p:txBody>
      </p:sp>
      <p:sp>
        <p:nvSpPr>
          <p:cNvPr id="15" name="Shape 13"/>
          <p:cNvSpPr/>
          <p:nvPr/>
        </p:nvSpPr>
        <p:spPr>
          <a:xfrm>
            <a:off x="3776472" y="2331720"/>
            <a:ext cx="19659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3822192" y="2331720"/>
            <a:ext cx="1874520" cy="502920"/>
          </a:xfrm>
          <a:prstGeom prst="rect">
            <a:avLst/>
          </a:prstGeom>
          <a:noFill/>
          <a:ln/>
        </p:spPr>
        <p:txBody>
          <a:bodyPr wrap="square" rtlCol="0" anchor="ctr"/>
          <a:lstStyle/>
          <a:p>
            <a:pPr marL="0" indent="0" algn="ctr">
              <a:buNone/>
            </a:pPr>
            <a:r>
              <a:rPr lang="en-US" sz="1900" b="1" dirty="0">
                <a:solidFill>
                  <a:srgbClr val="F4A5A8"/>
                </a:solidFill>
                <a:latin typeface="Calibri" pitchFamily="34" charset="0"/>
                <a:ea typeface="Calibri" pitchFamily="34" charset="-122"/>
                <a:cs typeface="Calibri" pitchFamily="34" charset="-120"/>
              </a:rPr>
              <a:t>+56bp</a:t>
            </a:r>
            <a:endParaRPr lang="en-US" sz="1900" dirty="0"/>
          </a:p>
        </p:txBody>
      </p:sp>
      <p:sp>
        <p:nvSpPr>
          <p:cNvPr id="17" name="Text 15"/>
          <p:cNvSpPr/>
          <p:nvPr/>
        </p:nvSpPr>
        <p:spPr>
          <a:xfrm>
            <a:off x="3822192" y="2807208"/>
            <a:ext cx="1874520" cy="347472"/>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New auto</a:t>
            </a:r>
            <a:endParaRPr lang="en-US" sz="900" dirty="0"/>
          </a:p>
        </p:txBody>
      </p:sp>
      <p:sp>
        <p:nvSpPr>
          <p:cNvPr id="18" name="Shape 16"/>
          <p:cNvSpPr/>
          <p:nvPr/>
        </p:nvSpPr>
        <p:spPr>
          <a:xfrm>
            <a:off x="5861304" y="2331720"/>
            <a:ext cx="19659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9" name="Text 17"/>
          <p:cNvSpPr/>
          <p:nvPr/>
        </p:nvSpPr>
        <p:spPr>
          <a:xfrm>
            <a:off x="5907024" y="2331720"/>
            <a:ext cx="1874520" cy="502920"/>
          </a:xfrm>
          <a:prstGeom prst="rect">
            <a:avLst/>
          </a:prstGeom>
          <a:noFill/>
          <a:ln/>
        </p:spPr>
        <p:txBody>
          <a:bodyPr wrap="square" rtlCol="0" anchor="ctr"/>
          <a:lstStyle/>
          <a:p>
            <a:pPr marL="0" indent="0" algn="ctr">
              <a:buNone/>
            </a:pPr>
            <a:r>
              <a:rPr lang="en-US" sz="1900" b="1" dirty="0">
                <a:solidFill>
                  <a:srgbClr val="F4A5A8"/>
                </a:solidFill>
                <a:latin typeface="Calibri" pitchFamily="34" charset="0"/>
                <a:ea typeface="Calibri" pitchFamily="34" charset="-122"/>
                <a:cs typeface="Calibri" pitchFamily="34" charset="-120"/>
              </a:rPr>
              <a:t>+76bp</a:t>
            </a:r>
            <a:endParaRPr lang="en-US" sz="1900" dirty="0"/>
          </a:p>
        </p:txBody>
      </p:sp>
      <p:sp>
        <p:nvSpPr>
          <p:cNvPr id="20" name="Text 18"/>
          <p:cNvSpPr/>
          <p:nvPr/>
        </p:nvSpPr>
        <p:spPr>
          <a:xfrm>
            <a:off x="5907024" y="2807208"/>
            <a:ext cx="1874520" cy="347472"/>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Used auto</a:t>
            </a:r>
            <a:endParaRPr lang="en-US" sz="900" dirty="0"/>
          </a:p>
        </p:txBody>
      </p:sp>
      <p:sp>
        <p:nvSpPr>
          <p:cNvPr id="21" name="Shape 19"/>
          <p:cNvSpPr/>
          <p:nvPr/>
        </p:nvSpPr>
        <p:spPr>
          <a:xfrm>
            <a:off x="7946136" y="2331720"/>
            <a:ext cx="19659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22" name="Text 20"/>
          <p:cNvSpPr/>
          <p:nvPr/>
        </p:nvSpPr>
        <p:spPr>
          <a:xfrm>
            <a:off x="7991856" y="2331720"/>
            <a:ext cx="1874520" cy="502920"/>
          </a:xfrm>
          <a:prstGeom prst="rect">
            <a:avLst/>
          </a:prstGeom>
          <a:noFill/>
          <a:ln/>
        </p:spPr>
        <p:txBody>
          <a:bodyPr wrap="square" rtlCol="0" anchor="ctr"/>
          <a:lstStyle/>
          <a:p>
            <a:pPr marL="0" indent="0" algn="ctr">
              <a:buNone/>
            </a:pPr>
            <a:r>
              <a:rPr lang="en-US" sz="1900" b="1" dirty="0">
                <a:solidFill>
                  <a:srgbClr val="F4A5A8"/>
                </a:solidFill>
                <a:latin typeface="Calibri" pitchFamily="34" charset="0"/>
                <a:ea typeface="Calibri" pitchFamily="34" charset="-122"/>
                <a:cs typeface="Calibri" pitchFamily="34" charset="-120"/>
              </a:rPr>
              <a:t>+66bp</a:t>
            </a:r>
            <a:endParaRPr lang="en-US" sz="1900" dirty="0"/>
          </a:p>
        </p:txBody>
      </p:sp>
      <p:sp>
        <p:nvSpPr>
          <p:cNvPr id="23" name="Text 21"/>
          <p:cNvSpPr/>
          <p:nvPr/>
        </p:nvSpPr>
        <p:spPr>
          <a:xfrm>
            <a:off x="7991856" y="2807208"/>
            <a:ext cx="1874520" cy="347472"/>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Commercial</a:t>
            </a:r>
            <a:endParaRPr lang="en-US" sz="900" dirty="0"/>
          </a:p>
        </p:txBody>
      </p:sp>
      <p:sp>
        <p:nvSpPr>
          <p:cNvPr id="24" name="Shape 22"/>
          <p:cNvSpPr/>
          <p:nvPr/>
        </p:nvSpPr>
        <p:spPr>
          <a:xfrm>
            <a:off x="10030968" y="2331720"/>
            <a:ext cx="19659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25" name="Text 23"/>
          <p:cNvSpPr/>
          <p:nvPr/>
        </p:nvSpPr>
        <p:spPr>
          <a:xfrm>
            <a:off x="10076688" y="2331720"/>
            <a:ext cx="1874520" cy="502920"/>
          </a:xfrm>
          <a:prstGeom prst="rect">
            <a:avLst/>
          </a:prstGeom>
          <a:noFill/>
          <a:ln/>
        </p:spPr>
        <p:txBody>
          <a:bodyPr wrap="square" rtlCol="0" anchor="ctr"/>
          <a:lstStyle/>
          <a:p>
            <a:pPr marL="0" indent="0" algn="ctr">
              <a:buNone/>
            </a:pPr>
            <a:r>
              <a:rPr lang="en-US" sz="1900" b="1" dirty="0">
                <a:solidFill>
                  <a:srgbClr val="FFCF77"/>
                </a:solidFill>
                <a:latin typeface="Calibri" pitchFamily="34" charset="0"/>
                <a:ea typeface="Calibri" pitchFamily="34" charset="-122"/>
                <a:cs typeface="Calibri" pitchFamily="34" charset="-120"/>
              </a:rPr>
              <a:t>−0.44pp</a:t>
            </a:r>
            <a:endParaRPr lang="en-US" sz="1900" dirty="0"/>
          </a:p>
        </p:txBody>
      </p:sp>
      <p:sp>
        <p:nvSpPr>
          <p:cNvPr id="26" name="Text 24"/>
          <p:cNvSpPr/>
          <p:nvPr/>
        </p:nvSpPr>
        <p:spPr>
          <a:xfrm>
            <a:off x="10076688" y="2807208"/>
            <a:ext cx="1874520" cy="347472"/>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Loan growth</a:t>
            </a:r>
            <a:endParaRPr lang="en-US" sz="900" dirty="0"/>
          </a:p>
          <a:p>
            <a:pPr marL="0" indent="0" algn="ctr">
              <a:buNone/>
            </a:pPr>
            <a:r>
              <a:rPr lang="en-US" sz="900" dirty="0">
                <a:solidFill>
                  <a:srgbClr val="B8C4D8"/>
                </a:solidFill>
                <a:latin typeface="Calibri" pitchFamily="34" charset="0"/>
                <a:ea typeface="Calibri" pitchFamily="34" charset="-122"/>
                <a:cs typeface="Calibri" pitchFamily="34" charset="-120"/>
              </a:rPr>
              <a:t>/ quarter</a:t>
            </a:r>
            <a:endParaRPr lang="en-US" sz="900" dirty="0"/>
          </a:p>
        </p:txBody>
      </p:sp>
      <p:sp>
        <p:nvSpPr>
          <p:cNvPr id="27" name="Text 25"/>
          <p:cNvSpPr/>
          <p:nvPr/>
        </p:nvSpPr>
        <p:spPr>
          <a:xfrm>
            <a:off x="1691640" y="3273552"/>
            <a:ext cx="10195560" cy="228600"/>
          </a:xfrm>
          <a:prstGeom prst="rect">
            <a:avLst/>
          </a:prstGeom>
          <a:noFill/>
          <a:ln/>
        </p:spPr>
        <p:txBody>
          <a:bodyPr wrap="square" rtlCol="0" anchor="ctr"/>
          <a:lstStyle/>
          <a:p>
            <a:pPr marL="0" indent="0" algn="ctr">
              <a:buNone/>
            </a:pPr>
            <a:r>
              <a:rPr lang="en-US" sz="950" i="1" dirty="0">
                <a:solidFill>
                  <a:srgbClr val="5A5A5A"/>
                </a:solidFill>
                <a:latin typeface="Calibri" pitchFamily="34" charset="0"/>
                <a:ea typeface="Calibri" pitchFamily="34" charset="-122"/>
                <a:cs typeface="Calibri" pitchFamily="34" charset="-120"/>
              </a:rPr>
              <a:t>All effects statistically significant at p &lt; 0.001 — persistent through 10+ quarters with no sign of convergence</a:t>
            </a:r>
            <a:endParaRPr lang="en-US" sz="950" dirty="0"/>
          </a:p>
        </p:txBody>
      </p:sp>
      <p:sp>
        <p:nvSpPr>
          <p:cNvPr id="28" name="Text 26"/>
          <p:cNvSpPr/>
          <p:nvPr/>
        </p:nvSpPr>
        <p:spPr>
          <a:xfrm>
            <a:off x="1691640" y="3584448"/>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POINTS</a:t>
            </a:r>
            <a:endParaRPr lang="en-US" sz="900" dirty="0"/>
          </a:p>
        </p:txBody>
      </p:sp>
      <p:sp>
        <p:nvSpPr>
          <p:cNvPr id="29" name="Text 27"/>
          <p:cNvSpPr/>
          <p:nvPr/>
        </p:nvSpPr>
        <p:spPr>
          <a:xfrm>
            <a:off x="1691640" y="3767328"/>
            <a:ext cx="5029200" cy="141732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Credit unions raised rates to cover higher capital costs — the entire regulatory cost was passed to member-borrowers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A 73bp increase on a $300,000 30-year mortgage adds roughly $150 per month in payments (assuming a 7% base rate)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Lending contracted at 0.44pp per quarter and never recovered — tighter credit is the direct cost to members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No effect reversed within the observation window — these are permanent shifts</a:t>
            </a:r>
            <a:endParaRPr lang="en-US" sz="1150" dirty="0"/>
          </a:p>
        </p:txBody>
      </p:sp>
      <p:sp>
        <p:nvSpPr>
          <p:cNvPr id="30" name="Text 28"/>
          <p:cNvSpPr/>
          <p:nvPr/>
        </p:nvSpPr>
        <p:spPr>
          <a:xfrm>
            <a:off x="1691640" y="528523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EACH PANEL SHOWS</a:t>
            </a:r>
            <a:endParaRPr lang="en-US" sz="900" dirty="0"/>
          </a:p>
        </p:txBody>
      </p:sp>
      <p:sp>
        <p:nvSpPr>
          <p:cNvPr id="31" name="Shape 29"/>
          <p:cNvSpPr/>
          <p:nvPr/>
        </p:nvSpPr>
        <p:spPr>
          <a:xfrm>
            <a:off x="1691640" y="5468112"/>
            <a:ext cx="219456" cy="219456"/>
          </a:xfrm>
          <a:prstGeom prst="rect">
            <a:avLst/>
          </a:prstGeom>
          <a:solidFill>
            <a:srgbClr val="9B2226"/>
          </a:solidFill>
          <a:ln w="12700">
            <a:solidFill>
              <a:srgbClr val="9B2226"/>
            </a:solidFill>
            <a:prstDash val="solid"/>
          </a:ln>
        </p:spPr>
        <p:txBody>
          <a:bodyPr/>
          <a:lstStyle/>
          <a:p>
            <a:endParaRPr lang="en-US"/>
          </a:p>
        </p:txBody>
      </p:sp>
      <p:sp>
        <p:nvSpPr>
          <p:cNvPr id="32" name="Text 30"/>
          <p:cNvSpPr/>
          <p:nvPr/>
        </p:nvSpPr>
        <p:spPr>
          <a:xfrm>
            <a:off x="1691640" y="5468112"/>
            <a:ext cx="219456"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a:t>
            </a:r>
            <a:endParaRPr lang="en-US" sz="850" dirty="0"/>
          </a:p>
        </p:txBody>
      </p:sp>
      <p:sp>
        <p:nvSpPr>
          <p:cNvPr id="33" name="Text 31"/>
          <p:cNvSpPr/>
          <p:nvPr/>
        </p:nvSpPr>
        <p:spPr>
          <a:xfrm>
            <a:off x="1947672" y="5468112"/>
            <a:ext cx="2240280" cy="201168"/>
          </a:xfrm>
          <a:prstGeom prst="rect">
            <a:avLst/>
          </a:prstGeom>
          <a:noFill/>
          <a:ln/>
        </p:spPr>
        <p:txBody>
          <a:bodyPr wrap="square" rtlCol="0" anchor="ctr"/>
          <a:lstStyle/>
          <a:p>
            <a:pPr marL="0" indent="0">
              <a:buNone/>
            </a:pPr>
            <a:r>
              <a:rPr lang="en-US" sz="850" b="1" dirty="0">
                <a:solidFill>
                  <a:srgbClr val="1A2744"/>
                </a:solidFill>
                <a:latin typeface="Calibri" pitchFamily="34" charset="0"/>
                <a:ea typeface="Calibri" pitchFamily="34" charset="-122"/>
                <a:cs typeface="Calibri" pitchFamily="34" charset="-120"/>
              </a:rPr>
              <a:t>Mortgage spread ↑ +73bp</a:t>
            </a:r>
            <a:endParaRPr lang="en-US" sz="850" dirty="0"/>
          </a:p>
        </p:txBody>
      </p:sp>
      <p:sp>
        <p:nvSpPr>
          <p:cNvPr id="34" name="Text 32"/>
          <p:cNvSpPr/>
          <p:nvPr/>
        </p:nvSpPr>
        <p:spPr>
          <a:xfrm>
            <a:off x="1947672" y="5669280"/>
            <a:ext cx="2240280" cy="292608"/>
          </a:xfrm>
          <a:prstGeom prst="rect">
            <a:avLst/>
          </a:prstGeom>
          <a:noFill/>
          <a:ln/>
        </p:spPr>
        <p:txBody>
          <a:bodyPr wrap="square" rtlCol="0" anchor="ctr"/>
          <a:lstStyle/>
          <a:p>
            <a:pPr marL="0" indent="0">
              <a:buNone/>
            </a:pPr>
            <a:r>
              <a:rPr lang="en-US" sz="800" dirty="0">
                <a:solidFill>
                  <a:srgbClr val="5A5A5A"/>
                </a:solidFill>
                <a:latin typeface="Calibri" pitchFamily="34" charset="0"/>
                <a:ea typeface="Calibri" pitchFamily="34" charset="-122"/>
                <a:cs typeface="Calibri" pitchFamily="34" charset="-120"/>
              </a:rPr>
              <a:t>Rises at Q0, stays elevated — no reversal</a:t>
            </a:r>
            <a:endParaRPr lang="en-US" sz="800" dirty="0"/>
          </a:p>
        </p:txBody>
      </p:sp>
      <p:sp>
        <p:nvSpPr>
          <p:cNvPr id="35" name="Shape 33"/>
          <p:cNvSpPr/>
          <p:nvPr/>
        </p:nvSpPr>
        <p:spPr>
          <a:xfrm>
            <a:off x="4270248" y="5468112"/>
            <a:ext cx="219456" cy="219456"/>
          </a:xfrm>
          <a:prstGeom prst="rect">
            <a:avLst/>
          </a:prstGeom>
          <a:solidFill>
            <a:srgbClr val="9B2226"/>
          </a:solidFill>
          <a:ln w="12700">
            <a:solidFill>
              <a:srgbClr val="9B2226"/>
            </a:solidFill>
            <a:prstDash val="solid"/>
          </a:ln>
        </p:spPr>
        <p:txBody>
          <a:bodyPr/>
          <a:lstStyle/>
          <a:p>
            <a:endParaRPr lang="en-US"/>
          </a:p>
        </p:txBody>
      </p:sp>
      <p:sp>
        <p:nvSpPr>
          <p:cNvPr id="36" name="Text 34"/>
          <p:cNvSpPr/>
          <p:nvPr/>
        </p:nvSpPr>
        <p:spPr>
          <a:xfrm>
            <a:off x="4270248" y="5468112"/>
            <a:ext cx="219456"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a:t>
            </a:r>
            <a:endParaRPr lang="en-US" sz="850" dirty="0"/>
          </a:p>
        </p:txBody>
      </p:sp>
      <p:sp>
        <p:nvSpPr>
          <p:cNvPr id="37" name="Text 35"/>
          <p:cNvSpPr/>
          <p:nvPr/>
        </p:nvSpPr>
        <p:spPr>
          <a:xfrm>
            <a:off x="4526280" y="5468112"/>
            <a:ext cx="2240280" cy="201168"/>
          </a:xfrm>
          <a:prstGeom prst="rect">
            <a:avLst/>
          </a:prstGeom>
          <a:noFill/>
          <a:ln/>
        </p:spPr>
        <p:txBody>
          <a:bodyPr wrap="square" rtlCol="0" anchor="ctr"/>
          <a:lstStyle/>
          <a:p>
            <a:pPr marL="0" indent="0">
              <a:buNone/>
            </a:pPr>
            <a:r>
              <a:rPr lang="en-US" sz="850" b="1" dirty="0">
                <a:solidFill>
                  <a:srgbClr val="1A2744"/>
                </a:solidFill>
                <a:latin typeface="Calibri" pitchFamily="34" charset="0"/>
                <a:ea typeface="Calibri" pitchFamily="34" charset="-122"/>
                <a:cs typeface="Calibri" pitchFamily="34" charset="-120"/>
              </a:rPr>
              <a:t>New auto spread ↑ +56bp</a:t>
            </a:r>
            <a:endParaRPr lang="en-US" sz="850" dirty="0"/>
          </a:p>
        </p:txBody>
      </p:sp>
      <p:sp>
        <p:nvSpPr>
          <p:cNvPr id="38" name="Text 36"/>
          <p:cNvSpPr/>
          <p:nvPr/>
        </p:nvSpPr>
        <p:spPr>
          <a:xfrm>
            <a:off x="4526280" y="5669280"/>
            <a:ext cx="2240280" cy="292608"/>
          </a:xfrm>
          <a:prstGeom prst="rect">
            <a:avLst/>
          </a:prstGeom>
          <a:noFill/>
          <a:ln/>
        </p:spPr>
        <p:txBody>
          <a:bodyPr wrap="square" rtlCol="0" anchor="ctr"/>
          <a:lstStyle/>
          <a:p>
            <a:pPr marL="0" indent="0">
              <a:buNone/>
            </a:pPr>
            <a:r>
              <a:rPr lang="en-US" sz="800" dirty="0">
                <a:solidFill>
                  <a:srgbClr val="5A5A5A"/>
                </a:solidFill>
                <a:latin typeface="Calibri" pitchFamily="34" charset="0"/>
                <a:ea typeface="Calibri" pitchFamily="34" charset="-122"/>
                <a:cs typeface="Calibri" pitchFamily="34" charset="-120"/>
              </a:rPr>
              <a:t>Persistent rise — auto borrowers bear full cost</a:t>
            </a:r>
            <a:endParaRPr lang="en-US" sz="800" dirty="0"/>
          </a:p>
        </p:txBody>
      </p:sp>
      <p:sp>
        <p:nvSpPr>
          <p:cNvPr id="39" name="Shape 37"/>
          <p:cNvSpPr/>
          <p:nvPr/>
        </p:nvSpPr>
        <p:spPr>
          <a:xfrm>
            <a:off x="1691640" y="6016752"/>
            <a:ext cx="219456" cy="219456"/>
          </a:xfrm>
          <a:prstGeom prst="rect">
            <a:avLst/>
          </a:prstGeom>
          <a:solidFill>
            <a:srgbClr val="9B2226"/>
          </a:solidFill>
          <a:ln w="12700">
            <a:solidFill>
              <a:srgbClr val="9B2226"/>
            </a:solidFill>
            <a:prstDash val="solid"/>
          </a:ln>
        </p:spPr>
        <p:txBody>
          <a:bodyPr/>
          <a:lstStyle/>
          <a:p>
            <a:endParaRPr lang="en-US"/>
          </a:p>
        </p:txBody>
      </p:sp>
      <p:sp>
        <p:nvSpPr>
          <p:cNvPr id="40" name="Text 38"/>
          <p:cNvSpPr/>
          <p:nvPr/>
        </p:nvSpPr>
        <p:spPr>
          <a:xfrm>
            <a:off x="1691640" y="6016752"/>
            <a:ext cx="219456"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t>
            </a:r>
            <a:endParaRPr lang="en-US" sz="850" dirty="0"/>
          </a:p>
        </p:txBody>
      </p:sp>
      <p:sp>
        <p:nvSpPr>
          <p:cNvPr id="41" name="Text 39"/>
          <p:cNvSpPr/>
          <p:nvPr/>
        </p:nvSpPr>
        <p:spPr>
          <a:xfrm>
            <a:off x="1947672" y="6016752"/>
            <a:ext cx="2240280" cy="201168"/>
          </a:xfrm>
          <a:prstGeom prst="rect">
            <a:avLst/>
          </a:prstGeom>
          <a:noFill/>
          <a:ln/>
        </p:spPr>
        <p:txBody>
          <a:bodyPr wrap="square" rtlCol="0" anchor="ctr"/>
          <a:lstStyle/>
          <a:p>
            <a:pPr marL="0" indent="0">
              <a:buNone/>
            </a:pPr>
            <a:r>
              <a:rPr lang="en-US" sz="850" b="1" dirty="0">
                <a:solidFill>
                  <a:srgbClr val="1A2744"/>
                </a:solidFill>
                <a:latin typeface="Calibri" pitchFamily="34" charset="0"/>
                <a:ea typeface="Calibri" pitchFamily="34" charset="-122"/>
                <a:cs typeface="Calibri" pitchFamily="34" charset="-120"/>
              </a:rPr>
              <a:t>Commercial spread ↑ +66bp</a:t>
            </a:r>
            <a:endParaRPr lang="en-US" sz="850" dirty="0"/>
          </a:p>
        </p:txBody>
      </p:sp>
      <p:sp>
        <p:nvSpPr>
          <p:cNvPr id="42" name="Text 40"/>
          <p:cNvSpPr/>
          <p:nvPr/>
        </p:nvSpPr>
        <p:spPr>
          <a:xfrm>
            <a:off x="1947672" y="6217920"/>
            <a:ext cx="2240280" cy="292608"/>
          </a:xfrm>
          <a:prstGeom prst="rect">
            <a:avLst/>
          </a:prstGeom>
          <a:noFill/>
          <a:ln/>
        </p:spPr>
        <p:txBody>
          <a:bodyPr wrap="square" rtlCol="0" anchor="ctr"/>
          <a:lstStyle/>
          <a:p>
            <a:pPr marL="0" indent="0">
              <a:buNone/>
            </a:pPr>
            <a:r>
              <a:rPr lang="en-US" sz="800" dirty="0">
                <a:solidFill>
                  <a:srgbClr val="5A5A5A"/>
                </a:solidFill>
                <a:latin typeface="Calibri" pitchFamily="34" charset="0"/>
                <a:ea typeface="Calibri" pitchFamily="34" charset="-122"/>
                <a:cs typeface="Calibri" pitchFamily="34" charset="-120"/>
              </a:rPr>
              <a:t>Business rates rose in line with consumer rates</a:t>
            </a:r>
            <a:endParaRPr lang="en-US" sz="800" dirty="0"/>
          </a:p>
        </p:txBody>
      </p:sp>
      <p:sp>
        <p:nvSpPr>
          <p:cNvPr id="43" name="Shape 41"/>
          <p:cNvSpPr/>
          <p:nvPr/>
        </p:nvSpPr>
        <p:spPr>
          <a:xfrm>
            <a:off x="4270248" y="6016752"/>
            <a:ext cx="219456" cy="219456"/>
          </a:xfrm>
          <a:prstGeom prst="rect">
            <a:avLst/>
          </a:prstGeom>
          <a:solidFill>
            <a:srgbClr val="9B2226"/>
          </a:solidFill>
          <a:ln w="12700">
            <a:solidFill>
              <a:srgbClr val="9B2226"/>
            </a:solidFill>
            <a:prstDash val="solid"/>
          </a:ln>
        </p:spPr>
        <p:txBody>
          <a:bodyPr/>
          <a:lstStyle/>
          <a:p>
            <a:endParaRPr lang="en-US"/>
          </a:p>
        </p:txBody>
      </p:sp>
      <p:sp>
        <p:nvSpPr>
          <p:cNvPr id="44" name="Text 42"/>
          <p:cNvSpPr/>
          <p:nvPr/>
        </p:nvSpPr>
        <p:spPr>
          <a:xfrm>
            <a:off x="4270248" y="6016752"/>
            <a:ext cx="219456"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a:t>
            </a:r>
            <a:endParaRPr lang="en-US" sz="850" dirty="0"/>
          </a:p>
        </p:txBody>
      </p:sp>
      <p:sp>
        <p:nvSpPr>
          <p:cNvPr id="45" name="Text 43"/>
          <p:cNvSpPr/>
          <p:nvPr/>
        </p:nvSpPr>
        <p:spPr>
          <a:xfrm>
            <a:off x="4526280" y="6016752"/>
            <a:ext cx="2240280" cy="201168"/>
          </a:xfrm>
          <a:prstGeom prst="rect">
            <a:avLst/>
          </a:prstGeom>
          <a:noFill/>
          <a:ln/>
        </p:spPr>
        <p:txBody>
          <a:bodyPr wrap="square" rtlCol="0" anchor="ctr"/>
          <a:lstStyle/>
          <a:p>
            <a:pPr marL="0" indent="0">
              <a:buNone/>
            </a:pPr>
            <a:r>
              <a:rPr lang="en-US" sz="850" b="1" dirty="0">
                <a:solidFill>
                  <a:srgbClr val="1A2744"/>
                </a:solidFill>
                <a:latin typeface="Calibri" pitchFamily="34" charset="0"/>
                <a:ea typeface="Calibri" pitchFamily="34" charset="-122"/>
                <a:cs typeface="Calibri" pitchFamily="34" charset="-120"/>
              </a:rPr>
              <a:t>Loan growth ↓ −0.44pp/qtr</a:t>
            </a:r>
            <a:endParaRPr lang="en-US" sz="850" dirty="0"/>
          </a:p>
        </p:txBody>
      </p:sp>
      <p:sp>
        <p:nvSpPr>
          <p:cNvPr id="46" name="Text 44"/>
          <p:cNvSpPr/>
          <p:nvPr/>
        </p:nvSpPr>
        <p:spPr>
          <a:xfrm>
            <a:off x="4526280" y="6217920"/>
            <a:ext cx="2240280" cy="292608"/>
          </a:xfrm>
          <a:prstGeom prst="rect">
            <a:avLst/>
          </a:prstGeom>
          <a:noFill/>
          <a:ln/>
        </p:spPr>
        <p:txBody>
          <a:bodyPr wrap="square" rtlCol="0" anchor="ctr"/>
          <a:lstStyle/>
          <a:p>
            <a:pPr marL="0" indent="0">
              <a:buNone/>
            </a:pPr>
            <a:r>
              <a:rPr lang="en-US" sz="800" dirty="0">
                <a:solidFill>
                  <a:srgbClr val="5A5A5A"/>
                </a:solidFill>
                <a:latin typeface="Calibri" pitchFamily="34" charset="0"/>
                <a:ea typeface="Calibri" pitchFamily="34" charset="-122"/>
                <a:cs typeface="Calibri" pitchFamily="34" charset="-120"/>
              </a:rPr>
              <a:t>Contracts at Q0, no bounce-back in the window</a:t>
            </a:r>
            <a:endParaRPr lang="en-US" sz="800" dirty="0"/>
          </a:p>
        </p:txBody>
      </p:sp>
      <p:sp>
        <p:nvSpPr>
          <p:cNvPr id="47" name="Shape 45"/>
          <p:cNvSpPr/>
          <p:nvPr/>
        </p:nvSpPr>
        <p:spPr>
          <a:xfrm>
            <a:off x="6766560" y="3520440"/>
            <a:ext cx="36576" cy="3337560"/>
          </a:xfrm>
          <a:prstGeom prst="rect">
            <a:avLst/>
          </a:prstGeom>
          <a:solidFill>
            <a:srgbClr val="C8C0B0"/>
          </a:solidFill>
          <a:ln w="12700">
            <a:solidFill>
              <a:srgbClr val="C8C0B0"/>
            </a:solidFill>
            <a:prstDash val="solid"/>
          </a:ln>
        </p:spPr>
        <p:txBody>
          <a:bodyPr/>
          <a:lstStyle/>
          <a:p>
            <a:endParaRPr lang="en-US"/>
          </a:p>
        </p:txBody>
      </p:sp>
      <p:sp>
        <p:nvSpPr>
          <p:cNvPr id="48" name="Text 46"/>
          <p:cNvSpPr/>
          <p:nvPr/>
        </p:nvSpPr>
        <p:spPr>
          <a:xfrm>
            <a:off x="6903720" y="352044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4-PANEL EVENT STUDY  (Figure_RQ3_Combined.png)</a:t>
            </a:r>
            <a:endParaRPr lang="en-US" sz="900" dirty="0"/>
          </a:p>
        </p:txBody>
      </p:sp>
      <p:sp>
        <p:nvSpPr>
          <p:cNvPr id="49" name="Shape 47"/>
          <p:cNvSpPr/>
          <p:nvPr/>
        </p:nvSpPr>
        <p:spPr>
          <a:xfrm>
            <a:off x="6903720" y="3703320"/>
            <a:ext cx="5120640" cy="3154680"/>
          </a:xfrm>
          <a:prstGeom prst="rect">
            <a:avLst/>
          </a:prstGeom>
          <a:solidFill>
            <a:srgbClr val="EDE8DF"/>
          </a:solidFill>
          <a:ln w="12700">
            <a:solidFill>
              <a:srgbClr val="C8C0B0"/>
            </a:solidFill>
            <a:prstDash val="dash"/>
          </a:ln>
        </p:spPr>
        <p:txBody>
          <a:bodyPr/>
          <a:lstStyle/>
          <a:p>
            <a:endParaRPr lang="en-US"/>
          </a:p>
        </p:txBody>
      </p:sp>
      <p:sp>
        <p:nvSpPr>
          <p:cNvPr id="50" name="Text 48"/>
          <p:cNvSpPr/>
          <p:nvPr/>
        </p:nvSpPr>
        <p:spPr>
          <a:xfrm>
            <a:off x="6903720" y="5166360"/>
            <a:ext cx="5120640" cy="320040"/>
          </a:xfrm>
          <a:prstGeom prst="rect">
            <a:avLst/>
          </a:prstGeom>
          <a:noFill/>
          <a:ln/>
        </p:spPr>
        <p:txBody>
          <a:bodyPr wrap="square" rtlCol="0" anchor="ctr"/>
          <a:lstStyle/>
          <a:p>
            <a:pPr marL="0" indent="0" algn="ctr">
              <a:buNone/>
            </a:pPr>
            <a:r>
              <a:rPr lang="en-US" sz="1000" i="1" dirty="0">
                <a:solidFill>
                  <a:srgbClr val="C89728"/>
                </a:solidFill>
                <a:latin typeface="Calibri" pitchFamily="34" charset="0"/>
                <a:ea typeface="Calibri" pitchFamily="34" charset="-122"/>
                <a:cs typeface="Calibri" pitchFamily="34" charset="-120"/>
              </a:rPr>
              <a:t>Figure_RQ3_Combined.png</a:t>
            </a:r>
            <a:endParaRPr lang="en-US" sz="1000" dirty="0"/>
          </a:p>
        </p:txBody>
      </p:sp>
      <p:sp>
        <p:nvSpPr>
          <p:cNvPr id="51" name="Shape 49"/>
          <p:cNvSpPr/>
          <p:nvPr/>
        </p:nvSpPr>
        <p:spPr>
          <a:xfrm>
            <a:off x="6995160" y="3730752"/>
            <a:ext cx="237744" cy="201168"/>
          </a:xfrm>
          <a:prstGeom prst="rect">
            <a:avLst/>
          </a:prstGeom>
          <a:solidFill>
            <a:srgbClr val="1A2744"/>
          </a:solidFill>
          <a:ln w="12700">
            <a:solidFill>
              <a:srgbClr val="1A2744"/>
            </a:solidFill>
            <a:prstDash val="solid"/>
          </a:ln>
        </p:spPr>
        <p:txBody>
          <a:bodyPr/>
          <a:lstStyle/>
          <a:p>
            <a:endParaRPr lang="en-US"/>
          </a:p>
        </p:txBody>
      </p:sp>
      <p:sp>
        <p:nvSpPr>
          <p:cNvPr id="52" name="Text 50"/>
          <p:cNvSpPr/>
          <p:nvPr/>
        </p:nvSpPr>
        <p:spPr>
          <a:xfrm>
            <a:off x="6995160" y="3730752"/>
            <a:ext cx="237744"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a:t>
            </a:r>
            <a:endParaRPr lang="en-US" sz="800" dirty="0"/>
          </a:p>
        </p:txBody>
      </p:sp>
      <p:sp>
        <p:nvSpPr>
          <p:cNvPr id="53" name="Text 51"/>
          <p:cNvSpPr/>
          <p:nvPr/>
        </p:nvSpPr>
        <p:spPr>
          <a:xfrm>
            <a:off x="7269480" y="3749040"/>
            <a:ext cx="2194560" cy="182880"/>
          </a:xfrm>
          <a:prstGeom prst="rect">
            <a:avLst/>
          </a:prstGeom>
          <a:noFill/>
          <a:ln/>
        </p:spPr>
        <p:txBody>
          <a:bodyPr wrap="square" rtlCol="0" anchor="ctr"/>
          <a:lstStyle/>
          <a:p>
            <a:pPr marL="0" indent="0">
              <a:buNone/>
            </a:pPr>
            <a:r>
              <a:rPr lang="en-US" sz="800" b="1" dirty="0">
                <a:solidFill>
                  <a:srgbClr val="1A2744"/>
                </a:solidFill>
                <a:latin typeface="Calibri" pitchFamily="34" charset="0"/>
                <a:ea typeface="Calibri" pitchFamily="34" charset="-122"/>
                <a:cs typeface="Calibri" pitchFamily="34" charset="-120"/>
              </a:rPr>
              <a:t>Mortgage Spread</a:t>
            </a:r>
            <a:endParaRPr lang="en-US" sz="800" dirty="0"/>
          </a:p>
        </p:txBody>
      </p:sp>
      <p:sp>
        <p:nvSpPr>
          <p:cNvPr id="54" name="Shape 52"/>
          <p:cNvSpPr/>
          <p:nvPr/>
        </p:nvSpPr>
        <p:spPr>
          <a:xfrm>
            <a:off x="9528048" y="3730752"/>
            <a:ext cx="237744" cy="201168"/>
          </a:xfrm>
          <a:prstGeom prst="rect">
            <a:avLst/>
          </a:prstGeom>
          <a:solidFill>
            <a:srgbClr val="1A2744"/>
          </a:solidFill>
          <a:ln w="12700">
            <a:solidFill>
              <a:srgbClr val="1A2744"/>
            </a:solidFill>
            <a:prstDash val="solid"/>
          </a:ln>
        </p:spPr>
        <p:txBody>
          <a:bodyPr/>
          <a:lstStyle/>
          <a:p>
            <a:endParaRPr lang="en-US"/>
          </a:p>
        </p:txBody>
      </p:sp>
      <p:sp>
        <p:nvSpPr>
          <p:cNvPr id="55" name="Text 53"/>
          <p:cNvSpPr/>
          <p:nvPr/>
        </p:nvSpPr>
        <p:spPr>
          <a:xfrm>
            <a:off x="9528048" y="3730752"/>
            <a:ext cx="237744"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56" name="Text 54"/>
          <p:cNvSpPr/>
          <p:nvPr/>
        </p:nvSpPr>
        <p:spPr>
          <a:xfrm>
            <a:off x="9802368" y="3749040"/>
            <a:ext cx="2194560" cy="182880"/>
          </a:xfrm>
          <a:prstGeom prst="rect">
            <a:avLst/>
          </a:prstGeom>
          <a:noFill/>
          <a:ln/>
        </p:spPr>
        <p:txBody>
          <a:bodyPr wrap="square" rtlCol="0" anchor="ctr"/>
          <a:lstStyle/>
          <a:p>
            <a:pPr marL="0" indent="0">
              <a:buNone/>
            </a:pPr>
            <a:r>
              <a:rPr lang="en-US" sz="800" b="1" dirty="0">
                <a:solidFill>
                  <a:srgbClr val="1A2744"/>
                </a:solidFill>
                <a:latin typeface="Calibri" pitchFamily="34" charset="0"/>
                <a:ea typeface="Calibri" pitchFamily="34" charset="-122"/>
                <a:cs typeface="Calibri" pitchFamily="34" charset="-120"/>
              </a:rPr>
              <a:t>New Auto Spread</a:t>
            </a:r>
            <a:endParaRPr lang="en-US" sz="800" dirty="0"/>
          </a:p>
        </p:txBody>
      </p:sp>
      <p:sp>
        <p:nvSpPr>
          <p:cNvPr id="57" name="Shape 55"/>
          <p:cNvSpPr/>
          <p:nvPr/>
        </p:nvSpPr>
        <p:spPr>
          <a:xfrm>
            <a:off x="6995160" y="5276088"/>
            <a:ext cx="237744" cy="201168"/>
          </a:xfrm>
          <a:prstGeom prst="rect">
            <a:avLst/>
          </a:prstGeom>
          <a:solidFill>
            <a:srgbClr val="1A2744"/>
          </a:solidFill>
          <a:ln w="12700">
            <a:solidFill>
              <a:srgbClr val="1A2744"/>
            </a:solidFill>
            <a:prstDash val="solid"/>
          </a:ln>
        </p:spPr>
        <p:txBody>
          <a:bodyPr/>
          <a:lstStyle/>
          <a:p>
            <a:endParaRPr lang="en-US"/>
          </a:p>
        </p:txBody>
      </p:sp>
      <p:sp>
        <p:nvSpPr>
          <p:cNvPr id="58" name="Text 56"/>
          <p:cNvSpPr/>
          <p:nvPr/>
        </p:nvSpPr>
        <p:spPr>
          <a:xfrm>
            <a:off x="6995160" y="5276088"/>
            <a:ext cx="237744"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a:t>
            </a:r>
            <a:endParaRPr lang="en-US" sz="800" dirty="0"/>
          </a:p>
        </p:txBody>
      </p:sp>
      <p:sp>
        <p:nvSpPr>
          <p:cNvPr id="59" name="Text 57"/>
          <p:cNvSpPr/>
          <p:nvPr/>
        </p:nvSpPr>
        <p:spPr>
          <a:xfrm>
            <a:off x="7269480" y="5294376"/>
            <a:ext cx="2194560" cy="182880"/>
          </a:xfrm>
          <a:prstGeom prst="rect">
            <a:avLst/>
          </a:prstGeom>
          <a:noFill/>
          <a:ln/>
        </p:spPr>
        <p:txBody>
          <a:bodyPr wrap="square" rtlCol="0" anchor="ctr"/>
          <a:lstStyle/>
          <a:p>
            <a:pPr marL="0" indent="0">
              <a:buNone/>
            </a:pPr>
            <a:r>
              <a:rPr lang="en-US" sz="800" b="1" dirty="0">
                <a:solidFill>
                  <a:srgbClr val="1A2744"/>
                </a:solidFill>
                <a:latin typeface="Calibri" pitchFamily="34" charset="0"/>
                <a:ea typeface="Calibri" pitchFamily="34" charset="-122"/>
                <a:cs typeface="Calibri" pitchFamily="34" charset="-120"/>
              </a:rPr>
              <a:t>Comm. Spread</a:t>
            </a:r>
            <a:endParaRPr lang="en-US" sz="800" dirty="0"/>
          </a:p>
        </p:txBody>
      </p:sp>
      <p:sp>
        <p:nvSpPr>
          <p:cNvPr id="60" name="Shape 58"/>
          <p:cNvSpPr/>
          <p:nvPr/>
        </p:nvSpPr>
        <p:spPr>
          <a:xfrm>
            <a:off x="9528048" y="5276088"/>
            <a:ext cx="237744" cy="201168"/>
          </a:xfrm>
          <a:prstGeom prst="rect">
            <a:avLst/>
          </a:prstGeom>
          <a:solidFill>
            <a:srgbClr val="1A2744"/>
          </a:solidFill>
          <a:ln w="12700">
            <a:solidFill>
              <a:srgbClr val="1A2744"/>
            </a:solidFill>
            <a:prstDash val="solid"/>
          </a:ln>
        </p:spPr>
        <p:txBody>
          <a:bodyPr/>
          <a:lstStyle/>
          <a:p>
            <a:endParaRPr lang="en-US"/>
          </a:p>
        </p:txBody>
      </p:sp>
      <p:sp>
        <p:nvSpPr>
          <p:cNvPr id="61" name="Text 59"/>
          <p:cNvSpPr/>
          <p:nvPr/>
        </p:nvSpPr>
        <p:spPr>
          <a:xfrm>
            <a:off x="9528048" y="5276088"/>
            <a:ext cx="237744"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
            </a:r>
            <a:endParaRPr lang="en-US" sz="800" dirty="0"/>
          </a:p>
        </p:txBody>
      </p:sp>
      <p:sp>
        <p:nvSpPr>
          <p:cNvPr id="62" name="Text 60"/>
          <p:cNvSpPr/>
          <p:nvPr/>
        </p:nvSpPr>
        <p:spPr>
          <a:xfrm>
            <a:off x="9802368" y="5294376"/>
            <a:ext cx="2194560" cy="182880"/>
          </a:xfrm>
          <a:prstGeom prst="rect">
            <a:avLst/>
          </a:prstGeom>
          <a:noFill/>
          <a:ln/>
        </p:spPr>
        <p:txBody>
          <a:bodyPr wrap="square" rtlCol="0" anchor="ctr"/>
          <a:lstStyle/>
          <a:p>
            <a:pPr marL="0" indent="0">
              <a:buNone/>
            </a:pPr>
            <a:r>
              <a:rPr lang="en-US" sz="800" b="1" dirty="0">
                <a:solidFill>
                  <a:srgbClr val="1A2744"/>
                </a:solidFill>
                <a:latin typeface="Calibri" pitchFamily="34" charset="0"/>
                <a:ea typeface="Calibri" pitchFamily="34" charset="-122"/>
                <a:cs typeface="Calibri" pitchFamily="34" charset="-120"/>
              </a:rPr>
              <a:t>Loan Growth</a:t>
            </a:r>
            <a:endParaRPr lang="en-US" sz="800" dirty="0"/>
          </a:p>
        </p:txBody>
      </p:sp>
      <p:sp>
        <p:nvSpPr>
          <p:cNvPr id="63" name="Text 61"/>
          <p:cNvSpPr/>
          <p:nvPr/>
        </p:nvSpPr>
        <p:spPr>
          <a:xfrm>
            <a:off x="6903720" y="6903720"/>
            <a:ext cx="5120640" cy="201168"/>
          </a:xfrm>
          <a:prstGeom prst="rect">
            <a:avLst/>
          </a:prstGeom>
          <a:noFill/>
          <a:ln/>
        </p:spPr>
        <p:txBody>
          <a:bodyPr wrap="square" rtlCol="0" anchor="ctr"/>
          <a:lstStyle/>
          <a:p>
            <a:pPr marL="0" indent="0" algn="ctr">
              <a:buNone/>
            </a:pPr>
            <a:r>
              <a:rPr lang="en-US" sz="800" i="1" dirty="0">
                <a:solidFill>
                  <a:srgbClr val="5A5A5A"/>
                </a:solidFill>
                <a:latin typeface="Calibri" pitchFamily="34" charset="0"/>
                <a:ea typeface="Calibri" pitchFamily="34" charset="-122"/>
                <a:cs typeface="Calibri" pitchFamily="34" charset="-120"/>
              </a:rPr>
              <a:t>Generate with Combine_RQ3_Figures.R → output/paper/figures/Figure_RQ3_Combined.png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4 — Portfolio Shift and Crisis Comparison</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complex CUs change their loan mix — and how does this compare to 2008?</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4</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73936" y="1568196"/>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Yes. Complex CUs shifted from auto loans toward mortgages — consistent with risk-weight arbitrage. This pattern did not occur during the 2008 crisis, making it distinctly regulatory in origin.</a:t>
            </a:r>
            <a:endParaRPr lang="en-US" sz="1250" dirty="0"/>
          </a:p>
        </p:txBody>
      </p:sp>
      <p:sp>
        <p:nvSpPr>
          <p:cNvPr id="12" name="Shape 10"/>
          <p:cNvSpPr/>
          <p:nvPr/>
        </p:nvSpPr>
        <p:spPr>
          <a:xfrm>
            <a:off x="1691640" y="2331720"/>
            <a:ext cx="242316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2240280" cy="475488"/>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−4.0pp</a:t>
            </a:r>
            <a:endParaRPr lang="en-US" sz="2400" dirty="0"/>
          </a:p>
        </p:txBody>
      </p:sp>
      <p:sp>
        <p:nvSpPr>
          <p:cNvPr id="14" name="Text 12"/>
          <p:cNvSpPr/>
          <p:nvPr/>
        </p:nvSpPr>
        <p:spPr>
          <a:xfrm>
            <a:off x="1783080" y="2834640"/>
            <a:ext cx="224028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Auto loan share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declined (vs. controls)</a:t>
            </a:r>
            <a:endParaRPr lang="en-US" sz="1000" dirty="0"/>
          </a:p>
        </p:txBody>
      </p:sp>
      <p:sp>
        <p:nvSpPr>
          <p:cNvPr id="15" name="Shape 13"/>
          <p:cNvSpPr/>
          <p:nvPr/>
        </p:nvSpPr>
        <p:spPr>
          <a:xfrm>
            <a:off x="4206240" y="2331720"/>
            <a:ext cx="242316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4297680" y="2404872"/>
            <a:ext cx="2240280" cy="475488"/>
          </a:xfrm>
          <a:prstGeom prst="rect">
            <a:avLst/>
          </a:prstGeom>
          <a:noFill/>
          <a:ln/>
        </p:spPr>
        <p:txBody>
          <a:bodyPr wrap="square" rtlCol="0" anchor="ctr"/>
          <a:lstStyle/>
          <a:p>
            <a:pPr marL="0" indent="0" algn="ctr">
              <a:buNone/>
            </a:pPr>
            <a:r>
              <a:rPr lang="en-US" sz="2400" b="1" dirty="0">
                <a:solidFill>
                  <a:srgbClr val="95D5B2"/>
                </a:solidFill>
                <a:latin typeface="Calibri" pitchFamily="34" charset="0"/>
                <a:ea typeface="Calibri" pitchFamily="34" charset="-122"/>
                <a:cs typeface="Calibri" pitchFamily="34" charset="-120"/>
              </a:rPr>
              <a:t>+2.4pp</a:t>
            </a:r>
            <a:endParaRPr lang="en-US" sz="2400" dirty="0"/>
          </a:p>
        </p:txBody>
      </p:sp>
      <p:sp>
        <p:nvSpPr>
          <p:cNvPr id="17" name="Text 15"/>
          <p:cNvSpPr/>
          <p:nvPr/>
        </p:nvSpPr>
        <p:spPr>
          <a:xfrm>
            <a:off x="4297680" y="2834640"/>
            <a:ext cx="224028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Real estate loan</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share increased</a:t>
            </a:r>
            <a:endParaRPr lang="en-US" sz="1000" dirty="0"/>
          </a:p>
        </p:txBody>
      </p:sp>
      <p:sp>
        <p:nvSpPr>
          <p:cNvPr id="18" name="Text 16"/>
          <p:cNvSpPr/>
          <p:nvPr/>
        </p:nvSpPr>
        <p:spPr>
          <a:xfrm>
            <a:off x="1691640" y="336499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WHY THIS HAPPENED</a:t>
            </a:r>
            <a:endParaRPr lang="en-US" sz="900" dirty="0"/>
          </a:p>
        </p:txBody>
      </p:sp>
      <p:sp>
        <p:nvSpPr>
          <p:cNvPr id="19" name="Text 17"/>
          <p:cNvSpPr/>
          <p:nvPr/>
        </p:nvSpPr>
        <p:spPr>
          <a:xfrm>
            <a:off x="1691640" y="3566160"/>
            <a:ext cx="5029200" cy="123444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Under the RBC rule, mortgages carry a lower risk-weight than auto loans — shifting to mortgages reduces required capital. This is a rational institutional response to the rule’s incentive structure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This portfolio shift did not occur during the 2008 crisis — when CUs faced the same macro stress but no capital rule. That comparison isolates the RBC rule as the cause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The shift is permanent — auto loan share never recovers within the observation window</a:t>
            </a:r>
            <a:endParaRPr lang="en-US" sz="1150" dirty="0"/>
          </a:p>
        </p:txBody>
      </p:sp>
      <p:sp>
        <p:nvSpPr>
          <p:cNvPr id="20" name="Shape 18"/>
          <p:cNvSpPr/>
          <p:nvPr/>
        </p:nvSpPr>
        <p:spPr>
          <a:xfrm>
            <a:off x="1691640" y="5413248"/>
            <a:ext cx="5029200" cy="1234440"/>
          </a:xfrm>
          <a:prstGeom prst="rect">
            <a:avLst/>
          </a:prstGeom>
          <a:solidFill>
            <a:srgbClr val="EDE8DF"/>
          </a:solidFill>
          <a:ln w="12700">
            <a:solidFill>
              <a:srgbClr val="C8C0B0"/>
            </a:solidFill>
            <a:prstDash val="dash"/>
          </a:ln>
        </p:spPr>
        <p:txBody>
          <a:bodyPr/>
          <a:lstStyle/>
          <a:p>
            <a:endParaRPr lang="en-US"/>
          </a:p>
        </p:txBody>
      </p:sp>
      <p:sp>
        <p:nvSpPr>
          <p:cNvPr id="21" name="Text 19"/>
          <p:cNvSpPr/>
          <p:nvPr/>
        </p:nvSpPr>
        <p:spPr>
          <a:xfrm>
            <a:off x="1691640" y="5596128"/>
            <a:ext cx="502920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Figure5_Portfolio_Trends.png</a:t>
            </a:r>
            <a:endParaRPr lang="en-US" sz="950" dirty="0"/>
          </a:p>
        </p:txBody>
      </p:sp>
      <p:sp>
        <p:nvSpPr>
          <p:cNvPr id="22" name="Text 20"/>
          <p:cNvSpPr/>
          <p:nvPr/>
        </p:nvSpPr>
        <p:spPr>
          <a:xfrm>
            <a:off x="1691640" y="4773168"/>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PORTFOLIO COMPOSITION TRENDS</a:t>
            </a:r>
            <a:endParaRPr lang="en-US" sz="900" dirty="0"/>
          </a:p>
        </p:txBody>
      </p:sp>
      <p:sp>
        <p:nvSpPr>
          <p:cNvPr id="23" name="Shape 21"/>
          <p:cNvSpPr/>
          <p:nvPr/>
        </p:nvSpPr>
        <p:spPr>
          <a:xfrm>
            <a:off x="6766560" y="2331720"/>
            <a:ext cx="36576" cy="4315968"/>
          </a:xfrm>
          <a:prstGeom prst="rect">
            <a:avLst/>
          </a:prstGeom>
          <a:solidFill>
            <a:srgbClr val="C8C0B0"/>
          </a:solidFill>
          <a:ln w="12700">
            <a:solidFill>
              <a:srgbClr val="C8C0B0"/>
            </a:solidFill>
            <a:prstDash val="solid"/>
          </a:ln>
        </p:spPr>
        <p:txBody>
          <a:bodyPr/>
          <a:lstStyle/>
          <a:p>
            <a:endParaRPr lang="en-US"/>
          </a:p>
        </p:txBody>
      </p:sp>
      <p:sp>
        <p:nvSpPr>
          <p:cNvPr id="24" name="Text 22"/>
          <p:cNvSpPr/>
          <p:nvPr/>
        </p:nvSpPr>
        <p:spPr>
          <a:xfrm>
            <a:off x="690372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COMPARISON TO THE 2008 FINANCIAL CRISIS</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903720" y="2542032"/>
          <a:ext cx="4983480" cy="1874520"/>
        </p:xfrm>
        <a:graphic>
          <a:graphicData uri="http://schemas.openxmlformats.org/drawingml/2006/table">
            <a:tbl>
              <a:tblPr/>
              <a:tblGrid>
                <a:gridCol w="22860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7490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2008 Crisis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RBC Rule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490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Capital accumulation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55555"/>
                          </a:solidFill>
                          <a:latin typeface="Calibri" pitchFamily="34" charset="0"/>
                          <a:ea typeface="Calibri" pitchFamily="34" charset="-122"/>
                          <a:cs typeface="Calibri" pitchFamily="34" charset="-120"/>
                        </a:rPr>
                        <a:t>Similar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55555"/>
                          </a:solidFill>
                          <a:latin typeface="Calibri" pitchFamily="34" charset="0"/>
                          <a:ea typeface="Calibri" pitchFamily="34" charset="-122"/>
                          <a:cs typeface="Calibri" pitchFamily="34" charset="-120"/>
                        </a:rPr>
                        <a:t>Similar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Auto loan exit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888888"/>
                          </a:solidFill>
                          <a:latin typeface="Calibri" pitchFamily="34" charset="0"/>
                          <a:ea typeface="Calibri" pitchFamily="34" charset="-122"/>
                          <a:cs typeface="Calibri" pitchFamily="34" charset="-120"/>
                        </a:rPr>
                        <a:t>Not observed</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B2226"/>
                          </a:solidFill>
                          <a:latin typeface="Calibri" pitchFamily="34" charset="0"/>
                          <a:ea typeface="Calibri" pitchFamily="34" charset="-122"/>
                          <a:cs typeface="Calibri" pitchFamily="34" charset="-120"/>
                        </a:rPr>
                        <a:t>Permanent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Loan growth</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888888"/>
                          </a:solidFill>
                          <a:latin typeface="Calibri" pitchFamily="34" charset="0"/>
                          <a:ea typeface="Calibri" pitchFamily="34" charset="-122"/>
                          <a:cs typeface="Calibri" pitchFamily="34" charset="-120"/>
                        </a:rPr>
                        <a:t>Temporary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B2226"/>
                          </a:solidFill>
                          <a:latin typeface="Calibri" pitchFamily="34" charset="0"/>
                          <a:ea typeface="Calibri" pitchFamily="34" charset="-122"/>
                          <a:cs typeface="Calibri" pitchFamily="34" charset="-120"/>
                        </a:rPr>
                        <a:t>No recovery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Profitability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888888"/>
                          </a:solidFill>
                          <a:latin typeface="Calibri" pitchFamily="34" charset="0"/>
                          <a:ea typeface="Calibri" pitchFamily="34" charset="-122"/>
                          <a:cs typeface="Calibri" pitchFamily="34" charset="-120"/>
                        </a:rPr>
                        <a:t>Temporary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B2226"/>
                          </a:solidFill>
                          <a:latin typeface="Calibri" pitchFamily="34" charset="0"/>
                          <a:ea typeface="Calibri" pitchFamily="34" charset="-122"/>
                          <a:cs typeface="Calibri" pitchFamily="34" charset="-120"/>
                        </a:rPr>
                        <a:t>No recovery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6" name="Shape 23"/>
          <p:cNvSpPr/>
          <p:nvPr/>
        </p:nvSpPr>
        <p:spPr>
          <a:xfrm>
            <a:off x="6903720" y="2542032"/>
            <a:ext cx="4983480" cy="347472"/>
          </a:xfrm>
          <a:prstGeom prst="rect">
            <a:avLst/>
          </a:prstGeom>
          <a:solidFill>
            <a:srgbClr val="1A2744"/>
          </a:solidFill>
          <a:ln w="12700">
            <a:solidFill>
              <a:srgbClr val="1A2744"/>
            </a:solidFill>
            <a:prstDash val="solid"/>
          </a:ln>
        </p:spPr>
        <p:txBody>
          <a:bodyPr/>
          <a:lstStyle/>
          <a:p>
            <a:endParaRPr lang="en-US"/>
          </a:p>
        </p:txBody>
      </p:sp>
      <p:sp>
        <p:nvSpPr>
          <p:cNvPr id="27" name="Text 24"/>
          <p:cNvSpPr/>
          <p:nvPr/>
        </p:nvSpPr>
        <p:spPr>
          <a:xfrm>
            <a:off x="6995160" y="2578608"/>
            <a:ext cx="2103120"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Outcome</a:t>
            </a:r>
            <a:endParaRPr lang="en-US" sz="1050" dirty="0"/>
          </a:p>
        </p:txBody>
      </p:sp>
      <p:sp>
        <p:nvSpPr>
          <p:cNvPr id="28" name="Text 25"/>
          <p:cNvSpPr/>
          <p:nvPr/>
        </p:nvSpPr>
        <p:spPr>
          <a:xfrm>
            <a:off x="9253728" y="2578608"/>
            <a:ext cx="1234440" cy="2743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2008 Crisis</a:t>
            </a:r>
            <a:endParaRPr lang="en-US" sz="1050" dirty="0"/>
          </a:p>
        </p:txBody>
      </p:sp>
      <p:sp>
        <p:nvSpPr>
          <p:cNvPr id="29" name="Text 26"/>
          <p:cNvSpPr/>
          <p:nvPr/>
        </p:nvSpPr>
        <p:spPr>
          <a:xfrm>
            <a:off x="10533888" y="2578608"/>
            <a:ext cx="1280160" cy="2743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RBC Rule</a:t>
            </a:r>
            <a:endParaRPr lang="en-US" sz="1050" dirty="0"/>
          </a:p>
        </p:txBody>
      </p:sp>
      <p:sp>
        <p:nvSpPr>
          <p:cNvPr id="30" name="Text 27"/>
          <p:cNvSpPr/>
          <p:nvPr/>
        </p:nvSpPr>
        <p:spPr>
          <a:xfrm>
            <a:off x="6903720" y="4498848"/>
            <a:ext cx="4983480" cy="530352"/>
          </a:xfrm>
          <a:prstGeom prst="rect">
            <a:avLst/>
          </a:prstGeom>
          <a:noFill/>
          <a:ln/>
        </p:spPr>
        <p:txBody>
          <a:bodyPr wrap="square" rtlCol="0" anchor="ctr"/>
          <a:lstStyle/>
          <a:p>
            <a:pPr marL="0" indent="0">
              <a:buNone/>
            </a:pPr>
            <a:r>
              <a:rPr lang="en-US" sz="1050" i="1" dirty="0">
                <a:solidFill>
                  <a:srgbClr val="5A5A5A"/>
                </a:solidFill>
                <a:latin typeface="Calibri" pitchFamily="34" charset="0"/>
                <a:ea typeface="Calibri" pitchFamily="34" charset="-122"/>
                <a:cs typeface="Calibri" pitchFamily="34" charset="-120"/>
              </a:rPr>
              <a:t>Capital behavior resembles a crisis response — but the auto loan exit and persistent profitability decline are distinctly regulatory. Only the RBC rule produces them.</a:t>
            </a:r>
            <a:endParaRPr lang="en-US" sz="1050" dirty="0"/>
          </a:p>
        </p:txBody>
      </p:sp>
      <p:sp>
        <p:nvSpPr>
          <p:cNvPr id="31" name="Shape 28"/>
          <p:cNvSpPr/>
          <p:nvPr/>
        </p:nvSpPr>
        <p:spPr>
          <a:xfrm>
            <a:off x="6903720" y="5102352"/>
            <a:ext cx="4983480" cy="1536192"/>
          </a:xfrm>
          <a:prstGeom prst="rect">
            <a:avLst/>
          </a:prstGeom>
          <a:solidFill>
            <a:srgbClr val="EDE8DF"/>
          </a:solidFill>
          <a:ln w="12700">
            <a:solidFill>
              <a:srgbClr val="C8C0B0"/>
            </a:solidFill>
            <a:prstDash val="dash"/>
          </a:ln>
        </p:spPr>
        <p:txBody>
          <a:bodyPr/>
          <a:lstStyle/>
          <a:p>
            <a:endParaRPr lang="en-US"/>
          </a:p>
        </p:txBody>
      </p:sp>
      <p:sp>
        <p:nvSpPr>
          <p:cNvPr id="32" name="Text 29"/>
          <p:cNvSpPr/>
          <p:nvPr/>
        </p:nvSpPr>
        <p:spPr>
          <a:xfrm>
            <a:off x="6903720" y="49834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DYNAMIC COMPARISON: 2008 vs. RBC</a:t>
            </a:r>
            <a:endParaRPr lang="en-US" sz="900" dirty="0"/>
          </a:p>
        </p:txBody>
      </p:sp>
      <p:sp>
        <p:nvSpPr>
          <p:cNvPr id="33" name="Text 30"/>
          <p:cNvSpPr/>
          <p:nvPr/>
        </p:nvSpPr>
        <p:spPr>
          <a:xfrm>
            <a:off x="6903720" y="5742432"/>
            <a:ext cx="498348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Figure6_Crisis_vs_RBC_Capital.png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4b — Credit Quality and the Capacity Channel</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the RBC rule affect loan delinquency rates?</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4b</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Yes. Delinquency rates rose +8bp on average — but the effect was concentrated in CUs hit hardest by profitability declines, revealing a capacity channel: squeezed institutions reduced screening and monitoring.</a:t>
            </a:r>
            <a:endParaRPr lang="en-US" sz="1250" dirty="0"/>
          </a:p>
        </p:txBody>
      </p:sp>
      <p:sp>
        <p:nvSpPr>
          <p:cNvPr id="12" name="Shape 10"/>
          <p:cNvSpPr/>
          <p:nvPr/>
        </p:nvSpPr>
        <p:spPr>
          <a:xfrm>
            <a:off x="1691640" y="2331720"/>
            <a:ext cx="315468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2971800" cy="475488"/>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+8bp</a:t>
            </a:r>
            <a:endParaRPr lang="en-US" sz="2400" dirty="0"/>
          </a:p>
        </p:txBody>
      </p:sp>
      <p:sp>
        <p:nvSpPr>
          <p:cNvPr id="14" name="Text 12"/>
          <p:cNvSpPr/>
          <p:nvPr/>
        </p:nvSpPr>
        <p:spPr>
          <a:xfrm>
            <a:off x="1783080" y="2834640"/>
            <a:ext cx="297180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Average delinquency</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rate increase</a:t>
            </a:r>
            <a:endParaRPr lang="en-US" sz="1000" dirty="0"/>
          </a:p>
        </p:txBody>
      </p:sp>
      <p:sp>
        <p:nvSpPr>
          <p:cNvPr id="15" name="Shape 13"/>
          <p:cNvSpPr/>
          <p:nvPr/>
        </p:nvSpPr>
        <p:spPr>
          <a:xfrm>
            <a:off x="4937760" y="2331720"/>
            <a:ext cx="320040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5029200" y="2404872"/>
            <a:ext cx="3017520" cy="475488"/>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2×</a:t>
            </a:r>
            <a:endParaRPr lang="en-US" sz="2400" dirty="0"/>
          </a:p>
        </p:txBody>
      </p:sp>
      <p:sp>
        <p:nvSpPr>
          <p:cNvPr id="17" name="Text 15"/>
          <p:cNvSpPr/>
          <p:nvPr/>
        </p:nvSpPr>
        <p:spPr>
          <a:xfrm>
            <a:off x="5029200" y="2834640"/>
            <a:ext cx="301752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Delinquency increase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for high-ROA-decline CUs</a:t>
            </a:r>
            <a:endParaRPr lang="en-US" sz="1000" dirty="0"/>
          </a:p>
        </p:txBody>
      </p:sp>
      <p:sp>
        <p:nvSpPr>
          <p:cNvPr id="18" name="Text 16"/>
          <p:cNvSpPr/>
          <p:nvPr/>
        </p:nvSpPr>
        <p:spPr>
          <a:xfrm>
            <a:off x="1691640" y="336499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CAPACITY CHANNEL EXPLAINED</a:t>
            </a:r>
            <a:endParaRPr lang="en-US" sz="900" dirty="0"/>
          </a:p>
        </p:txBody>
      </p:sp>
      <p:sp>
        <p:nvSpPr>
          <p:cNvPr id="19" name="Text 17"/>
          <p:cNvSpPr/>
          <p:nvPr/>
        </p:nvSpPr>
        <p:spPr>
          <a:xfrm>
            <a:off x="1691640" y="3566160"/>
            <a:ext cx="5029200" cy="150876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The rule squeezed profitability — institutions with the sharpest ROA declines had the least resources for loan screening, underwriting, and monitoring</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CUs with the largest profitability declines showed twice the delinquency increase of those with smaller ROA impacts — a direct dose-response relationship</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This is not a demand-side story. The same macro environment affected all CUs. The delinquency concentration in high-stress institutions isolates the regulatory mechanism</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The implication: the RBC rule did not just shift portfolios — it degraded credit quality for the most exposed institutions</a:t>
            </a:r>
            <a:endParaRPr lang="en-US" sz="1150" dirty="0"/>
          </a:p>
        </p:txBody>
      </p:sp>
      <p:sp>
        <p:nvSpPr>
          <p:cNvPr id="20" name="Shape 18"/>
          <p:cNvSpPr/>
          <p:nvPr/>
        </p:nvSpPr>
        <p:spPr>
          <a:xfrm>
            <a:off x="1691640" y="5166360"/>
            <a:ext cx="5029200" cy="594360"/>
          </a:xfrm>
          <a:prstGeom prst="rect">
            <a:avLst/>
          </a:prstGeom>
          <a:solidFill>
            <a:srgbClr val="EDE8DF"/>
          </a:solidFill>
          <a:ln w="12700">
            <a:solidFill>
              <a:srgbClr val="C8C0B0"/>
            </a:solidFill>
            <a:prstDash val="solid"/>
          </a:ln>
        </p:spPr>
        <p:txBody>
          <a:bodyPr/>
          <a:lstStyle/>
          <a:p>
            <a:endParaRPr lang="en-US"/>
          </a:p>
        </p:txBody>
      </p:sp>
      <p:sp>
        <p:nvSpPr>
          <p:cNvPr id="21" name="Shape 19"/>
          <p:cNvSpPr/>
          <p:nvPr/>
        </p:nvSpPr>
        <p:spPr>
          <a:xfrm>
            <a:off x="1691640" y="5166360"/>
            <a:ext cx="64008" cy="594360"/>
          </a:xfrm>
          <a:prstGeom prst="rect">
            <a:avLst/>
          </a:prstGeom>
          <a:solidFill>
            <a:srgbClr val="C89728"/>
          </a:solidFill>
          <a:ln w="12700">
            <a:solidFill>
              <a:srgbClr val="C89728"/>
            </a:solidFill>
            <a:prstDash val="solid"/>
          </a:ln>
        </p:spPr>
        <p:txBody>
          <a:bodyPr/>
          <a:lstStyle/>
          <a:p>
            <a:endParaRPr lang="en-US"/>
          </a:p>
        </p:txBody>
      </p:sp>
      <p:sp>
        <p:nvSpPr>
          <p:cNvPr id="22" name="Text 20"/>
          <p:cNvSpPr/>
          <p:nvPr/>
        </p:nvSpPr>
        <p:spPr>
          <a:xfrm>
            <a:off x="1828800" y="5212080"/>
            <a:ext cx="4828032" cy="50292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Policy implication: Capital rules that squeeze profitability too aggressively may generate credit quality risks that offset their prudential benefits.</a:t>
            </a:r>
            <a:endParaRPr lang="en-US" sz="1050" dirty="0"/>
          </a:p>
        </p:txBody>
      </p:sp>
      <p:sp>
        <p:nvSpPr>
          <p:cNvPr id="23" name="Shape 21"/>
          <p:cNvSpPr/>
          <p:nvPr/>
        </p:nvSpPr>
        <p:spPr>
          <a:xfrm>
            <a:off x="6766560" y="2331720"/>
            <a:ext cx="36576" cy="4315968"/>
          </a:xfrm>
          <a:prstGeom prst="rect">
            <a:avLst/>
          </a:prstGeom>
          <a:solidFill>
            <a:srgbClr val="C8C0B0"/>
          </a:solidFill>
          <a:ln w="12700">
            <a:solidFill>
              <a:srgbClr val="C8C0B0"/>
            </a:solidFill>
            <a:prstDash val="solid"/>
          </a:ln>
        </p:spPr>
        <p:txBody>
          <a:bodyPr/>
          <a:lstStyle/>
          <a:p>
            <a:endParaRPr lang="en-US"/>
          </a:p>
        </p:txBody>
      </p:sp>
      <p:sp>
        <p:nvSpPr>
          <p:cNvPr id="24" name="Text 22"/>
          <p:cNvSpPr/>
          <p:nvPr/>
        </p:nvSpPr>
        <p:spPr>
          <a:xfrm>
            <a:off x="690372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FIGURE — DELINQUENCY EVENT STUDY</a:t>
            </a:r>
            <a:endParaRPr lang="en-US" sz="900" dirty="0"/>
          </a:p>
        </p:txBody>
      </p:sp>
      <p:sp>
        <p:nvSpPr>
          <p:cNvPr id="25" name="Shape 23"/>
          <p:cNvSpPr/>
          <p:nvPr/>
        </p:nvSpPr>
        <p:spPr>
          <a:xfrm>
            <a:off x="6903720" y="2514600"/>
            <a:ext cx="4983480" cy="2606040"/>
          </a:xfrm>
          <a:prstGeom prst="rect">
            <a:avLst/>
          </a:prstGeom>
          <a:solidFill>
            <a:srgbClr val="EDE8DF"/>
          </a:solidFill>
          <a:ln w="12700">
            <a:solidFill>
              <a:srgbClr val="C8C0B0"/>
            </a:solidFill>
            <a:prstDash val="dash"/>
          </a:ln>
        </p:spPr>
        <p:txBody>
          <a:bodyPr/>
          <a:lstStyle/>
          <a:p>
            <a:endParaRPr lang="en-US"/>
          </a:p>
        </p:txBody>
      </p:sp>
      <p:sp>
        <p:nvSpPr>
          <p:cNvPr id="26" name="Text 24"/>
          <p:cNvSpPr/>
          <p:nvPr/>
        </p:nvSpPr>
        <p:spPr>
          <a:xfrm>
            <a:off x="6903720" y="3703320"/>
            <a:ext cx="498348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Figure3c_EventStudy_Delinquency.png</a:t>
            </a:r>
            <a:endParaRPr lang="en-US" sz="950" dirty="0"/>
          </a:p>
        </p:txBody>
      </p:sp>
      <p:sp>
        <p:nvSpPr>
          <p:cNvPr id="27" name="Text 25"/>
          <p:cNvSpPr/>
          <p:nvPr/>
        </p:nvSpPr>
        <p:spPr>
          <a:xfrm>
            <a:off x="6903720" y="5230368"/>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MECHANISM</a:t>
            </a:r>
            <a:endParaRPr lang="en-US" sz="900" dirty="0"/>
          </a:p>
        </p:txBody>
      </p:sp>
      <p:sp>
        <p:nvSpPr>
          <p:cNvPr id="28" name="Shape 26"/>
          <p:cNvSpPr/>
          <p:nvPr/>
        </p:nvSpPr>
        <p:spPr>
          <a:xfrm>
            <a:off x="6903720" y="5413248"/>
            <a:ext cx="1170432" cy="658368"/>
          </a:xfrm>
          <a:prstGeom prst="rect">
            <a:avLst/>
          </a:prstGeom>
          <a:solidFill>
            <a:srgbClr val="1A2744"/>
          </a:solidFill>
          <a:ln w="12700">
            <a:solidFill>
              <a:srgbClr val="1A2744"/>
            </a:solidFill>
            <a:prstDash val="solid"/>
          </a:ln>
        </p:spPr>
        <p:txBody>
          <a:bodyPr/>
          <a:lstStyle/>
          <a:p>
            <a:endParaRPr lang="en-US"/>
          </a:p>
        </p:txBody>
      </p:sp>
      <p:sp>
        <p:nvSpPr>
          <p:cNvPr id="29" name="Text 27"/>
          <p:cNvSpPr/>
          <p:nvPr/>
        </p:nvSpPr>
        <p:spPr>
          <a:xfrm>
            <a:off x="6940296" y="5440680"/>
            <a:ext cx="1097280" cy="292608"/>
          </a:xfrm>
          <a:prstGeom prst="rect">
            <a:avLst/>
          </a:prstGeom>
          <a:noFill/>
          <a:ln/>
        </p:spPr>
        <p:txBody>
          <a:bodyPr wrap="square" rtlCol="0" anchor="ctr"/>
          <a:lstStyle/>
          <a:p>
            <a:pPr marL="0" indent="0" algn="ctr">
              <a:buNone/>
            </a:pPr>
            <a:r>
              <a:rPr lang="en-US" sz="900" b="1" dirty="0">
                <a:solidFill>
                  <a:srgbClr val="E8C36A"/>
                </a:solidFill>
                <a:latin typeface="Calibri" pitchFamily="34" charset="0"/>
                <a:ea typeface="Calibri" pitchFamily="34" charset="-122"/>
                <a:cs typeface="Calibri" pitchFamily="34" charset="-120"/>
              </a:rPr>
              <a:t>RBC Rule</a:t>
            </a:r>
            <a:endParaRPr lang="en-US" sz="900" dirty="0"/>
          </a:p>
        </p:txBody>
      </p:sp>
      <p:sp>
        <p:nvSpPr>
          <p:cNvPr id="30" name="Text 28"/>
          <p:cNvSpPr/>
          <p:nvPr/>
        </p:nvSpPr>
        <p:spPr>
          <a:xfrm>
            <a:off x="6940296" y="5715000"/>
            <a:ext cx="1097280" cy="329184"/>
          </a:xfrm>
          <a:prstGeom prst="rect">
            <a:avLst/>
          </a:prstGeom>
          <a:noFill/>
          <a:ln/>
        </p:spPr>
        <p:txBody>
          <a:bodyPr wrap="square" rtlCol="0" anchor="ctr"/>
          <a:lstStyle/>
          <a:p>
            <a:pPr marL="0" indent="0" algn="ctr">
              <a:buNone/>
            </a:pPr>
            <a:r>
              <a:rPr lang="en-US" sz="750" dirty="0">
                <a:solidFill>
                  <a:srgbClr val="B8C4D8"/>
                </a:solidFill>
                <a:latin typeface="Calibri" pitchFamily="34" charset="0"/>
                <a:ea typeface="Calibri" pitchFamily="34" charset="-122"/>
                <a:cs typeface="Calibri" pitchFamily="34" charset="-120"/>
              </a:rPr>
              <a:t>Higher capital req.</a:t>
            </a:r>
            <a:endParaRPr lang="en-US" sz="750" dirty="0"/>
          </a:p>
        </p:txBody>
      </p:sp>
      <p:sp>
        <p:nvSpPr>
          <p:cNvPr id="31" name="Text 29"/>
          <p:cNvSpPr/>
          <p:nvPr/>
        </p:nvSpPr>
        <p:spPr>
          <a:xfrm>
            <a:off x="8074152" y="5577840"/>
            <a:ext cx="128016" cy="274320"/>
          </a:xfrm>
          <a:prstGeom prst="rect">
            <a:avLst/>
          </a:prstGeom>
          <a:noFill/>
          <a:ln/>
        </p:spPr>
        <p:txBody>
          <a:bodyPr wrap="square" rtlCol="0" anchor="ctr"/>
          <a:lstStyle/>
          <a:p>
            <a:pPr marL="0" indent="0" algn="ctr">
              <a:buNone/>
            </a:pPr>
            <a:r>
              <a:rPr lang="en-US" sz="1400" b="1" dirty="0">
                <a:solidFill>
                  <a:srgbClr val="C89728"/>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8202168" y="5413248"/>
            <a:ext cx="1170432" cy="658368"/>
          </a:xfrm>
          <a:prstGeom prst="rect">
            <a:avLst/>
          </a:prstGeom>
          <a:solidFill>
            <a:srgbClr val="1A2744"/>
          </a:solidFill>
          <a:ln w="12700">
            <a:solidFill>
              <a:srgbClr val="1A2744"/>
            </a:solidFill>
            <a:prstDash val="solid"/>
          </a:ln>
        </p:spPr>
        <p:txBody>
          <a:bodyPr/>
          <a:lstStyle/>
          <a:p>
            <a:endParaRPr lang="en-US"/>
          </a:p>
        </p:txBody>
      </p:sp>
      <p:sp>
        <p:nvSpPr>
          <p:cNvPr id="33" name="Text 31"/>
          <p:cNvSpPr/>
          <p:nvPr/>
        </p:nvSpPr>
        <p:spPr>
          <a:xfrm>
            <a:off x="8238744" y="5440680"/>
            <a:ext cx="1097280" cy="292608"/>
          </a:xfrm>
          <a:prstGeom prst="rect">
            <a:avLst/>
          </a:prstGeom>
          <a:noFill/>
          <a:ln/>
        </p:spPr>
        <p:txBody>
          <a:bodyPr wrap="square" rtlCol="0" anchor="ctr"/>
          <a:lstStyle/>
          <a:p>
            <a:pPr marL="0" indent="0" algn="ctr">
              <a:buNone/>
            </a:pPr>
            <a:r>
              <a:rPr lang="en-US" sz="900" b="1" dirty="0">
                <a:solidFill>
                  <a:srgbClr val="E8C36A"/>
                </a:solidFill>
                <a:latin typeface="Calibri" pitchFamily="34" charset="0"/>
                <a:ea typeface="Calibri" pitchFamily="34" charset="-122"/>
                <a:cs typeface="Calibri" pitchFamily="34" charset="-120"/>
              </a:rPr>
              <a:t>ROA Decline</a:t>
            </a:r>
            <a:endParaRPr lang="en-US" sz="900" dirty="0"/>
          </a:p>
        </p:txBody>
      </p:sp>
      <p:sp>
        <p:nvSpPr>
          <p:cNvPr id="34" name="Text 32"/>
          <p:cNvSpPr/>
          <p:nvPr/>
        </p:nvSpPr>
        <p:spPr>
          <a:xfrm>
            <a:off x="8238744" y="5715000"/>
            <a:ext cx="1097280" cy="329184"/>
          </a:xfrm>
          <a:prstGeom prst="rect">
            <a:avLst/>
          </a:prstGeom>
          <a:noFill/>
          <a:ln/>
        </p:spPr>
        <p:txBody>
          <a:bodyPr wrap="square" rtlCol="0" anchor="ctr"/>
          <a:lstStyle/>
          <a:p>
            <a:pPr marL="0" indent="0" algn="ctr">
              <a:buNone/>
            </a:pPr>
            <a:r>
              <a:rPr lang="en-US" sz="750" dirty="0">
                <a:solidFill>
                  <a:srgbClr val="B8C4D8"/>
                </a:solidFill>
                <a:latin typeface="Calibri" pitchFamily="34" charset="0"/>
                <a:ea typeface="Calibri" pitchFamily="34" charset="-122"/>
                <a:cs typeface="Calibri" pitchFamily="34" charset="-120"/>
              </a:rPr>
              <a:t>Profitability squeezed</a:t>
            </a:r>
            <a:endParaRPr lang="en-US" sz="750" dirty="0"/>
          </a:p>
        </p:txBody>
      </p:sp>
      <p:sp>
        <p:nvSpPr>
          <p:cNvPr id="35" name="Text 33"/>
          <p:cNvSpPr/>
          <p:nvPr/>
        </p:nvSpPr>
        <p:spPr>
          <a:xfrm>
            <a:off x="9372600" y="5577840"/>
            <a:ext cx="128016" cy="274320"/>
          </a:xfrm>
          <a:prstGeom prst="rect">
            <a:avLst/>
          </a:prstGeom>
          <a:noFill/>
          <a:ln/>
        </p:spPr>
        <p:txBody>
          <a:bodyPr wrap="square" rtlCol="0" anchor="ctr"/>
          <a:lstStyle/>
          <a:p>
            <a:pPr marL="0" indent="0" algn="ctr">
              <a:buNone/>
            </a:pPr>
            <a:r>
              <a:rPr lang="en-US" sz="1400" b="1" dirty="0">
                <a:solidFill>
                  <a:srgbClr val="C89728"/>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9500616" y="5413248"/>
            <a:ext cx="1170432" cy="658368"/>
          </a:xfrm>
          <a:prstGeom prst="rect">
            <a:avLst/>
          </a:prstGeom>
          <a:solidFill>
            <a:srgbClr val="1A2744"/>
          </a:solidFill>
          <a:ln w="12700">
            <a:solidFill>
              <a:srgbClr val="1A2744"/>
            </a:solidFill>
            <a:prstDash val="solid"/>
          </a:ln>
        </p:spPr>
        <p:txBody>
          <a:bodyPr/>
          <a:lstStyle/>
          <a:p>
            <a:endParaRPr lang="en-US"/>
          </a:p>
        </p:txBody>
      </p:sp>
      <p:sp>
        <p:nvSpPr>
          <p:cNvPr id="37" name="Text 35"/>
          <p:cNvSpPr/>
          <p:nvPr/>
        </p:nvSpPr>
        <p:spPr>
          <a:xfrm>
            <a:off x="9537192" y="5440680"/>
            <a:ext cx="1097280" cy="292608"/>
          </a:xfrm>
          <a:prstGeom prst="rect">
            <a:avLst/>
          </a:prstGeom>
          <a:noFill/>
          <a:ln/>
        </p:spPr>
        <p:txBody>
          <a:bodyPr wrap="square" rtlCol="0" anchor="ctr"/>
          <a:lstStyle/>
          <a:p>
            <a:pPr marL="0" indent="0" algn="ctr">
              <a:buNone/>
            </a:pPr>
            <a:r>
              <a:rPr lang="en-US" sz="900" b="1" dirty="0">
                <a:solidFill>
                  <a:srgbClr val="E8C36A"/>
                </a:solidFill>
                <a:latin typeface="Calibri" pitchFamily="34" charset="0"/>
                <a:ea typeface="Calibri" pitchFamily="34" charset="-122"/>
                <a:cs typeface="Calibri" pitchFamily="34" charset="-120"/>
              </a:rPr>
              <a:t>Reduced Capacity</a:t>
            </a:r>
            <a:endParaRPr lang="en-US" sz="900" dirty="0"/>
          </a:p>
        </p:txBody>
      </p:sp>
      <p:sp>
        <p:nvSpPr>
          <p:cNvPr id="38" name="Text 36"/>
          <p:cNvSpPr/>
          <p:nvPr/>
        </p:nvSpPr>
        <p:spPr>
          <a:xfrm>
            <a:off x="9537192" y="5715000"/>
            <a:ext cx="1097280" cy="329184"/>
          </a:xfrm>
          <a:prstGeom prst="rect">
            <a:avLst/>
          </a:prstGeom>
          <a:noFill/>
          <a:ln/>
        </p:spPr>
        <p:txBody>
          <a:bodyPr wrap="square" rtlCol="0" anchor="ctr"/>
          <a:lstStyle/>
          <a:p>
            <a:pPr marL="0" indent="0" algn="ctr">
              <a:buNone/>
            </a:pPr>
            <a:r>
              <a:rPr lang="en-US" sz="750" dirty="0">
                <a:solidFill>
                  <a:srgbClr val="B8C4D8"/>
                </a:solidFill>
                <a:latin typeface="Calibri" pitchFamily="34" charset="0"/>
                <a:ea typeface="Calibri" pitchFamily="34" charset="-122"/>
                <a:cs typeface="Calibri" pitchFamily="34" charset="-120"/>
              </a:rPr>
              <a:t>Less screening &amp; monitoring</a:t>
            </a:r>
            <a:endParaRPr lang="en-US" sz="750" dirty="0"/>
          </a:p>
        </p:txBody>
      </p:sp>
      <p:sp>
        <p:nvSpPr>
          <p:cNvPr id="39" name="Text 37"/>
          <p:cNvSpPr/>
          <p:nvPr/>
        </p:nvSpPr>
        <p:spPr>
          <a:xfrm>
            <a:off x="10671048" y="5577840"/>
            <a:ext cx="128016" cy="274320"/>
          </a:xfrm>
          <a:prstGeom prst="rect">
            <a:avLst/>
          </a:prstGeom>
          <a:noFill/>
          <a:ln/>
        </p:spPr>
        <p:txBody>
          <a:bodyPr wrap="square" rtlCol="0" anchor="ctr"/>
          <a:lstStyle/>
          <a:p>
            <a:pPr marL="0" indent="0" algn="ctr">
              <a:buNone/>
            </a:pPr>
            <a:r>
              <a:rPr lang="en-US" sz="1400" b="1" dirty="0">
                <a:solidFill>
                  <a:srgbClr val="C89728"/>
                </a:solidFill>
                <a:latin typeface="Calibri" pitchFamily="34" charset="0"/>
                <a:ea typeface="Calibri" pitchFamily="34" charset="-122"/>
                <a:cs typeface="Calibri" pitchFamily="34" charset="-120"/>
              </a:rPr>
              <a:t>→</a:t>
            </a:r>
            <a:endParaRPr lang="en-US" sz="1400" dirty="0"/>
          </a:p>
        </p:txBody>
      </p:sp>
      <p:sp>
        <p:nvSpPr>
          <p:cNvPr id="40" name="Shape 38"/>
          <p:cNvSpPr/>
          <p:nvPr/>
        </p:nvSpPr>
        <p:spPr>
          <a:xfrm>
            <a:off x="10799064" y="5413248"/>
            <a:ext cx="1170432" cy="658368"/>
          </a:xfrm>
          <a:prstGeom prst="rect">
            <a:avLst/>
          </a:prstGeom>
          <a:solidFill>
            <a:srgbClr val="9B2226"/>
          </a:solidFill>
          <a:ln w="12700">
            <a:solidFill>
              <a:srgbClr val="9B2226"/>
            </a:solidFill>
            <a:prstDash val="solid"/>
          </a:ln>
        </p:spPr>
        <p:txBody>
          <a:bodyPr/>
          <a:lstStyle/>
          <a:p>
            <a:endParaRPr lang="en-US"/>
          </a:p>
        </p:txBody>
      </p:sp>
      <p:sp>
        <p:nvSpPr>
          <p:cNvPr id="41" name="Text 39"/>
          <p:cNvSpPr/>
          <p:nvPr/>
        </p:nvSpPr>
        <p:spPr>
          <a:xfrm>
            <a:off x="10835640" y="5440680"/>
            <a:ext cx="1097280"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Delinquency Rises</a:t>
            </a:r>
            <a:endParaRPr lang="en-US" sz="900" dirty="0"/>
          </a:p>
        </p:txBody>
      </p:sp>
      <p:sp>
        <p:nvSpPr>
          <p:cNvPr id="42" name="Text 40"/>
          <p:cNvSpPr/>
          <p:nvPr/>
        </p:nvSpPr>
        <p:spPr>
          <a:xfrm>
            <a:off x="10835640" y="5715000"/>
            <a:ext cx="1097280" cy="329184"/>
          </a:xfrm>
          <a:prstGeom prst="rect">
            <a:avLst/>
          </a:prstGeom>
          <a:noFill/>
          <a:ln/>
        </p:spPr>
        <p:txBody>
          <a:bodyPr wrap="square" rtlCol="0" anchor="ctr"/>
          <a:lstStyle/>
          <a:p>
            <a:pPr marL="0" indent="0" algn="ctr">
              <a:buNone/>
            </a:pPr>
            <a:r>
              <a:rPr lang="en-US" sz="750" dirty="0">
                <a:solidFill>
                  <a:srgbClr val="B8C4D8"/>
                </a:solidFill>
                <a:latin typeface="Calibri" pitchFamily="34" charset="0"/>
                <a:ea typeface="Calibri" pitchFamily="34" charset="-122"/>
                <a:cs typeface="Calibri" pitchFamily="34" charset="-120"/>
              </a:rPr>
              <a:t>Credit quality degrades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Supporting Finding — Profitability</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Profitability Declined Persistently — Largest Institutions Hit Hardest</a:t>
            </a:r>
            <a:endParaRPr lang="en-US" sz="1200" dirty="0"/>
          </a:p>
        </p:txBody>
      </p:sp>
      <p:sp>
        <p:nvSpPr>
          <p:cNvPr id="7" name="Shape 5"/>
          <p:cNvSpPr/>
          <p:nvPr/>
        </p:nvSpPr>
        <p:spPr>
          <a:xfrm>
            <a:off x="1691640" y="987552"/>
            <a:ext cx="1920240" cy="237744"/>
          </a:xfrm>
          <a:prstGeom prst="rect">
            <a:avLst/>
          </a:prstGeom>
          <a:solidFill>
            <a:srgbClr val="5A5A5A"/>
          </a:solidFill>
          <a:ln w="12700">
            <a:solidFill>
              <a:srgbClr val="5A5A5A"/>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SUPPORTING FINDING</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Return on assets fell across complex CUs — with the largest institutions experiencing the sharpest declines. This directly informs the financial stability question in RQ5.</a:t>
            </a:r>
            <a:endParaRPr lang="en-US" sz="1250" dirty="0"/>
          </a:p>
        </p:txBody>
      </p:sp>
      <p:sp>
        <p:nvSpPr>
          <p:cNvPr id="12" name="Shape 10"/>
          <p:cNvSpPr/>
          <p:nvPr/>
        </p:nvSpPr>
        <p:spPr>
          <a:xfrm>
            <a:off x="1691640" y="2331720"/>
            <a:ext cx="3291840" cy="100584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3108960" cy="523037"/>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−26bp</a:t>
            </a:r>
            <a:endParaRPr lang="en-US" sz="2400" dirty="0"/>
          </a:p>
        </p:txBody>
      </p:sp>
      <p:sp>
        <p:nvSpPr>
          <p:cNvPr id="14" name="Text 12"/>
          <p:cNvSpPr/>
          <p:nvPr/>
        </p:nvSpPr>
        <p:spPr>
          <a:xfrm>
            <a:off x="1783080" y="2884932"/>
            <a:ext cx="3108960" cy="402336"/>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Average ROA decline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all complex CUs (p &lt; 0.01)</a:t>
            </a:r>
            <a:endParaRPr lang="en-US" sz="1000" dirty="0"/>
          </a:p>
        </p:txBody>
      </p:sp>
      <p:sp>
        <p:nvSpPr>
          <p:cNvPr id="15" name="Shape 13"/>
          <p:cNvSpPr/>
          <p:nvPr/>
        </p:nvSpPr>
        <p:spPr>
          <a:xfrm>
            <a:off x="5074920" y="2029968"/>
            <a:ext cx="3291840" cy="100584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5166360" y="2103120"/>
            <a:ext cx="3108960" cy="523037"/>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−47bp</a:t>
            </a:r>
            <a:endParaRPr lang="en-US" sz="2400" dirty="0"/>
          </a:p>
        </p:txBody>
      </p:sp>
      <p:sp>
        <p:nvSpPr>
          <p:cNvPr id="17" name="Text 15"/>
          <p:cNvSpPr/>
          <p:nvPr/>
        </p:nvSpPr>
        <p:spPr>
          <a:xfrm>
            <a:off x="5166360" y="2583180"/>
            <a:ext cx="3108960" cy="402336"/>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ROA decline for CUs</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above $10B in assets</a:t>
            </a:r>
            <a:endParaRPr lang="en-US" sz="1000" dirty="0"/>
          </a:p>
        </p:txBody>
      </p:sp>
      <p:sp>
        <p:nvSpPr>
          <p:cNvPr id="18" name="Shape 16"/>
          <p:cNvSpPr/>
          <p:nvPr/>
        </p:nvSpPr>
        <p:spPr>
          <a:xfrm>
            <a:off x="8458200" y="2331720"/>
            <a:ext cx="3520440" cy="3474720"/>
          </a:xfrm>
          <a:prstGeom prst="rect">
            <a:avLst/>
          </a:prstGeom>
          <a:solidFill>
            <a:srgbClr val="EDE8DF"/>
          </a:solidFill>
          <a:ln w="12700">
            <a:solidFill>
              <a:srgbClr val="C8C0B0"/>
            </a:solidFill>
            <a:prstDash val="dash"/>
          </a:ln>
        </p:spPr>
        <p:txBody>
          <a:bodyPr/>
          <a:lstStyle/>
          <a:p>
            <a:endParaRPr lang="en-US"/>
          </a:p>
        </p:txBody>
      </p:sp>
      <p:sp>
        <p:nvSpPr>
          <p:cNvPr id="19" name="Text 17"/>
          <p:cNvSpPr/>
          <p:nvPr/>
        </p:nvSpPr>
        <p:spPr>
          <a:xfrm>
            <a:off x="8458200" y="3566160"/>
            <a:ext cx="3520440" cy="50292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Figure3d_EventStudy_ROA.png</a:t>
            </a:r>
            <a:endParaRPr lang="en-US" sz="950" dirty="0"/>
          </a:p>
          <a:p>
            <a:pPr marL="0" indent="0" algn="ctr">
              <a:buNone/>
            </a:pPr>
            <a:r>
              <a:rPr lang="en-US" sz="950" i="1" dirty="0">
                <a:solidFill>
                  <a:srgbClr val="C89728"/>
                </a:solidFill>
                <a:latin typeface="Calibri" pitchFamily="34" charset="0"/>
                <a:ea typeface="Calibri" pitchFamily="34" charset="-122"/>
                <a:cs typeface="Calibri" pitchFamily="34" charset="-120"/>
              </a:rPr>
              <a:t>Figure7_CCULR_EventStudy.png</a:t>
            </a:r>
            <a:endParaRPr lang="en-US" sz="950" dirty="0"/>
          </a:p>
        </p:txBody>
      </p:sp>
      <p:sp>
        <p:nvSpPr>
          <p:cNvPr id="20" name="Text 18"/>
          <p:cNvSpPr/>
          <p:nvPr/>
        </p:nvSpPr>
        <p:spPr>
          <a:xfrm>
            <a:off x="1691640" y="31546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POINTS</a:t>
            </a:r>
            <a:endParaRPr lang="en-US" sz="900" dirty="0"/>
          </a:p>
        </p:txBody>
      </p:sp>
      <p:sp>
        <p:nvSpPr>
          <p:cNvPr id="21" name="Text 19"/>
          <p:cNvSpPr/>
          <p:nvPr/>
        </p:nvSpPr>
        <p:spPr>
          <a:xfrm>
            <a:off x="1691640" y="3639312"/>
            <a:ext cx="6583680" cy="1234440"/>
          </a:xfrm>
          <a:prstGeom prst="rect">
            <a:avLst/>
          </a:prstGeom>
          <a:noFill/>
          <a:ln/>
        </p:spPr>
        <p:txBody>
          <a:bodyPr wrap="square" rtlCol="0" anchor="t"/>
          <a:lstStyle/>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ROA decline is persistent — no evidence of adaptation or recovery through the observation window</a:t>
            </a:r>
            <a:endParaRPr lang="en-US" sz="1200" dirty="0"/>
          </a:p>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Largest CUs (above $10B in assets) experience a decline nearly double the average</a:t>
            </a:r>
            <a:endParaRPr lang="en-US" sz="1200" dirty="0"/>
          </a:p>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CCULR provided no significant relief on lending outcomes; CCULR adopters showed worse baseline outcomes consistent with distressed self-selection</a:t>
            </a:r>
            <a:endParaRPr lang="en-US" sz="1200" dirty="0"/>
          </a:p>
        </p:txBody>
      </p:sp>
      <p:sp>
        <p:nvSpPr>
          <p:cNvPr id="22" name="Shape 20"/>
          <p:cNvSpPr/>
          <p:nvPr/>
        </p:nvSpPr>
        <p:spPr>
          <a:xfrm>
            <a:off x="1691640" y="4828032"/>
            <a:ext cx="6583680" cy="658368"/>
          </a:xfrm>
          <a:prstGeom prst="rect">
            <a:avLst/>
          </a:prstGeom>
          <a:solidFill>
            <a:srgbClr val="EDE8DF"/>
          </a:solidFill>
          <a:ln w="12700">
            <a:solidFill>
              <a:srgbClr val="C8C0B0"/>
            </a:solidFill>
            <a:prstDash val="solid"/>
          </a:ln>
        </p:spPr>
        <p:txBody>
          <a:bodyPr/>
          <a:lstStyle/>
          <a:p>
            <a:endParaRPr lang="en-US"/>
          </a:p>
        </p:txBody>
      </p:sp>
      <p:sp>
        <p:nvSpPr>
          <p:cNvPr id="23" name="Shape 21"/>
          <p:cNvSpPr/>
          <p:nvPr/>
        </p:nvSpPr>
        <p:spPr>
          <a:xfrm>
            <a:off x="1691640" y="4828032"/>
            <a:ext cx="64008" cy="658368"/>
          </a:xfrm>
          <a:prstGeom prst="rect">
            <a:avLst/>
          </a:prstGeom>
          <a:solidFill>
            <a:srgbClr val="C89728"/>
          </a:solidFill>
          <a:ln w="12700">
            <a:solidFill>
              <a:srgbClr val="C89728"/>
            </a:solidFill>
            <a:prstDash val="solid"/>
          </a:ln>
        </p:spPr>
        <p:txBody>
          <a:bodyPr/>
          <a:lstStyle/>
          <a:p>
            <a:endParaRPr lang="en-US"/>
          </a:p>
        </p:txBody>
      </p:sp>
      <p:sp>
        <p:nvSpPr>
          <p:cNvPr id="24" name="Text 22"/>
          <p:cNvSpPr/>
          <p:nvPr/>
        </p:nvSpPr>
        <p:spPr>
          <a:xfrm>
            <a:off x="1828800" y="4873752"/>
            <a:ext cx="638251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Why this matters: Lower profitability reduces organic capital-building ability. A CU that cannot retain earnings must raise rates, cut lending, or draw down its capital ratio — all three patterns appear in the data.</a:t>
            </a:r>
            <a:endParaRPr lang="en-US" sz="1050" dirty="0"/>
          </a:p>
        </p:txBody>
      </p:sp>
      <p:sp>
        <p:nvSpPr>
          <p:cNvPr id="25" name="Shape 23"/>
          <p:cNvSpPr/>
          <p:nvPr/>
        </p:nvSpPr>
        <p:spPr>
          <a:xfrm>
            <a:off x="1691640" y="5559552"/>
            <a:ext cx="6583680" cy="658368"/>
          </a:xfrm>
          <a:prstGeom prst="rect">
            <a:avLst/>
          </a:prstGeom>
          <a:solidFill>
            <a:srgbClr val="EDE8DF"/>
          </a:solidFill>
          <a:ln w="12700">
            <a:solidFill>
              <a:srgbClr val="C8C0B0"/>
            </a:solidFill>
            <a:prstDash val="solid"/>
          </a:ln>
        </p:spPr>
        <p:txBody>
          <a:bodyPr/>
          <a:lstStyle/>
          <a:p>
            <a:endParaRPr lang="en-US"/>
          </a:p>
        </p:txBody>
      </p:sp>
      <p:sp>
        <p:nvSpPr>
          <p:cNvPr id="26" name="Shape 24"/>
          <p:cNvSpPr/>
          <p:nvPr/>
        </p:nvSpPr>
        <p:spPr>
          <a:xfrm>
            <a:off x="1691640" y="5559552"/>
            <a:ext cx="64008" cy="658368"/>
          </a:xfrm>
          <a:prstGeom prst="rect">
            <a:avLst/>
          </a:prstGeom>
          <a:solidFill>
            <a:srgbClr val="C89728"/>
          </a:solidFill>
          <a:ln w="12700">
            <a:solidFill>
              <a:srgbClr val="C89728"/>
            </a:solidFill>
            <a:prstDash val="solid"/>
          </a:ln>
        </p:spPr>
        <p:txBody>
          <a:bodyPr/>
          <a:lstStyle/>
          <a:p>
            <a:endParaRPr lang="en-US"/>
          </a:p>
        </p:txBody>
      </p:sp>
      <p:sp>
        <p:nvSpPr>
          <p:cNvPr id="27" name="Text 25"/>
          <p:cNvSpPr/>
          <p:nvPr/>
        </p:nvSpPr>
        <p:spPr>
          <a:xfrm>
            <a:off x="1828800" y="5605272"/>
            <a:ext cx="638251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CCULR finding: Institutions most likely to adopt the Community Credit Union Leverage Ratio were already under financial stress — CCULR adoption did not cause or reverse their worse outcomes.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5 — Financial Stability Implications</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What does the data show about the rule’s financial stability implications for complex credit unions?</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5</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The rule provides a quantifiable but modest degree of protection against institutional failure. At 2008 crisis severity, it shields approximately 24 institutions — but most of that protection was already building organically before the rule.</a:t>
            </a:r>
            <a:endParaRPr lang="en-US" sz="1250" dirty="0"/>
          </a:p>
        </p:txBody>
      </p:sp>
      <p:sp>
        <p:nvSpPr>
          <p:cNvPr id="12" name="Text 10"/>
          <p:cNvSpPr/>
          <p:nvPr/>
        </p:nvSpPr>
        <p:spPr>
          <a:xfrm>
            <a:off x="169164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STRESS TEST — SIMULATED FAILURE RATES AT 2008 GFC SEVERITY</a:t>
            </a:r>
            <a:endParaRPr lang="en-US" sz="900" dirty="0"/>
          </a:p>
        </p:txBody>
      </p:sp>
      <p:sp>
        <p:nvSpPr>
          <p:cNvPr id="13" name="Shape 11"/>
          <p:cNvSpPr/>
          <p:nvPr/>
        </p:nvSpPr>
        <p:spPr>
          <a:xfrm>
            <a:off x="1691640" y="2542032"/>
            <a:ext cx="4846320" cy="14173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4" name="Text 12"/>
          <p:cNvSpPr/>
          <p:nvPr/>
        </p:nvSpPr>
        <p:spPr>
          <a:xfrm>
            <a:off x="1783080" y="2578608"/>
            <a:ext cx="4663440" cy="274320"/>
          </a:xfrm>
          <a:prstGeom prst="rect">
            <a:avLst/>
          </a:prstGeom>
          <a:noFill/>
          <a:ln/>
        </p:spPr>
        <p:txBody>
          <a:bodyPr wrap="square" rtlCol="0" anchor="ctr"/>
          <a:lstStyle/>
          <a:p>
            <a:pPr marL="0" indent="0">
              <a:buNone/>
            </a:pPr>
            <a:r>
              <a:rPr lang="en-US" sz="900" b="1" kern="0" spc="100" dirty="0">
                <a:solidFill>
                  <a:srgbClr val="C89728"/>
                </a:solidFill>
                <a:latin typeface="Calibri" pitchFamily="34" charset="0"/>
                <a:ea typeface="Calibri" pitchFamily="34" charset="-122"/>
                <a:cs typeface="Calibri" pitchFamily="34" charset="-120"/>
              </a:rPr>
              <a:t>CURRENT RULE IN PLACE</a:t>
            </a:r>
            <a:endParaRPr lang="en-US" sz="900" dirty="0"/>
          </a:p>
        </p:txBody>
      </p:sp>
      <p:sp>
        <p:nvSpPr>
          <p:cNvPr id="15" name="Text 13"/>
          <p:cNvSpPr/>
          <p:nvPr/>
        </p:nvSpPr>
        <p:spPr>
          <a:xfrm>
            <a:off x="1783080" y="2834640"/>
            <a:ext cx="2194560" cy="640080"/>
          </a:xfrm>
          <a:prstGeom prst="rect">
            <a:avLst/>
          </a:prstGeom>
          <a:noFill/>
          <a:ln/>
        </p:spPr>
        <p:txBody>
          <a:bodyPr wrap="square" rtlCol="0" anchor="ctr"/>
          <a:lstStyle/>
          <a:p>
            <a:pPr marL="0" indent="0">
              <a:buNone/>
            </a:pPr>
            <a:r>
              <a:rPr lang="en-US" sz="3400" b="1" dirty="0">
                <a:solidFill>
                  <a:srgbClr val="95D5B2"/>
                </a:solidFill>
                <a:latin typeface="Calibri" pitchFamily="34" charset="0"/>
                <a:ea typeface="Calibri" pitchFamily="34" charset="-122"/>
                <a:cs typeface="Calibri" pitchFamily="34" charset="-120"/>
              </a:rPr>
              <a:t>19.4%</a:t>
            </a:r>
            <a:endParaRPr lang="en-US" sz="3400" dirty="0"/>
          </a:p>
        </p:txBody>
      </p:sp>
      <p:sp>
        <p:nvSpPr>
          <p:cNvPr id="16" name="Text 14"/>
          <p:cNvSpPr/>
          <p:nvPr/>
        </p:nvSpPr>
        <p:spPr>
          <a:xfrm>
            <a:off x="3977640" y="2834640"/>
            <a:ext cx="2377440" cy="640080"/>
          </a:xfrm>
          <a:prstGeom prst="rect">
            <a:avLst/>
          </a:prstGeom>
          <a:noFill/>
          <a:ln/>
        </p:spPr>
        <p:txBody>
          <a:bodyPr wrap="square" rtlCol="0" anchor="ctr"/>
          <a:lstStyle/>
          <a:p>
            <a:pPr marL="0" indent="0">
              <a:buNone/>
            </a:pPr>
            <a:r>
              <a:rPr lang="en-US" sz="1050" dirty="0">
                <a:solidFill>
                  <a:srgbClr val="B8C4D8"/>
                </a:solidFill>
                <a:latin typeface="Calibri" pitchFamily="34" charset="0"/>
                <a:ea typeface="Calibri" pitchFamily="34" charset="-122"/>
                <a:cs typeface="Calibri" pitchFamily="34" charset="-120"/>
              </a:rPr>
              <a:t>simulated failure rate</a:t>
            </a:r>
            <a:endParaRPr lang="en-US" sz="1050" dirty="0"/>
          </a:p>
          <a:p>
            <a:pPr marL="0" indent="0">
              <a:buNone/>
            </a:pPr>
            <a:r>
              <a:rPr lang="en-US" sz="1050" dirty="0">
                <a:solidFill>
                  <a:srgbClr val="B8C4D8"/>
                </a:solidFill>
                <a:latin typeface="Calibri" pitchFamily="34" charset="0"/>
                <a:ea typeface="Calibri" pitchFamily="34" charset="-122"/>
                <a:cs typeface="Calibri" pitchFamily="34" charset="-120"/>
              </a:rPr>
              <a:t>at 2008 crisis severity</a:t>
            </a:r>
            <a:endParaRPr lang="en-US" sz="1050" dirty="0"/>
          </a:p>
        </p:txBody>
      </p:sp>
      <p:sp>
        <p:nvSpPr>
          <p:cNvPr id="17" name="Text 15"/>
          <p:cNvSpPr/>
          <p:nvPr/>
        </p:nvSpPr>
        <p:spPr>
          <a:xfrm>
            <a:off x="1783080" y="3456432"/>
            <a:ext cx="4663440" cy="438912"/>
          </a:xfrm>
          <a:prstGeom prst="rect">
            <a:avLst/>
          </a:prstGeom>
          <a:noFill/>
          <a:ln/>
        </p:spPr>
        <p:txBody>
          <a:bodyPr wrap="square" rtlCol="0" anchor="ctr"/>
          <a:lstStyle/>
          <a:p>
            <a:pPr marL="0" indent="0">
              <a:buNone/>
            </a:pPr>
            <a:r>
              <a:rPr lang="en-US" sz="950" dirty="0">
                <a:solidFill>
                  <a:srgbClr val="8FA4C8"/>
                </a:solidFill>
                <a:latin typeface="Calibri" pitchFamily="34" charset="0"/>
                <a:ea typeface="Calibri" pitchFamily="34" charset="-122"/>
                <a:cs typeface="Calibri" pitchFamily="34" charset="-120"/>
              </a:rPr>
              <a:t>Complex CUs were already building capital before the rule — the rule adds only 0.3 percentage points of incremental protection above what they had accumulated on their own.</a:t>
            </a:r>
            <a:endParaRPr lang="en-US" sz="950" dirty="0"/>
          </a:p>
        </p:txBody>
      </p:sp>
      <p:sp>
        <p:nvSpPr>
          <p:cNvPr id="18" name="Text 16"/>
          <p:cNvSpPr/>
          <p:nvPr/>
        </p:nvSpPr>
        <p:spPr>
          <a:xfrm>
            <a:off x="6656832" y="2926080"/>
            <a:ext cx="274320" cy="457200"/>
          </a:xfrm>
          <a:prstGeom prst="rect">
            <a:avLst/>
          </a:prstGeom>
          <a:noFill/>
          <a:ln/>
        </p:spPr>
        <p:txBody>
          <a:bodyPr wrap="square" rtlCol="0" anchor="ctr"/>
          <a:lstStyle/>
          <a:p>
            <a:pPr marL="0" indent="0" algn="ctr">
              <a:buNone/>
            </a:pPr>
            <a:r>
              <a:rPr lang="en-US" sz="2200" b="1" dirty="0">
                <a:solidFill>
                  <a:srgbClr val="C8972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995160" y="2542032"/>
            <a:ext cx="5029200" cy="1417320"/>
          </a:xfrm>
          <a:prstGeom prst="rect">
            <a:avLst/>
          </a:prstGeom>
          <a:solidFill>
            <a:srgbClr val="6B1A1A"/>
          </a:solidFill>
          <a:ln w="12700">
            <a:solidFill>
              <a:srgbClr val="9B2226"/>
            </a:solidFill>
            <a:prstDash val="solid"/>
          </a:ln>
          <a:effectLst>
            <a:outerShdw blurRad="76200" dist="25400" dir="8100000" algn="bl" rotWithShape="0">
              <a:srgbClr val="000000">
                <a:alpha val="12000"/>
              </a:srgbClr>
            </a:outerShdw>
          </a:effectLst>
        </p:spPr>
        <p:txBody>
          <a:bodyPr/>
          <a:lstStyle/>
          <a:p>
            <a:endParaRPr lang="en-US"/>
          </a:p>
        </p:txBody>
      </p:sp>
      <p:sp>
        <p:nvSpPr>
          <p:cNvPr id="20" name="Text 18"/>
          <p:cNvSpPr/>
          <p:nvPr/>
        </p:nvSpPr>
        <p:spPr>
          <a:xfrm>
            <a:off x="7086600" y="2578608"/>
            <a:ext cx="4846320" cy="274320"/>
          </a:xfrm>
          <a:prstGeom prst="rect">
            <a:avLst/>
          </a:prstGeom>
          <a:noFill/>
          <a:ln/>
        </p:spPr>
        <p:txBody>
          <a:bodyPr wrap="square" rtlCol="0" anchor="ctr"/>
          <a:lstStyle/>
          <a:p>
            <a:pPr marL="0" indent="0">
              <a:buNone/>
            </a:pPr>
            <a:r>
              <a:rPr lang="en-US" sz="900" b="1" kern="0" spc="100" dirty="0">
                <a:solidFill>
                  <a:srgbClr val="F4A5A8"/>
                </a:solidFill>
                <a:latin typeface="Calibri" pitchFamily="34" charset="0"/>
                <a:ea typeface="Calibri" pitchFamily="34" charset="-122"/>
                <a:cs typeface="Calibri" pitchFamily="34" charset="-120"/>
              </a:rPr>
              <a:t>WITHOUT THE RULE</a:t>
            </a:r>
            <a:endParaRPr lang="en-US" sz="900" dirty="0"/>
          </a:p>
        </p:txBody>
      </p:sp>
      <p:sp>
        <p:nvSpPr>
          <p:cNvPr id="21" name="Text 19"/>
          <p:cNvSpPr/>
          <p:nvPr/>
        </p:nvSpPr>
        <p:spPr>
          <a:xfrm>
            <a:off x="7086600" y="2834640"/>
            <a:ext cx="2194560" cy="640080"/>
          </a:xfrm>
          <a:prstGeom prst="rect">
            <a:avLst/>
          </a:prstGeom>
          <a:noFill/>
          <a:ln/>
        </p:spPr>
        <p:txBody>
          <a:bodyPr wrap="square" rtlCol="0" anchor="ctr"/>
          <a:lstStyle/>
          <a:p>
            <a:pPr marL="0" indent="0">
              <a:buNone/>
            </a:pPr>
            <a:r>
              <a:rPr lang="en-US" sz="3400" b="1" dirty="0">
                <a:solidFill>
                  <a:srgbClr val="F4A5A8"/>
                </a:solidFill>
                <a:latin typeface="Calibri" pitchFamily="34" charset="0"/>
                <a:ea typeface="Calibri" pitchFamily="34" charset="-122"/>
                <a:cs typeface="Calibri" pitchFamily="34" charset="-120"/>
              </a:rPr>
              <a:t>22.5%</a:t>
            </a:r>
            <a:endParaRPr lang="en-US" sz="3400" dirty="0"/>
          </a:p>
        </p:txBody>
      </p:sp>
      <p:sp>
        <p:nvSpPr>
          <p:cNvPr id="22" name="Text 20"/>
          <p:cNvSpPr/>
          <p:nvPr/>
        </p:nvSpPr>
        <p:spPr>
          <a:xfrm>
            <a:off x="9281160" y="2834640"/>
            <a:ext cx="2560320" cy="640080"/>
          </a:xfrm>
          <a:prstGeom prst="rect">
            <a:avLst/>
          </a:prstGeom>
          <a:noFill/>
          <a:ln/>
        </p:spPr>
        <p:txBody>
          <a:bodyPr wrap="square" rtlCol="0" anchor="ctr"/>
          <a:lstStyle/>
          <a:p>
            <a:pPr marL="0" indent="0">
              <a:buNone/>
            </a:pPr>
            <a:r>
              <a:rPr lang="en-US" sz="1050" dirty="0">
                <a:solidFill>
                  <a:srgbClr val="F4A5A8"/>
                </a:solidFill>
                <a:latin typeface="Calibri" pitchFamily="34" charset="0"/>
                <a:ea typeface="Calibri" pitchFamily="34" charset="-122"/>
                <a:cs typeface="Calibri" pitchFamily="34" charset="-120"/>
              </a:rPr>
              <a:t>simulated failure rate</a:t>
            </a:r>
            <a:endParaRPr lang="en-US" sz="1050" dirty="0"/>
          </a:p>
          <a:p>
            <a:pPr marL="0" indent="0">
              <a:buNone/>
            </a:pPr>
            <a:r>
              <a:rPr lang="en-US" sz="1050" dirty="0">
                <a:solidFill>
                  <a:srgbClr val="F4A5A8"/>
                </a:solidFill>
                <a:latin typeface="Calibri" pitchFamily="34" charset="0"/>
                <a:ea typeface="Calibri" pitchFamily="34" charset="-122"/>
                <a:cs typeface="Calibri" pitchFamily="34" charset="-120"/>
              </a:rPr>
              <a:t>at 2008 crisis severity</a:t>
            </a:r>
            <a:endParaRPr lang="en-US" sz="1050" dirty="0"/>
          </a:p>
        </p:txBody>
      </p:sp>
      <p:sp>
        <p:nvSpPr>
          <p:cNvPr id="23" name="Text 21"/>
          <p:cNvSpPr/>
          <p:nvPr/>
        </p:nvSpPr>
        <p:spPr>
          <a:xfrm>
            <a:off x="7086600" y="3456432"/>
            <a:ext cx="4846320" cy="438912"/>
          </a:xfrm>
          <a:prstGeom prst="rect">
            <a:avLst/>
          </a:prstGeom>
          <a:noFill/>
          <a:ln/>
        </p:spPr>
        <p:txBody>
          <a:bodyPr wrap="square" rtlCol="0" anchor="ctr"/>
          <a:lstStyle/>
          <a:p>
            <a:pPr marL="0" indent="0">
              <a:buNone/>
            </a:pPr>
            <a:r>
              <a:rPr lang="en-US" sz="950" dirty="0">
                <a:solidFill>
                  <a:srgbClr val="F4A5A8"/>
                </a:solidFill>
                <a:latin typeface="Calibri" pitchFamily="34" charset="0"/>
                <a:ea typeface="Calibri" pitchFamily="34" charset="-122"/>
                <a:cs typeface="Calibri" pitchFamily="34" charset="-120"/>
              </a:rPr>
              <a:t>+3.4 percentage points higher — approximately 24 additional institutions representing roughly $14 billion in assets each.</a:t>
            </a:r>
            <a:endParaRPr lang="en-US" sz="950" dirty="0"/>
          </a:p>
        </p:txBody>
      </p:sp>
      <p:sp>
        <p:nvSpPr>
          <p:cNvPr id="24" name="Shape 22"/>
          <p:cNvSpPr/>
          <p:nvPr/>
        </p:nvSpPr>
        <p:spPr>
          <a:xfrm>
            <a:off x="1691640" y="4069080"/>
            <a:ext cx="10195560" cy="804672"/>
          </a:xfrm>
          <a:prstGeom prst="rect">
            <a:avLst/>
          </a:prstGeom>
          <a:solidFill>
            <a:srgbClr val="EDE8DF"/>
          </a:solidFill>
          <a:ln w="12700">
            <a:solidFill>
              <a:srgbClr val="C8C0B0"/>
            </a:solidFill>
            <a:prstDash val="solid"/>
          </a:ln>
        </p:spPr>
        <p:txBody>
          <a:bodyPr/>
          <a:lstStyle/>
          <a:p>
            <a:endParaRPr lang="en-US"/>
          </a:p>
        </p:txBody>
      </p:sp>
      <p:sp>
        <p:nvSpPr>
          <p:cNvPr id="25" name="Shape 23"/>
          <p:cNvSpPr/>
          <p:nvPr/>
        </p:nvSpPr>
        <p:spPr>
          <a:xfrm>
            <a:off x="1691640" y="4069080"/>
            <a:ext cx="64008" cy="804672"/>
          </a:xfrm>
          <a:prstGeom prst="rect">
            <a:avLst/>
          </a:prstGeom>
          <a:solidFill>
            <a:srgbClr val="C89728"/>
          </a:solidFill>
          <a:ln w="12700">
            <a:solidFill>
              <a:srgbClr val="C89728"/>
            </a:solidFill>
            <a:prstDash val="solid"/>
          </a:ln>
        </p:spPr>
        <p:txBody>
          <a:bodyPr/>
          <a:lstStyle/>
          <a:p>
            <a:endParaRPr lang="en-US"/>
          </a:p>
        </p:txBody>
      </p:sp>
      <p:sp>
        <p:nvSpPr>
          <p:cNvPr id="26" name="Text 24"/>
          <p:cNvSpPr/>
          <p:nvPr/>
        </p:nvSpPr>
        <p:spPr>
          <a:xfrm>
            <a:off x="1828800" y="4114800"/>
            <a:ext cx="9994392" cy="713232"/>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Context: Both the pre-rule (19.1%) and with-rule (19.4%) failure rates are similar because complex credit unions were already accumulating capital buffers before the rule came into effect. The rule added relatively little on top of what was already happening. The 22.5% figure shows what would happen if those rule-induced buffers were fully unwound.</a:t>
            </a:r>
            <a:endParaRPr lang="en-US" sz="1050" dirty="0"/>
          </a:p>
        </p:txBody>
      </p:sp>
      <p:sp>
        <p:nvSpPr>
          <p:cNvPr id="27" name="Text 25"/>
          <p:cNvSpPr/>
          <p:nvPr/>
        </p:nvSpPr>
        <p:spPr>
          <a:xfrm>
            <a:off x="1691640" y="49834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ADDITIONAL FINANCIAL STABILITY INSIGHTS</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691640" y="5193792"/>
          <a:ext cx="7315200" cy="1371600"/>
        </p:xfrm>
        <a:graphic>
          <a:graphicData uri="http://schemas.openxmlformats.org/drawingml/2006/table">
            <a:tbl>
              <a:tblPr/>
              <a:tblGrid>
                <a:gridCol w="20116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3429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Capital built regardless</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During the 2008 crisis, complex CUs built capital faster than non-complex CUs even without a formal capital rule in place</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Portfolio risk shifted</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The shift from auto loans to commercial real estate may have increased complex CU sensitivity to property market stress</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Rule’s value grows under severity</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The protective effect becomes more meaningful in stress scenarios more severe than 2008</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9" name="Text 26"/>
          <p:cNvSpPr/>
          <p:nvPr/>
        </p:nvSpPr>
        <p:spPr>
          <a:xfrm>
            <a:off x="9144000" y="49834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SIMULATED FAILURE RATES AT 2008 SEVERITY</a:t>
            </a:r>
            <a:endParaRPr lang="en-US" sz="900" dirty="0"/>
          </a:p>
        </p:txBody>
      </p:sp>
      <p:graphicFrame>
        <p:nvGraphicFramePr>
          <p:cNvPr id="30" name="Chart 0"/>
          <p:cNvGraphicFramePr/>
          <p:nvPr/>
        </p:nvGraphicFramePr>
        <p:xfrm>
          <a:off x="9052560" y="5166360"/>
          <a:ext cx="306324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31" name="Text 27"/>
          <p:cNvSpPr/>
          <p:nvPr/>
        </p:nvSpPr>
        <p:spPr>
          <a:xfrm>
            <a:off x="9052560" y="6601968"/>
            <a:ext cx="3063240" cy="228600"/>
          </a:xfrm>
          <a:prstGeom prst="rect">
            <a:avLst/>
          </a:prstGeom>
          <a:noFill/>
          <a:ln/>
        </p:spPr>
        <p:txBody>
          <a:bodyPr wrap="square" rtlCol="0" anchor="ctr"/>
          <a:lstStyle/>
          <a:p>
            <a:pPr marL="0" indent="0" algn="ctr">
              <a:buNone/>
            </a:pPr>
            <a:r>
              <a:rPr lang="en-US" sz="850" i="1" dirty="0">
                <a:solidFill>
                  <a:srgbClr val="5A5A5A"/>
                </a:solidFill>
                <a:latin typeface="Calibri" pitchFamily="34" charset="0"/>
                <a:ea typeface="Calibri" pitchFamily="34" charset="-122"/>
                <a:cs typeface="Calibri" pitchFamily="34" charset="-120"/>
              </a:rPr>
              <a:t>% of complex CUs falling below 7% floor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6 — Did the CCULR Relief Provision Work?</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the Community Credit Union Leverage Ratio provide meaningful relief to smaller complex institutions?</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6</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No. The CCULR — designed as a simpler compliance pathway — provided no statistically significant relief. Institutions most likely to adopt it were already under financial stress before adoption.</a:t>
            </a:r>
            <a:endParaRPr lang="en-US" sz="1250" dirty="0"/>
          </a:p>
        </p:txBody>
      </p:sp>
      <p:sp>
        <p:nvSpPr>
          <p:cNvPr id="12" name="Text 10"/>
          <p:cNvSpPr/>
          <p:nvPr/>
        </p:nvSpPr>
        <p:spPr>
          <a:xfrm>
            <a:off x="169164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IS THE CCULR?</a:t>
            </a:r>
            <a:endParaRPr lang="en-US" sz="900" dirty="0"/>
          </a:p>
        </p:txBody>
      </p:sp>
      <p:sp>
        <p:nvSpPr>
          <p:cNvPr id="13" name="Shape 11"/>
          <p:cNvSpPr/>
          <p:nvPr/>
        </p:nvSpPr>
        <p:spPr>
          <a:xfrm>
            <a:off x="1691640" y="2514600"/>
            <a:ext cx="5029200" cy="1005840"/>
          </a:xfrm>
          <a:prstGeom prst="rect">
            <a:avLst/>
          </a:prstGeom>
          <a:solidFill>
            <a:srgbClr val="EDE8DF"/>
          </a:solidFill>
          <a:ln w="12700">
            <a:solidFill>
              <a:srgbClr val="C8C0B0"/>
            </a:solidFill>
            <a:prstDash val="solid"/>
          </a:ln>
        </p:spPr>
        <p:txBody>
          <a:bodyPr/>
          <a:lstStyle/>
          <a:p>
            <a:endParaRPr lang="en-US"/>
          </a:p>
        </p:txBody>
      </p:sp>
      <p:sp>
        <p:nvSpPr>
          <p:cNvPr id="14" name="Shape 12"/>
          <p:cNvSpPr/>
          <p:nvPr/>
        </p:nvSpPr>
        <p:spPr>
          <a:xfrm>
            <a:off x="1691640" y="2514600"/>
            <a:ext cx="64008" cy="1005840"/>
          </a:xfrm>
          <a:prstGeom prst="rect">
            <a:avLst/>
          </a:prstGeom>
          <a:solidFill>
            <a:srgbClr val="C89728"/>
          </a:solidFill>
          <a:ln w="12700">
            <a:solidFill>
              <a:srgbClr val="C89728"/>
            </a:solidFill>
            <a:prstDash val="solid"/>
          </a:ln>
        </p:spPr>
        <p:txBody>
          <a:bodyPr/>
          <a:lstStyle/>
          <a:p>
            <a:endParaRPr lang="en-US"/>
          </a:p>
        </p:txBody>
      </p:sp>
      <p:sp>
        <p:nvSpPr>
          <p:cNvPr id="15" name="Text 13"/>
          <p:cNvSpPr/>
          <p:nvPr/>
        </p:nvSpPr>
        <p:spPr>
          <a:xfrm>
            <a:off x="1828800" y="2560320"/>
            <a:ext cx="4828032"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The Community Credit Union Leverage Ratio (CCULR) was introduced as an alternative to the full RBC framework. Complex CUs that met certain criteria could use a simpler, single-ratio test rather than the full risk-based capital calculation. The intent was to reduce compliance burden — particularly for smaller complex institutions in the $500M–$1B asset range.</a:t>
            </a:r>
            <a:endParaRPr lang="en-US" sz="1050" dirty="0"/>
          </a:p>
        </p:txBody>
      </p:sp>
      <p:sp>
        <p:nvSpPr>
          <p:cNvPr id="16" name="Text 14"/>
          <p:cNvSpPr/>
          <p:nvPr/>
        </p:nvSpPr>
        <p:spPr>
          <a:xfrm>
            <a:off x="1691640" y="363931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$400M–$1B INSTITUTION PROBLEM</a:t>
            </a:r>
            <a:endParaRPr lang="en-US" sz="900" dirty="0"/>
          </a:p>
        </p:txBody>
      </p:sp>
      <p:sp>
        <p:nvSpPr>
          <p:cNvPr id="17" name="Text 15"/>
          <p:cNvSpPr/>
          <p:nvPr/>
        </p:nvSpPr>
        <p:spPr>
          <a:xfrm>
            <a:off x="1691640" y="3840480"/>
            <a:ext cx="5029200" cy="224028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Institutions just above the $500M complex threshold — particularly those in the $400M–$1B range — experienced the largest relative burden from the rule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These institutions lack the scale of the largest complex CUs to absorb compliance costs, but are still subject to the full capital requirements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For this group, the CCULR was supposed to offer relief — but the data show it did not deliver</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CCULR adopters in this size range showed lending outcomes as bad or worse than non-adopters of similar size</a:t>
            </a:r>
            <a:endParaRPr lang="en-US" sz="1150" dirty="0"/>
          </a:p>
        </p:txBody>
      </p:sp>
      <p:sp>
        <p:nvSpPr>
          <p:cNvPr id="18" name="Shape 16"/>
          <p:cNvSpPr/>
          <p:nvPr/>
        </p:nvSpPr>
        <p:spPr>
          <a:xfrm>
            <a:off x="6766560" y="2331720"/>
            <a:ext cx="36576" cy="3977640"/>
          </a:xfrm>
          <a:prstGeom prst="rect">
            <a:avLst/>
          </a:prstGeom>
          <a:solidFill>
            <a:srgbClr val="C8C0B0"/>
          </a:solidFill>
          <a:ln w="12700">
            <a:solidFill>
              <a:srgbClr val="C8C0B0"/>
            </a:solidFill>
            <a:prstDash val="solid"/>
          </a:ln>
        </p:spPr>
        <p:txBody>
          <a:bodyPr/>
          <a:lstStyle/>
          <a:p>
            <a:endParaRPr lang="en-US"/>
          </a:p>
        </p:txBody>
      </p:sp>
      <p:sp>
        <p:nvSpPr>
          <p:cNvPr id="19" name="Text 17"/>
          <p:cNvSpPr/>
          <p:nvPr/>
        </p:nvSpPr>
        <p:spPr>
          <a:xfrm>
            <a:off x="690372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EMPIRICAL FINDINGS</a:t>
            </a:r>
            <a:endParaRPr lang="en-US" sz="900" dirty="0"/>
          </a:p>
        </p:txBody>
      </p:sp>
      <p:sp>
        <p:nvSpPr>
          <p:cNvPr id="20" name="Shape 18"/>
          <p:cNvSpPr/>
          <p:nvPr/>
        </p:nvSpPr>
        <p:spPr>
          <a:xfrm>
            <a:off x="6903720" y="2542032"/>
            <a:ext cx="4983480" cy="1078992"/>
          </a:xfrm>
          <a:prstGeom prst="rect">
            <a:avLst/>
          </a:prstGeom>
          <a:solidFill>
            <a:srgbClr val="FFFFFF"/>
          </a:solidFill>
          <a:ln w="12700">
            <a:solidFill>
              <a:srgbClr val="C8C0B0"/>
            </a:solidFill>
            <a:prstDash val="solid"/>
          </a:ln>
          <a:effectLst>
            <a:outerShdw blurRad="76200" dist="25400" dir="8100000" algn="bl" rotWithShape="0">
              <a:srgbClr val="000000">
                <a:alpha val="12000"/>
              </a:srgbClr>
            </a:outerShdw>
          </a:effectLst>
        </p:spPr>
        <p:txBody>
          <a:bodyPr/>
          <a:lstStyle/>
          <a:p>
            <a:endParaRPr lang="en-US"/>
          </a:p>
        </p:txBody>
      </p:sp>
      <p:sp>
        <p:nvSpPr>
          <p:cNvPr id="21" name="Shape 19"/>
          <p:cNvSpPr/>
          <p:nvPr/>
        </p:nvSpPr>
        <p:spPr>
          <a:xfrm>
            <a:off x="6903720" y="2542032"/>
            <a:ext cx="64008" cy="1078992"/>
          </a:xfrm>
          <a:prstGeom prst="rect">
            <a:avLst/>
          </a:prstGeom>
          <a:solidFill>
            <a:srgbClr val="9B2226"/>
          </a:solidFill>
          <a:ln w="12700">
            <a:solidFill>
              <a:srgbClr val="9B2226"/>
            </a:solidFill>
            <a:prstDash val="solid"/>
          </a:ln>
        </p:spPr>
        <p:txBody>
          <a:bodyPr/>
          <a:lstStyle/>
          <a:p>
            <a:endParaRPr lang="en-US"/>
          </a:p>
        </p:txBody>
      </p:sp>
      <p:sp>
        <p:nvSpPr>
          <p:cNvPr id="22" name="Text 20"/>
          <p:cNvSpPr/>
          <p:nvPr/>
        </p:nvSpPr>
        <p:spPr>
          <a:xfrm>
            <a:off x="7022592" y="2615184"/>
            <a:ext cx="4754880" cy="274320"/>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  No lending relief</a:t>
            </a:r>
            <a:endParaRPr lang="en-US" sz="1100" dirty="0"/>
          </a:p>
        </p:txBody>
      </p:sp>
      <p:sp>
        <p:nvSpPr>
          <p:cNvPr id="23" name="Text 21"/>
          <p:cNvSpPr/>
          <p:nvPr/>
        </p:nvSpPr>
        <p:spPr>
          <a:xfrm>
            <a:off x="7022592" y="2889504"/>
            <a:ext cx="4754880" cy="658368"/>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CCULR adoption produced no statistically significant improvement in loan growth, loan rates, or portfolio composition relative to full-RBC compliant peers</a:t>
            </a:r>
            <a:endParaRPr lang="en-US" sz="1050" dirty="0"/>
          </a:p>
        </p:txBody>
      </p:sp>
      <p:sp>
        <p:nvSpPr>
          <p:cNvPr id="24" name="Shape 22"/>
          <p:cNvSpPr/>
          <p:nvPr/>
        </p:nvSpPr>
        <p:spPr>
          <a:xfrm>
            <a:off x="6903720" y="3749040"/>
            <a:ext cx="4983480" cy="1078992"/>
          </a:xfrm>
          <a:prstGeom prst="rect">
            <a:avLst/>
          </a:prstGeom>
          <a:solidFill>
            <a:srgbClr val="FFFFFF"/>
          </a:solidFill>
          <a:ln w="12700">
            <a:solidFill>
              <a:srgbClr val="C8C0B0"/>
            </a:solidFill>
            <a:prstDash val="solid"/>
          </a:ln>
          <a:effectLst>
            <a:outerShdw blurRad="76200" dist="25400" dir="8100000" algn="bl" rotWithShape="0">
              <a:srgbClr val="000000">
                <a:alpha val="12000"/>
              </a:srgbClr>
            </a:outerShdw>
          </a:effectLst>
        </p:spPr>
        <p:txBody>
          <a:bodyPr/>
          <a:lstStyle/>
          <a:p>
            <a:endParaRPr lang="en-US"/>
          </a:p>
        </p:txBody>
      </p:sp>
      <p:sp>
        <p:nvSpPr>
          <p:cNvPr id="25" name="Shape 23"/>
          <p:cNvSpPr/>
          <p:nvPr/>
        </p:nvSpPr>
        <p:spPr>
          <a:xfrm>
            <a:off x="6903720" y="3749040"/>
            <a:ext cx="64008" cy="1078992"/>
          </a:xfrm>
          <a:prstGeom prst="rect">
            <a:avLst/>
          </a:prstGeom>
          <a:solidFill>
            <a:srgbClr val="9B2226"/>
          </a:solidFill>
          <a:ln w="12700">
            <a:solidFill>
              <a:srgbClr val="9B2226"/>
            </a:solidFill>
            <a:prstDash val="solid"/>
          </a:ln>
        </p:spPr>
        <p:txBody>
          <a:bodyPr/>
          <a:lstStyle/>
          <a:p>
            <a:endParaRPr lang="en-US"/>
          </a:p>
        </p:txBody>
      </p:sp>
      <p:sp>
        <p:nvSpPr>
          <p:cNvPr id="26" name="Text 24"/>
          <p:cNvSpPr/>
          <p:nvPr/>
        </p:nvSpPr>
        <p:spPr>
          <a:xfrm>
            <a:off x="7022592" y="3822192"/>
            <a:ext cx="4754880" cy="274320"/>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  Distressed self-selection</a:t>
            </a:r>
            <a:endParaRPr lang="en-US" sz="1100" dirty="0"/>
          </a:p>
        </p:txBody>
      </p:sp>
      <p:sp>
        <p:nvSpPr>
          <p:cNvPr id="27" name="Text 25"/>
          <p:cNvSpPr/>
          <p:nvPr/>
        </p:nvSpPr>
        <p:spPr>
          <a:xfrm>
            <a:off x="7022592" y="4096512"/>
            <a:ext cx="4754880" cy="658368"/>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Institutions that adopted CCULR were disproportionately those already experiencing declining profitability and thin capital buffers — the CCULR did not improve their trajectory</a:t>
            </a:r>
            <a:endParaRPr lang="en-US" sz="1050" dirty="0"/>
          </a:p>
        </p:txBody>
      </p:sp>
      <p:sp>
        <p:nvSpPr>
          <p:cNvPr id="28" name="Shape 26"/>
          <p:cNvSpPr/>
          <p:nvPr/>
        </p:nvSpPr>
        <p:spPr>
          <a:xfrm>
            <a:off x="6903720" y="4956048"/>
            <a:ext cx="4983480" cy="1078992"/>
          </a:xfrm>
          <a:prstGeom prst="rect">
            <a:avLst/>
          </a:prstGeom>
          <a:solidFill>
            <a:srgbClr val="FFFFFF"/>
          </a:solidFill>
          <a:ln w="12700">
            <a:solidFill>
              <a:srgbClr val="C8C0B0"/>
            </a:solidFill>
            <a:prstDash val="solid"/>
          </a:ln>
          <a:effectLst>
            <a:outerShdw blurRad="76200" dist="25400" dir="8100000" algn="bl" rotWithShape="0">
              <a:srgbClr val="000000">
                <a:alpha val="12000"/>
              </a:srgbClr>
            </a:outerShdw>
          </a:effectLst>
        </p:spPr>
        <p:txBody>
          <a:bodyPr/>
          <a:lstStyle/>
          <a:p>
            <a:endParaRPr lang="en-US"/>
          </a:p>
        </p:txBody>
      </p:sp>
      <p:sp>
        <p:nvSpPr>
          <p:cNvPr id="29" name="Shape 27"/>
          <p:cNvSpPr/>
          <p:nvPr/>
        </p:nvSpPr>
        <p:spPr>
          <a:xfrm>
            <a:off x="6903720" y="4956048"/>
            <a:ext cx="64008" cy="1078992"/>
          </a:xfrm>
          <a:prstGeom prst="rect">
            <a:avLst/>
          </a:prstGeom>
          <a:solidFill>
            <a:srgbClr val="9B2226"/>
          </a:solidFill>
          <a:ln w="12700">
            <a:solidFill>
              <a:srgbClr val="9B2226"/>
            </a:solidFill>
            <a:prstDash val="solid"/>
          </a:ln>
        </p:spPr>
        <p:txBody>
          <a:bodyPr/>
          <a:lstStyle/>
          <a:p>
            <a:endParaRPr lang="en-US"/>
          </a:p>
        </p:txBody>
      </p:sp>
      <p:sp>
        <p:nvSpPr>
          <p:cNvPr id="30" name="Text 28"/>
          <p:cNvSpPr/>
          <p:nvPr/>
        </p:nvSpPr>
        <p:spPr>
          <a:xfrm>
            <a:off x="7022592" y="5029200"/>
            <a:ext cx="4754880" cy="274320"/>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  Smaller institutions hardest hit</a:t>
            </a:r>
            <a:endParaRPr lang="en-US" sz="1100" dirty="0"/>
          </a:p>
        </p:txBody>
      </p:sp>
      <p:sp>
        <p:nvSpPr>
          <p:cNvPr id="31" name="Text 29"/>
          <p:cNvSpPr/>
          <p:nvPr/>
        </p:nvSpPr>
        <p:spPr>
          <a:xfrm>
            <a:off x="7022592" y="5303520"/>
            <a:ext cx="4754880" cy="658368"/>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Complex CUs with $400M–$1B in assets showed ROA declines and lending contractions comparable to the largest institutions, without the scale to absorb the costs</a:t>
            </a:r>
            <a:endParaRPr lang="en-US" sz="1050" dirty="0"/>
          </a:p>
        </p:txBody>
      </p:sp>
      <p:sp>
        <p:nvSpPr>
          <p:cNvPr id="32" name="Text 30"/>
          <p:cNvSpPr/>
          <p:nvPr/>
        </p:nvSpPr>
        <p:spPr>
          <a:xfrm>
            <a:off x="1691640" y="617220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FIGURE REFERENCE</a:t>
            </a:r>
            <a:endParaRPr lang="en-US" sz="900" dirty="0"/>
          </a:p>
        </p:txBody>
      </p:sp>
      <p:sp>
        <p:nvSpPr>
          <p:cNvPr id="33" name="Shape 31"/>
          <p:cNvSpPr/>
          <p:nvPr/>
        </p:nvSpPr>
        <p:spPr>
          <a:xfrm>
            <a:off x="1691640" y="6355080"/>
            <a:ext cx="10195560" cy="320040"/>
          </a:xfrm>
          <a:prstGeom prst="rect">
            <a:avLst/>
          </a:prstGeom>
          <a:solidFill>
            <a:srgbClr val="EDE8DF"/>
          </a:solidFill>
          <a:ln w="12700">
            <a:solidFill>
              <a:srgbClr val="C8C0B0"/>
            </a:solidFill>
            <a:prstDash val="dash"/>
          </a:ln>
        </p:spPr>
        <p:txBody>
          <a:bodyPr/>
          <a:lstStyle/>
          <a:p>
            <a:endParaRPr lang="en-US"/>
          </a:p>
        </p:txBody>
      </p:sp>
      <p:sp>
        <p:nvSpPr>
          <p:cNvPr id="34" name="Text 32"/>
          <p:cNvSpPr/>
          <p:nvPr/>
        </p:nvSpPr>
        <p:spPr>
          <a:xfrm>
            <a:off x="1691640" y="6382512"/>
            <a:ext cx="10195560" cy="22860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output/figures/fig_es_roa.png  ·  Figure7_CCULR_EventStudy.png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Six Questions. Six Answers.</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Shape 4"/>
          <p:cNvSpPr/>
          <p:nvPr/>
        </p:nvSpPr>
        <p:spPr>
          <a:xfrm>
            <a:off x="1691640" y="987552"/>
            <a:ext cx="1920240" cy="237744"/>
          </a:xfrm>
          <a:prstGeom prst="rect">
            <a:avLst/>
          </a:prstGeom>
          <a:solidFill>
            <a:srgbClr val="243362"/>
          </a:solidFill>
          <a:ln w="12700">
            <a:solidFill>
              <a:srgbClr val="243362"/>
            </a:solidFill>
            <a:prstDash val="solid"/>
          </a:ln>
        </p:spPr>
        <p:txBody>
          <a:bodyPr/>
          <a:lstStyle/>
          <a:p>
            <a:endParaRPr lang="en-US"/>
          </a:p>
        </p:txBody>
      </p:sp>
      <p:sp>
        <p:nvSpPr>
          <p:cNvPr id="7" name="Text 5"/>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SUMMARY</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691640" y="1261872"/>
          <a:ext cx="10195560" cy="4206240"/>
        </p:xfrm>
        <a:graphic>
          <a:graphicData uri="http://schemas.openxmlformats.org/drawingml/2006/table">
            <a:tbl>
              <a:tblPr/>
              <a:tblGrid>
                <a:gridCol w="594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7498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RQ</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Core Finding</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Key Numbers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1</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How much capital buffer before the rule?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Critically thin — very little room to absorb the new requirement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72bp average buffer  ·  696 complex CUs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2</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complex CUs hold more capital?</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Mixed — average capital rose but well-cap share fell</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NW ratio +46bp  ·  Well-cap probability −3.7pp</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3</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loan rate spreads change?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Yes — complete pass-through confirmed across every loan type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Mortgage +73bp  ·  New auto +56bp  ·  Used auto +76bp  ·  Commercial +66bp</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4</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asset and loan growth change?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Yes — both fell sharply with no recovery; auto exit is permanent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Loan growth −0.44pp/qtr  ·  No recovery through 10+ quarters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5</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What are the financial stability implications?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Quantifiable but modest protection — the rule shields ~24 institutions; most capital was already building before the rule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+3.4pp failure risk without rule  ·  ~24 institutions  ·  $14B assets each</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6</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the CCULR relief provision work?</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No — CCULR provided no measurable relief; adopters were already distressed; $400M–$1B institutions were hardest hit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No significant improvement in lending or profitability for CCULR adopters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hape 6"/>
          <p:cNvSpPr/>
          <p:nvPr/>
        </p:nvSpPr>
        <p:spPr>
          <a:xfrm>
            <a:off x="1691640" y="5596128"/>
            <a:ext cx="10195560" cy="749808"/>
          </a:xfrm>
          <a:prstGeom prst="rect">
            <a:avLst/>
          </a:prstGeom>
          <a:solidFill>
            <a:srgbClr val="1A2744"/>
          </a:solidFill>
          <a:ln w="12700">
            <a:solidFill>
              <a:srgbClr val="1A2744"/>
            </a:solidFill>
            <a:prstDash val="solid"/>
          </a:ln>
        </p:spPr>
        <p:txBody>
          <a:bodyPr/>
          <a:lstStyle/>
          <a:p>
            <a:endParaRPr lang="en-US"/>
          </a:p>
        </p:txBody>
      </p:sp>
      <p:sp>
        <p:nvSpPr>
          <p:cNvPr id="10" name="Shape 7"/>
          <p:cNvSpPr/>
          <p:nvPr/>
        </p:nvSpPr>
        <p:spPr>
          <a:xfrm>
            <a:off x="1691640" y="5596128"/>
            <a:ext cx="82296" cy="749808"/>
          </a:xfrm>
          <a:prstGeom prst="rect">
            <a:avLst/>
          </a:prstGeom>
          <a:solidFill>
            <a:srgbClr val="C89728"/>
          </a:solidFill>
          <a:ln w="12700">
            <a:solidFill>
              <a:srgbClr val="C89728"/>
            </a:solidFill>
            <a:prstDash val="solid"/>
          </a:ln>
        </p:spPr>
        <p:txBody>
          <a:bodyPr/>
          <a:lstStyle/>
          <a:p>
            <a:endParaRPr lang="en-US"/>
          </a:p>
        </p:txBody>
      </p:sp>
      <p:sp>
        <p:nvSpPr>
          <p:cNvPr id="11" name="Text 8"/>
          <p:cNvSpPr/>
          <p:nvPr/>
        </p:nvSpPr>
        <p:spPr>
          <a:xfrm>
            <a:off x="1828800" y="5596128"/>
            <a:ext cx="9966960" cy="7498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Across all five research questions, the findings are consistent: complex credit unions responded to the rule’s capital incentive primarily through higher loan rates, reduced lending volume, portfolio reallocation, and lower profitability — rather than through material improvements in financial stability outcomes at the system level.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2757</Words>
  <Application>Microsoft Macintosh PowerPoint</Application>
  <PresentationFormat>Widescreen</PresentationFormat>
  <Paragraphs>308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Saurabh Datta</cp:lastModifiedBy>
  <cp:revision>2</cp:revision>
  <dcterms:created xsi:type="dcterms:W3CDTF">2026-04-20T15:09:23Z</dcterms:created>
  <dcterms:modified xsi:type="dcterms:W3CDTF">2026-04-20T15:19:56Z</dcterms:modified>
</cp:coreProperties>
</file>