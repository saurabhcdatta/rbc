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Failure Rate (%)</c:v>
                </c:pt>
              </c:strCache>
            </c:strRef>
          </c:tx>
          <c:spPr>
            <a:solidFill>
              <a:srgbClr val="2A3D5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975-D24F-8B2F-7AABC83EC6F1}"/>
              </c:ext>
            </c:extLst>
          </c:dPt>
          <c:dPt>
            <c:idx val="1"/>
            <c:invertIfNegative val="0"/>
            <c:bubble3D val="0"/>
            <c:spPr>
              <a:solidFill>
                <a:srgbClr val="1A6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975-D24F-8B2F-7AABC83EC6F1}"/>
              </c:ext>
            </c:extLst>
          </c:dPt>
          <c:dPt>
            <c:idx val="2"/>
            <c:invertIfNegative val="0"/>
            <c:bubble3D val="0"/>
            <c:spPr>
              <a:solidFill>
                <a:srgbClr val="9B22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975-D24F-8B2F-7AABC83EC6F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Pre-Rule
(2019-21)</c:v>
                </c:pt>
                <c:pt idx="1">
                  <c:v>With Rule
(2024-25)</c:v>
                </c:pt>
                <c:pt idx="2">
                  <c:v>Rule
Removed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19.100000000000001</c:v>
                </c:pt>
                <c:pt idx="1">
                  <c:v>19.399999999999999</c:v>
                </c:pt>
                <c:pt idx="2">
                  <c:v>22.5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975-D24F-8B2F-7AABC83EC6F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5F1EB"/>
    </a:solidFill>
    <a:ln w="6350" cap="flat">
      <a:solidFill>
        <a:srgbClr val="C8C0B0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534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309360"/>
            <a:ext cx="3474720" cy="7315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4114800"/>
            <a:ext cx="2468880" cy="2468880"/>
          </a:xfrm>
          <a:prstGeom prst="ellipse">
            <a:avLst/>
          </a:prstGeom>
          <a:solidFill>
            <a:srgbClr val="243362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5120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55778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5379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www.ncua.gov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005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 ·  Office of the Chief Economist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1417320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2022 NCUA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Capital Rule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3840480" y="3383280"/>
            <a:ext cx="7772400" cy="457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40480" y="34930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Findings from an Analysis of Complex Credit Unions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0" y="5303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Call Report Data, 2000–2025  ·  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Studied — and How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9164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91640" y="1261872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 complex credit unions — avg assets ≥ $500M, classified using 2021 data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~4,488 non-complex credit unions as the comparison group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150,000+ CU-quarters of NCUA Call Report data, 2000–2025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outcomes: capital, loan rates, volume, portfolio mix, profitability, loan quality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691640" y="25146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DIFFERENCE-IN-DIFFERENCES (DiD)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91640" y="2724912"/>
            <a:ext cx="1572768" cy="8046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46504" y="2724912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46504" y="3200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rule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01568" y="2724912"/>
            <a:ext cx="1572768" cy="8046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56432" y="2724912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non-complex CUs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56432" y="3200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window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0" y="2907792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0" y="29077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64608" y="2907792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64608" y="29077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30368" y="2724912"/>
            <a:ext cx="1444752" cy="80467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76088" y="2724912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Rule’s Effect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76088" y="31546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from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691640" y="3639312"/>
            <a:ext cx="5029200" cy="658368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91640" y="3639312"/>
            <a:ext cx="64008" cy="65836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828800" y="3685032"/>
            <a:ext cx="48280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works: Non-complex CUs faced the same economic conditions but were not subject to the RBC rule. Any difference between the two groups, after accounting for pre-existing trends, isolates the rule’s effect.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766560" y="1005840"/>
            <a:ext cx="36576" cy="571500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90372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EVENT STUDY CHARTS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31152" y="1261872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Q0 — flat lines near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both groups moved together. The comparison is valid.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31152" y="1645920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Q0 — line moves away from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movement is the rule’s estimated effect on complex CUs.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31152" y="2029968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uncertainty range. If it crosses zero, the effect at that point is not statistically conclusive.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31152" y="2432304"/>
            <a:ext cx="4919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UP = increased   </a:t>
            </a:r>
            <a:r>
              <a:rPr lang="en-US" sz="10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DOWN = decreased   </a:t>
            </a: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(relative to non-complex CUs, after Q0)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931152" y="2743200"/>
            <a:ext cx="4892040" cy="2743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0" descr="event_study_expl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798064"/>
            <a:ext cx="5120640" cy="38313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1 — Pre-Rule Capital Buffer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capital buffer did complex credit unions hold before the rule?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average complex credit union entered the rule with a buffer of just 72 basis points above the new 10% threshold — leaving very little room to absorb the new requirement without significant adjustment.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91640" y="23591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91640" y="2560320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 are the largest, most systemically significant institutions in the credit union system — those with average assets at or above $500 million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rule, the typical complex CU held capital just barely above the existing standard; the new 10% threshold was meaningfully higher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institutions were holding only the bare minimum — the chart shows the tallest spike right at the 10% threshold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left almost no cushion to absorb the new requirement without raising rates, cutting lending, or squeezing profits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691640" y="4224528"/>
            <a:ext cx="5029200" cy="621792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691640" y="4224528"/>
            <a:ext cx="64008" cy="62179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828800" y="4270248"/>
            <a:ext cx="482803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rule requiring additional capital is always more costly when institutions start with little room to spare. This thin buffer set the stage for the pressures in RQ2–RQ4.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691640" y="4919472"/>
            <a:ext cx="5029200" cy="54864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691640" y="4919472"/>
            <a:ext cx="64008" cy="54864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828800" y="4965192"/>
            <a:ext cx="48280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basis point? One basis point (bp) = one-hundredth of a percentage point. A 72bp buffer means holding 10.72% capital against a 10.00% threshold.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91640" y="5440680"/>
            <a:ext cx="239572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83080" y="5513832"/>
            <a:ext cx="2212848" cy="3423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72bp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783080" y="5802782"/>
            <a:ext cx="2212848" cy="2633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pre-rule buffer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10% threshold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87952" y="5440680"/>
            <a:ext cx="24871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279392" y="5513832"/>
            <a:ext cx="2304288" cy="3423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279392" y="5802782"/>
            <a:ext cx="2304288" cy="2633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(fixed 2021)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03720" y="2331720"/>
            <a:ext cx="36576" cy="4315968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022592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PRE-RULE NET WORTH RATIO DISTRIBUTION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22592" y="2514600"/>
            <a:ext cx="4956048" cy="370332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22592" y="4069080"/>
            <a:ext cx="4956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output/figures/fig_nw_ratio_distribution_complex_prerbc.png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022592" y="6172200"/>
            <a:ext cx="4956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a credit union. The tall cluster just at 10% shows how many institutions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almost exactly the minimum required capital — with very little room to spare.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2 — Did Capital Levels Rise?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rule cause complex credit unions to hold more capital?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Mixed. Average capital levels rose — but fewer institutions are now meeting the well-capitalized standard. The bar rose faster than capital could accumulate.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2331720"/>
            <a:ext cx="347472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2404872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+46bp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8308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ratio increase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 &lt; 0.01)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2331720"/>
            <a:ext cx="333756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66360" y="2404872"/>
            <a:ext cx="3154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−3.7pp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166360" y="28346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Well-capitalized probability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(p &lt; 0.01)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91640" y="33649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PARADOX EXPLAINED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91640" y="3566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rose — institutions responded to the rule’s incentive to build reserves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“well-capitalized” bar rose simultaneously, faster than capital could accumulate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more capital on average, but fewer institutions clearing the new bar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691640" y="4572000"/>
            <a:ext cx="5029200" cy="59436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691640" y="4572000"/>
            <a:ext cx="64008" cy="59436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0" y="4617720"/>
            <a:ext cx="48280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Every student studied harder — but the passing grade rose even more. Scores went up, yet more students are failing. Both facts are true simultaneously.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691640" y="52578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“WELL-CAPITALIZED” MEAN?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91640" y="54406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complex CU must hold at least 10% net worth against risk-weighted assets. Falling below this triggers additional regulatory scrutiny.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2331720"/>
            <a:ext cx="36576" cy="438912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90372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 (Figure3_EventStudy_Capital.png)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03720" y="2514600"/>
            <a:ext cx="3246120" cy="352044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903720" y="406908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Figure3_EventStudy_Capital.png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03720" y="610819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flat across all panels 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4128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PANEL SHOWS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241280" y="2514600"/>
            <a:ext cx="274320" cy="27432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241280" y="2514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561320" y="25328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Ratio — RISES THEN FALLS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241280" y="27889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builds for 2 quarters then retreats — the rule produced a temporary adjustment, not a lasting gain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0241280" y="3355848"/>
            <a:ext cx="274320" cy="274320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241280" y="33558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6132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Near-threshold CUs — WORSE OFF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241280" y="363016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 closest to 10% ended below where they started — compliance costs outpaced their ability to build capital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241280" y="4197096"/>
            <a:ext cx="274320" cy="274320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241280" y="41970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561320" y="421538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Well-Capitalized % ↓ FALLS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241280" y="4471416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fewer institutions clear the new bar — the standard rose faster than capital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241280" y="5038344"/>
            <a:ext cx="274320" cy="274320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241280" y="5038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561320" y="505663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Growth — NO RECOVERY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241280" y="5312664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contracts and never bounces back — the cost of compliance was permanent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903720" y="5897880"/>
            <a:ext cx="5120640" cy="7132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903720" y="5897880"/>
            <a:ext cx="64008" cy="7132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022592" y="5925312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Q+2: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fades, lending stays depressed, and the well-capitalized rate never recovers. The rule’s costs proved permanent; its capital benefit did not.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3 — Did Loan Rates and Lending Change?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loan rate spreads and lending volume change significantly after the RBC rule?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Yes — rates rose across every loan type and lending contracted. Both effects are large, persistent, and show no sign of reversing.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2331720"/>
            <a:ext cx="1965960" cy="8686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37360" y="23317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+73bp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737360" y="280720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76472" y="2331720"/>
            <a:ext cx="1965960" cy="8686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22192" y="23317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+56bp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822192" y="280720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61304" y="2331720"/>
            <a:ext cx="1965960" cy="8686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07024" y="23317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+76bp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907024" y="280720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auto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46136" y="2331720"/>
            <a:ext cx="1965960" cy="8686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991856" y="23317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+66bp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991856" y="280720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30968" y="2331720"/>
            <a:ext cx="1965960" cy="8686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76688" y="23317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−0.44pp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10076688" y="280720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growth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quarter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91640" y="3273552"/>
            <a:ext cx="10195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effects statistically significant at p &lt; 0.001 — persistent through 10+ quarters with no sign of convergence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691640" y="358444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691640" y="3767328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unions raised rates to cover higher capital costs — the entire regulatory cost was passed to member-borrowers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73bp increase on a $300,000 30-year mortgage adds roughly $150 per month in payments (assuming a 7% base rate)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contracted at 0.44pp per quarter and never recovered — tighter credit is the direct cost to members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reversed within the observation window — these are permanent shifts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691640" y="528523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PANEL SHOWS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691640" y="5468112"/>
            <a:ext cx="219456" cy="219456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691640" y="54681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947672" y="5468112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spread ↑ +73bp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947672" y="56692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at Q0, stays elevated — no reversal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70248" y="5468112"/>
            <a:ext cx="219456" cy="219456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70248" y="54681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26280" y="5468112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auto spread ↑ +56bp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526280" y="56692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rise — auto borrowers bear full cost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691640" y="6016752"/>
            <a:ext cx="219456" cy="219456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691640" y="601675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947672" y="6016752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spread ↑ +66bp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947672" y="621792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rates rose in line with consumer rates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270248" y="6016752"/>
            <a:ext cx="219456" cy="219456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270248" y="601675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26280" y="6016752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growth ↓ −0.44pp/qtr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526280" y="621792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at Q0, no bounce-back in the window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766560" y="3520440"/>
            <a:ext cx="36576" cy="333756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903720" y="35204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4-PANEL EVENT STUDY  (Figure_RQ3_Combined.png)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903720" y="3703320"/>
            <a:ext cx="5120640" cy="315468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903720" y="5166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Figure_RQ3_Combined.png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995160" y="3730752"/>
            <a:ext cx="237744" cy="2011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995160" y="373075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269480" y="3749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Spread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28048" y="3730752"/>
            <a:ext cx="237744" cy="2011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528048" y="373075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802368" y="3749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Auto Spread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995160" y="5276088"/>
            <a:ext cx="237744" cy="2011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995160" y="527608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269480" y="529437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Comm. Spread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9528048" y="5276088"/>
            <a:ext cx="237744" cy="2011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9528048" y="527608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802368" y="529437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Growth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903720" y="690372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with Combine_RQ3_Figures.R → output/paper/figures/Figure_RQ3_Combined.png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4 — Portfolio Shift and Crisis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complex CUs change their loan mix — and how does this compare to 2008?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Yes. Complex CUs shifted from auto loans toward mortgages — consistent with risk-weight arbitrage. This pattern did not occur during the 2008 crisis, making it distinctly regulatory in origin.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2331720"/>
            <a:ext cx="242316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2404872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−4.0pp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83080" y="2834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loan share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(vs. controls)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2331720"/>
            <a:ext cx="242316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97680" y="2404872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+2.4pp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297680" y="2834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loan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increased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91640" y="33649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HAPPENED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91640" y="3566160"/>
            <a:ext cx="50292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RBC rule, mortgages carry a lower risk-weight than auto loans — shifting to mortgages reduces required capital. This is a rational institutional response to the rule’s incentive structure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portfolio shift did not occur during the 2008 crisis — when CUs faced the same macro stress but no capital rule. That comparison isolates the RBC rule as the cause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is permanent — auto loan share never recovers within the observation window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691640" y="4892040"/>
            <a:ext cx="5029200" cy="1755648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91640" y="55961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Figure5_Portfolio_Trends.png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91640" y="477316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COMPOSITION TRENDS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66560" y="2331720"/>
            <a:ext cx="36576" cy="4315968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THE 2008 FINANCIAL CRISIS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542032"/>
          <a:ext cx="4983480" cy="18745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 Crisis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 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accumulation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loan 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observed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9B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9B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9B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903720" y="2542032"/>
            <a:ext cx="498348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995160" y="257860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9253728" y="257860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Crisis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0533888" y="257860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Rule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903720" y="4498848"/>
            <a:ext cx="4983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behavior resembles a crisis response — but the auto loan exit and persistent profitability decline are distinctly regulatory. Only the RBC rule produces them.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903720" y="5102352"/>
            <a:ext cx="4983480" cy="1536192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903720" y="498348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COMPARISON: 2008 vs. RBC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903720" y="5742432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Figure6_Crisis_vs_RBC_Capital.png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4b — Credit Quality and the Capacity Channel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RBC rule affect loan delinquency rates?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4b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Yes — but unevenly. Delinquency rose most where profitability fell hardest. Institutions under the greatest financial pressure reduced their capacity for loan screening and monitoring, and credit quality deteriorated as a result.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2331720"/>
            <a:ext cx="315468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2404872"/>
            <a:ext cx="2971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+8bp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8308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delinquency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increase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331720"/>
            <a:ext cx="32004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0" y="2404872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2920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 increase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high-ROA-decline CUs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91640" y="33649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CAPACITY CHANNEL EXPLAINED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91640" y="35661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squeezed profitability — institutions with the sharpest ROA declines had the least resources for loan screening, underwriting, and monitoring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 with the largest profitability declines showed twice the delinquency increase of those with smaller ROA impacts — a direct dose-response relationship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demand-side story. The same macro environment affected all CUs. The delinquency concentration in high-stress institutions isolates the regulatory mechanism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implication: the RBC rule did not just shift portfolios — it degraded credit quality for the most exposed institutions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691640" y="5166360"/>
            <a:ext cx="5029200" cy="59436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691640" y="5166360"/>
            <a:ext cx="64008" cy="59436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0" y="5212080"/>
            <a:ext cx="48280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implication: Capital rules that squeeze profitability too aggressively may generate credit quality risks that offset their prudential benefits.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66560" y="2331720"/>
            <a:ext cx="36576" cy="4315968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DELINQUENCY EVENT STUDY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03720" y="2514600"/>
            <a:ext cx="4983480" cy="260604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903720" y="37033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Figure3c_EventStudy_Delinquency.png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03720" y="523036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03720" y="5413248"/>
            <a:ext cx="1170432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40296" y="54406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Rule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40296" y="57150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capital req.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074152" y="557784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02168" y="5413248"/>
            <a:ext cx="1170432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238744" y="54406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Decline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38744" y="57150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 squeezed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372600" y="557784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500616" y="5413248"/>
            <a:ext cx="1170432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537192" y="54406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Capacity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537192" y="57150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screening &amp; monitoring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0671048" y="557784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799064" y="5413248"/>
            <a:ext cx="1170432" cy="658368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835640" y="54406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 Rises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835640" y="57150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degrades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Finding — Profitability Declined Persistently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assets fell across all complex CUs — with the largest institutions hit hardest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FINDING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fell persistently across all complex CUs and has not recovered. The largest institutions were hit hardest — and lower profitability directly undermines the capital-building that the rule was designed to achieve.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2331720"/>
            <a:ext cx="315468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2404872"/>
            <a:ext cx="2971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−26bp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8308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decline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complex CUs (p &lt; 0.01)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331720"/>
            <a:ext cx="315468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0" y="2404872"/>
            <a:ext cx="2971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−47bp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2920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decline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 above $10B assets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91640" y="33649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91640" y="3566160"/>
            <a:ext cx="50292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 decline is persistent — no sign of adaptation or recovery through the full observation window. This is not a transitional cost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scales with size: institutions above $10B experienced a decline nearly double the average, suggesting larger CUs faced proportionally greater compliance pressure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profitability directly undermines the rule’s own goal — a CU that cannot retain earnings must raise rates, reduce lending, or draw down its capital buffer. All three patterns appear in the data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691640" y="4892040"/>
            <a:ext cx="5029200" cy="749808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691640" y="4892040"/>
            <a:ext cx="64008" cy="7498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0" y="4937760"/>
            <a:ext cx="482803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to RQ5: Profitability is the primary engine of organic capital accumulation. A rule that persistently depresses ROA slows the very capital-building it is designed to require — creating a self-defeating dynamic for the most exposed institutions.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691640" y="574243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DECLINE BY INSTITUTION SIZE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691640" y="5961888"/>
            <a:ext cx="1508760" cy="62179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91640" y="596188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−18bp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91640" y="6291072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$500M–$1B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37560" y="5961888"/>
            <a:ext cx="1508760" cy="62179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37560" y="596188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−26bp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337560" y="6291072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$1B–$10B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5961888"/>
            <a:ext cx="1508760" cy="621792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83480" y="596188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−47bp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83480" y="6291072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$10B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91640" y="6601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institutions absorbed proportionally more of the rule’s cost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66560" y="2331720"/>
            <a:ext cx="36576" cy="457200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0372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STUDY — RETURN ON ASSETS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03720" y="2514600"/>
            <a:ext cx="5120640" cy="4407408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903720" y="459028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Figure3d_EventStudy_ROA.png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03720" y="696772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falls below zero after Q0 and continues declining — no recovery within the observation window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5 — Financial Stability Implications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data show about the rule’s financial stability implications for complex credit unions?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rule provides real but modest protection. All three numbers below are simulated failure rates under a 2008-level stress — the question is simply which capital level each institution starts from.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9164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— % OF COMPLEX CUs FALLING BELOW 7% CAPITAL FLOOR  (2008 GFC SEVERITY APPLIED TO EACH SCENARIO)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91640" y="2542032"/>
            <a:ext cx="3246120" cy="1691640"/>
          </a:xfrm>
          <a:prstGeom prst="rect">
            <a:avLst/>
          </a:prstGeom>
          <a:solidFill>
            <a:srgbClr val="2A3D5A"/>
          </a:solidFill>
          <a:ln w="12700">
            <a:solidFill>
              <a:srgbClr val="2A3D5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83080" y="257860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50" dirty="0"/>
          </a:p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PRE-RULE CAPITAL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783080" y="294436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2019–2021 capital levels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783080" y="31272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783080" y="3611880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what failure rates looked like before the rule existed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74920" y="2542032"/>
            <a:ext cx="3246120" cy="16916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66360" y="257860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50" dirty="0"/>
          </a:p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 IN PLACE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66360" y="294436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2024–2025 capital levels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66360" y="31272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166360" y="3611880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0.3pp better than pre-rule — because CUs were already building capital organically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458200" y="2542032"/>
            <a:ext cx="3246120" cy="1691640"/>
          </a:xfrm>
          <a:prstGeom prst="rect">
            <a:avLst/>
          </a:prstGeom>
          <a:solidFill>
            <a:srgbClr val="6B1A1A"/>
          </a:solidFill>
          <a:ln w="12700">
            <a:solidFill>
              <a:srgbClr val="9B22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49640" y="257860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3</a:t>
            </a:r>
            <a:endParaRPr lang="en-US" sz="850" dirty="0"/>
          </a:p>
          <a:p>
            <a:pPr marL="0" indent="0">
              <a:buNone/>
            </a:pPr>
            <a:r>
              <a:rPr lang="en-US" sz="850" b="1" kern="0" spc="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RULE IS REMOVED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549640" y="294436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Unwinding rule-induced buffers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549640" y="31272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549640" y="3611880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+3.1pp vs. Scenario 2 — ∼24 additional institutions, ~$14B assets each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36592" y="3063240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119872" y="3063240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691640" y="4343400"/>
            <a:ext cx="10195560" cy="86868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691640" y="4343400"/>
            <a:ext cx="64008" cy="86868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828800" y="4389120"/>
            <a:ext cx="9994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capital building be hard (RQ2) yet already happening (RQ5)? They measure different things. RQ2 = compliance capital (clearing the new 10% risk-weighted bar, which many institutions struggled to reach). RQ5 = absolute net worth (which was trending up organically as CUs grew their balance sheets regardless of the rule). The rule raised the compliance bar faster than institutions could clear it — but absolute capital was still rising, keeping Scenarios 1 and 2 close.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691640" y="491947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CONTEXT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91640" y="5120640"/>
            <a:ext cx="731520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built regardless: during the 2008 crisis, complex CUs built capital faster than non-complex CUs even without a formal capital rule — suggesting organic incentives were already operating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risk shifted: the move from auto loans toward commercial real estate may have increased sensitivity to property market stress, partially offsetting the rule’s prudential benefit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scales with severity: the rule’s value grows meaningfully in stress scenarios more severe than 2008 — its marginal benefit increases as tail risk increases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144000" y="491947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SCENARIOS AT 2008 SEVERITY</a:t>
            </a:r>
            <a:endParaRPr lang="en-US" sz="90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9052560" y="5120640"/>
          <a:ext cx="306324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9052560" y="665683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complex CUs falling below 7% floor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6 — Did the CCULR Relief Provision Work?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685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Community Credit Union Leverage Ratio provide meaningful relief to smaller complex institutions?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0" cy="960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691640"/>
            <a:ext cx="82296" cy="96012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83080" y="169164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No. The CCULR — designed as a simpler compliance pathway — provided no statistically significant relief. Institutions most likely to adopt it were already under financial stress before adoption.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9164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CCULR?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91640" y="2514600"/>
            <a:ext cx="5029200" cy="100584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91640" y="2514600"/>
            <a:ext cx="64008" cy="100584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828800" y="2560320"/>
            <a:ext cx="48280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Credit Union Leverage Ratio (CCULR) was introduced as an alternative to the full RBC framework. Complex CUs that met certain criteria could use a simpler, single-ratio test rather than the full risk-based capital calculation. The intent was to reduce compliance burden — particularly for smaller complex institutions in the $500M–$1B asset range.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691640" y="363931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$400M–$1B INSTITUTION PROBLEM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3840480"/>
            <a:ext cx="502920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just above the $500M complex threshold — particularly those in the $400M–$1B range — experienced the largest relative burden from the rule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institutions lack the scale of the largest complex CUs to absorb compliance costs, but are still subject to the full capital requirements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group, the CCULR was supposed to offer relief — but the data show it did not deliver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CCULR adopters in this size range showed lending outcomes as bad or worse than non-adopters of similar size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36576" cy="397764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03720" y="23317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EMPIRICAL FINDINGS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2542032"/>
            <a:ext cx="4983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0B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03720" y="2542032"/>
            <a:ext cx="64008" cy="1078992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22592" y="261518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lending relief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22592" y="28895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CCULR adoption produced no statistically significant improvement in loan growth, loan rates, or portfolio composition relative to full-RBC compliant peers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03720" y="3749040"/>
            <a:ext cx="4983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0B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903720" y="3749040"/>
            <a:ext cx="64008" cy="1078992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22592" y="3822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Distressed self-selection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22592" y="4096512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that adopted CCULR were disproportionately those already experiencing declining profitability and thin capital buffers — the CCULR did not improve their trajectory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03720" y="4956048"/>
            <a:ext cx="4983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0B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903720" y="4956048"/>
            <a:ext cx="64008" cy="1078992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22592" y="5029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Smaller institutions hardest hit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22592" y="53035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 with $400M–$1B in assets showed ROA declines and lending contractions comparable to the largest institutions, without the scale to absorb the costs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91640" y="61722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REFERENCE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691640" y="6355080"/>
            <a:ext cx="10195560" cy="32004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691640" y="6382512"/>
            <a:ext cx="10195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output/figures/fig_es_roa.png  ·  Figure7_CCULR_EventStudy.png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Questions. Six Answers.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solidFill>
            <a:srgbClr val="243362"/>
          </a:solidFill>
          <a:ln w="12700">
            <a:solidFill>
              <a:srgbClr val="2433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691640" y="987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91640" y="1261872"/>
          <a:ext cx="10195560" cy="5352288"/>
        </p:xfrm>
        <a:graphic>
          <a:graphicData uri="http://schemas.openxmlformats.org/drawingml/2006/table">
            <a:tbl>
              <a:tblPr/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capital buffer did complex CUs hold before the rule?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Critically thin — most institutions held only the bare minimum, leaving almost no cushion to absorb the new requirement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72bp average buffer above 10% threshold  ·  696 complex 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complex CUs hold more capital after the rule?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Mixed. Capital rose briefly then retreated; near-threshold CUs ended worse off. The rule raised the bar faster than capital could accumulate — and neither lending nor well-capitalized status recovered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NW ratio +46bp (fades after Q+2)  ·  Well-cap probability −3.7pp  ·  Loan growth: no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loan rates and lending change?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rates rose across every loan type and lending contracted. Both effects are large, persistent, and show no sign of reversing. The entire regulatory cost was passed to member-borrowers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Mortgage +73bp  ·  New auto +56bp  ·  Used auto +76bp  ·  Commercial +66bp  ·  Loan growth −0.44pp/qtr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portfolio composition change?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auto loans exited permanently as CUs shifted to lower-risk-weight mortgages. This pattern did not occur during the 2008 crisis, isolating the RBC rule as the cause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share −4.0pp  ·  RE share +2.4pp  ·  Shift is permanent, no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4b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credit quality deteriorate?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delinquency rose most where profitability fell hardest. Institutions under the greatest financial pressure reduced their capacity for loan screening and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Delinquency +8bp average  ·  2× effect for high-ROA-decline CUs  ·  Capacity channel confirmed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are the financial stability implications?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but modest protection. Without the rule, ~24 more institutions would fail a 2008-severity stress test. But the gap between pre-rule (19.1%) and with-rule (19.4%) is narrow — CUs were already building capital organically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rule: 19.4% fail  ·  Without rule: 22.5% fail  ·  Difference: 3.1pp  ·  ~24 institutions  ·  ~$14B assets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CCULR relief provision work?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CCULR provided no measurable relief on lending or profitability. Adopters were already financially distressed before adoption; the CCULR did not reverse their trajectory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$400M–$1B institutions hardest hit  ·  No significant improvement in lending or ROA for CCULR adopters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1691640" y="6492240"/>
            <a:ext cx="10195560" cy="5669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691640" y="6492240"/>
            <a:ext cx="82296" cy="56692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828800" y="649224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 are consistent across all six questions: complex credit unions responded to the rule primarily through higher loan rates, reduced lending, portfolio reallocation, and lower profitability — with only modest and largely organic improvements in financial stability outcomes at the system level.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3072</Words>
  <Application>Microsoft Macintosh PowerPoint</Application>
  <PresentationFormat>Widescreen</PresentationFormat>
  <Paragraphs>321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Saurabh Datta</cp:lastModifiedBy>
  <cp:revision>1</cp:revision>
  <dcterms:created xsi:type="dcterms:W3CDTF">2026-04-20T16:35:59Z</dcterms:created>
  <dcterms:modified xsi:type="dcterms:W3CDTF">2026-04-20T16:38:12Z</dcterms:modified>
</cp:coreProperties>
</file>